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9"/>
    <p:sldId id="258" r:id="rId10"/>
  </p:sldIdLst>
  <p:sldSz cx="14732000" cy="9144000" type="screen4x3"/>
  <p:notesSz cx="6858000" cy="9144000"/>
  <p:embeddedFontLst>
    <p:embeddedFont>
      <p:font typeface="Liberation Sans"/>
      <p:regular r:id="rId11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font" Target="fonts/regular.fntdata"/><Relationship Id="rId12" Type="http://schemas.openxmlformats.org/officeDocument/2006/relationships/font" Target="fonts/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Joint SiT weak-head and signed-schedule learning. All text, Greek symbols and subscripts use Liberation Sans regular/bold. Snowflake = frozen parameters; flame = parameters learned in the indicated update. Strong S, VAE decoder and Inception φ are always frozen; their input derivatives are retained in the guidance update. The conditional discriminator operates on terminal RGB Inception features and outputs logits. Train D first with generated samples detached and real-feature R1, then freeze D and train θ and α through the entire sampler with the non-saturating loss and an independent real-data gap probe. W0 is the frozen initial weak head. Rgap is the expectation of the squared log minibatch gap-energy ratio. Small networks are schematic and do not specify exact layer counts or a separate weak backbone. The shared-process slide shows parameters learned across alternating updates; its objective panels give the per-update frozen state. Visual references: AdvFD Fig.3; DMD2 Fig.3 (2405.14867); ADD Fig.2 (2311.17042); APT Fig.1 (2501.08316). Only visual organization is borrowed; no teacher distillation branch, one-step sampler, or diffusion discriminator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Joint SiT weak-head and signed-schedule learning. All text, Greek symbols and subscripts use Liberation Sans regular/bold. Snowflake = frozen parameters; flame = parameters learned in the indicated update. Strong S, VAE decoder and Inception φ are always frozen; their input derivatives are retained in the guidance update. The conditional discriminator operates on terminal RGB Inception features and outputs logits. Train D first with generated samples detached and real-feature R1, then freeze D and train θ and α through the entire sampler with the non-saturating loss and an independent real-data gap probe. W0 is the frozen initial weak head. Rgap is the expectation of the squared log minibatch gap-energy ratio. Small networks are schematic and do not specify exact layer counts or a separate weak backbone. The shared-process slide shows parameters learned across alternating updates; its objective panels give the per-update frozen state. Visual references: AdvFD Fig.3; DMD2 Fig.3 (2405.14867); ADD Fig.2 (2311.17042); APT Fig.1 (2501.08316). Only visual organization is borrowed; no teacher distillation branch, one-step sampler, or diffusion discriminator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Joint SiT weak-head and signed-schedule learning. All text, Greek symbols and subscripts use Liberation Sans regular/bold. Snowflake = frozen parameters; flame = parameters learned in the indicated update. Strong S, VAE decoder and Inception φ are always frozen; their input derivatives are retained in the guidance update. The conditional discriminator operates on terminal RGB Inception features and outputs logits. Train D first with generated samples detached and real-feature R1, then freeze D and train θ and α through the entire sampler with the non-saturating loss and an independent real-data gap probe. W0 is the frozen initial weak head. Rgap is the expectation of the squared log minibatch gap-energy ratio. Small networks are schematic and do not specify exact layer counts or a separate weak backbone. The shared-process slide shows parameters learned across alternating updates; its objective panels give the per-update frozen state. Visual references: AdvFD Fig.3; DMD2 Fig.3 (2405.14867); ADD Fig.2 (2311.17042); APT Fig.1 (2501.08316). Only visual organization is borrowed; no teacher distillation branch, one-step sampler, or diffusion discriminator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· Two-panel explanation">
    <p:spTree>
      <p:nvGrpSpPr>
        <p:cNvPr id="1" name=""/>
        <p:cNvGrpSpPr/>
        <p:nvPr/>
      </p:nvGrpSpPr>
      <p:grpSpPr/>
      <p:grpSp>
        <p:nvGrpSpPr>
          <p:cNvPr id="2" name="a.sampler"/>
          <p:cNvGrpSpPr/>
          <p:nvPr/>
        </p:nvGrpSpPr>
        <p:grpSpPr>
          <a:xfrm>
            <a:off x="3079750" y="294640"/>
            <a:ext cx="3897630" cy="2343150"/>
            <a:chOff x="3079750" y="294640"/>
            <a:chExt cx="3897630" cy="2343150"/>
          </a:xfrm>
        </p:grpSpPr>
        <p:sp>
          <p:nvSpPr>
            <p:cNvPr id="3" name="a.sampler/container"/>
            <p:cNvSpPr/>
            <p:nvPr/>
          </p:nvSpPr>
          <p:spPr>
            <a:xfrm>
              <a:off x="3079750" y="294640"/>
              <a:ext cx="3897630" cy="2343150"/>
            </a:xfrm>
            <a:custGeom>
              <a:avLst/>
              <a:gdLst/>
              <a:ahLst/>
              <a:cxnLst/>
              <a:rect l="0" t="0" r="r" b="b"/>
              <a:pathLst>
                <a:path w="306900" h="184500">
                  <a:moveTo>
                    <a:pt x="9000" y="0"/>
                  </a:moveTo>
                  <a:lnTo>
                    <a:pt x="297900" y="0"/>
                  </a:lnTo>
                  <a:cubicBezTo>
                    <a:pt x="302871" y="0"/>
                    <a:pt x="306900" y="4029"/>
                    <a:pt x="306900" y="9000"/>
                  </a:cubicBezTo>
                  <a:lnTo>
                    <a:pt x="306900" y="175500"/>
                  </a:lnTo>
                  <a:cubicBezTo>
                    <a:pt x="306900" y="180471"/>
                    <a:pt x="302871" y="184500"/>
                    <a:pt x="297900" y="184500"/>
                  </a:cubicBezTo>
                  <a:lnTo>
                    <a:pt x="9000" y="184500"/>
                  </a:lnTo>
                  <a:cubicBezTo>
                    <a:pt x="4029" y="184500"/>
                    <a:pt x="0" y="180471"/>
                    <a:pt x="0" y="175500"/>
                  </a:cubicBezTo>
                  <a:lnTo>
                    <a:pt x="0" y="9000"/>
                  </a:lnTo>
                  <a:cubicBezTo>
                    <a:pt x="0" y="4029"/>
                    <a:pt x="4029" y="0"/>
                    <a:pt x="9000" y="0"/>
                  </a:cubicBezTo>
                  <a:close/>
                </a:path>
              </a:pathLst>
            </a:custGeom>
            <a:solidFill>
              <a:srgbClr val="FBFCFD"/>
            </a:solidFill>
            <a:ln w="12573">
              <a:solidFill>
                <a:srgbClr val="E2E7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a.sampler/title"/>
            <p:cNvSpPr txBox="1"/>
            <p:nvPr/>
          </p:nvSpPr>
          <p:spPr>
            <a:xfrm>
              <a:off x="3171190" y="340360"/>
              <a:ext cx="371475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93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Full-trajectory sampler</a:t>
              </a:r>
            </a:p>
          </p:txBody>
        </p:sp>
      </p:grpSp>
      <p:grpSp>
        <p:nvGrpSpPr>
          <p:cNvPr id="5" name="a.strong"/>
          <p:cNvGrpSpPr/>
          <p:nvPr/>
        </p:nvGrpSpPr>
        <p:grpSpPr>
          <a:xfrm>
            <a:off x="3182620" y="672650"/>
            <a:ext cx="1177290" cy="947870"/>
            <a:chOff x="3182620" y="672650"/>
            <a:chExt cx="1177290" cy="947870"/>
          </a:xfrm>
        </p:grpSpPr>
        <p:sp>
          <p:nvSpPr>
            <p:cNvPr id="6" name="a.strong/box"/>
            <p:cNvSpPr/>
            <p:nvPr/>
          </p:nvSpPr>
          <p:spPr>
            <a:xfrm>
              <a:off x="3239770" y="740410"/>
              <a:ext cx="1120140" cy="880110"/>
            </a:xfrm>
            <a:custGeom>
              <a:avLst/>
              <a:gdLst/>
              <a:ahLst/>
              <a:cxnLst/>
              <a:rect l="0" t="0" r="r" b="b"/>
              <a:pathLst>
                <a:path w="88200" h="69300">
                  <a:moveTo>
                    <a:pt x="7200" y="0"/>
                  </a:moveTo>
                  <a:lnTo>
                    <a:pt x="81000" y="0"/>
                  </a:lnTo>
                  <a:cubicBezTo>
                    <a:pt x="84976" y="0"/>
                    <a:pt x="88200" y="3224"/>
                    <a:pt x="88200" y="7200"/>
                  </a:cubicBezTo>
                  <a:lnTo>
                    <a:pt x="88200" y="62100"/>
                  </a:lnTo>
                  <a:cubicBezTo>
                    <a:pt x="88200" y="66076"/>
                    <a:pt x="84976" y="69300"/>
                    <a:pt x="81000" y="69300"/>
                  </a:cubicBezTo>
                  <a:lnTo>
                    <a:pt x="7200" y="69300"/>
                  </a:lnTo>
                  <a:cubicBezTo>
                    <a:pt x="3224" y="69300"/>
                    <a:pt x="0" y="66076"/>
                    <a:pt x="0" y="621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EAF0F5"/>
            </a:solidFill>
            <a:ln w="8001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a.strong/network spine"/>
            <p:cNvSpPr/>
            <p:nvPr/>
          </p:nvSpPr>
          <p:spPr>
            <a:xfrm>
              <a:off x="3388360" y="1077595"/>
              <a:ext cx="822960" cy="127"/>
            </a:xfrm>
            <a:custGeom>
              <a:avLst/>
              <a:gdLst/>
              <a:ahLst/>
              <a:cxnLst/>
              <a:rect l="0" t="0" r="r" b="b"/>
              <a:pathLst>
                <a:path w="64800" h="10">
                  <a:moveTo>
                    <a:pt x="0" y="0"/>
                  </a:moveTo>
                  <a:lnTo>
                    <a:pt x="64800" y="0"/>
                  </a:lnTo>
                </a:path>
              </a:pathLst>
            </a:custGeom>
            <a:noFill/>
            <a:ln w="971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a.strong/network block 0"/>
            <p:cNvSpPr/>
            <p:nvPr/>
          </p:nvSpPr>
          <p:spPr>
            <a:xfrm>
              <a:off x="3496990" y="944721"/>
              <a:ext cx="111922" cy="265747"/>
            </a:xfrm>
            <a:custGeom>
              <a:avLst/>
              <a:gdLst/>
              <a:ahLst/>
              <a:cxnLst/>
              <a:rect l="0" t="0" r="r" b="b"/>
              <a:pathLst>
                <a:path w="8813" h="20925">
                  <a:moveTo>
                    <a:pt x="720" y="0"/>
                  </a:moveTo>
                  <a:lnTo>
                    <a:pt x="8093" y="0"/>
                  </a:lnTo>
                  <a:cubicBezTo>
                    <a:pt x="8490" y="0"/>
                    <a:pt x="8813" y="322"/>
                    <a:pt x="8813" y="720"/>
                  </a:cubicBezTo>
                  <a:lnTo>
                    <a:pt x="8813" y="20205"/>
                  </a:lnTo>
                  <a:cubicBezTo>
                    <a:pt x="8813" y="20603"/>
                    <a:pt x="8490" y="20925"/>
                    <a:pt x="8093" y="20925"/>
                  </a:cubicBezTo>
                  <a:lnTo>
                    <a:pt x="720" y="20925"/>
                  </a:lnTo>
                  <a:cubicBezTo>
                    <a:pt x="322" y="20925"/>
                    <a:pt x="0" y="20603"/>
                    <a:pt x="0" y="20205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a.strong/network block 1"/>
            <p:cNvSpPr/>
            <p:nvPr/>
          </p:nvSpPr>
          <p:spPr>
            <a:xfrm>
              <a:off x="3661582" y="900430"/>
              <a:ext cx="111922" cy="354329"/>
            </a:xfrm>
            <a:custGeom>
              <a:avLst/>
              <a:gdLst/>
              <a:ahLst/>
              <a:cxnLst/>
              <a:rect l="0" t="0" r="r" b="b"/>
              <a:pathLst>
                <a:path w="8813" h="27900">
                  <a:moveTo>
                    <a:pt x="720" y="0"/>
                  </a:moveTo>
                  <a:lnTo>
                    <a:pt x="8093" y="0"/>
                  </a:lnTo>
                  <a:cubicBezTo>
                    <a:pt x="8490" y="0"/>
                    <a:pt x="8813" y="322"/>
                    <a:pt x="8813" y="720"/>
                  </a:cubicBezTo>
                  <a:lnTo>
                    <a:pt x="8813" y="27180"/>
                  </a:lnTo>
                  <a:cubicBezTo>
                    <a:pt x="8813" y="27578"/>
                    <a:pt x="8490" y="27900"/>
                    <a:pt x="8093" y="27900"/>
                  </a:cubicBezTo>
                  <a:lnTo>
                    <a:pt x="720" y="27900"/>
                  </a:lnTo>
                  <a:cubicBezTo>
                    <a:pt x="322" y="27900"/>
                    <a:pt x="0" y="27578"/>
                    <a:pt x="0" y="2718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a.strong/network block 2"/>
            <p:cNvSpPr/>
            <p:nvPr/>
          </p:nvSpPr>
          <p:spPr>
            <a:xfrm>
              <a:off x="3826174" y="900430"/>
              <a:ext cx="111922" cy="354329"/>
            </a:xfrm>
            <a:custGeom>
              <a:avLst/>
              <a:gdLst/>
              <a:ahLst/>
              <a:cxnLst/>
              <a:rect l="0" t="0" r="r" b="b"/>
              <a:pathLst>
                <a:path w="8813" h="27900">
                  <a:moveTo>
                    <a:pt x="720" y="0"/>
                  </a:moveTo>
                  <a:lnTo>
                    <a:pt x="8093" y="0"/>
                  </a:lnTo>
                  <a:cubicBezTo>
                    <a:pt x="8490" y="0"/>
                    <a:pt x="8813" y="322"/>
                    <a:pt x="8813" y="720"/>
                  </a:cubicBezTo>
                  <a:lnTo>
                    <a:pt x="8813" y="27180"/>
                  </a:lnTo>
                  <a:cubicBezTo>
                    <a:pt x="8813" y="27578"/>
                    <a:pt x="8490" y="27900"/>
                    <a:pt x="8093" y="27900"/>
                  </a:cubicBezTo>
                  <a:lnTo>
                    <a:pt x="720" y="27900"/>
                  </a:lnTo>
                  <a:cubicBezTo>
                    <a:pt x="322" y="27900"/>
                    <a:pt x="0" y="27578"/>
                    <a:pt x="0" y="2718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a.strong/network block 3"/>
            <p:cNvSpPr/>
            <p:nvPr/>
          </p:nvSpPr>
          <p:spPr>
            <a:xfrm>
              <a:off x="3990766" y="944721"/>
              <a:ext cx="111922" cy="265747"/>
            </a:xfrm>
            <a:custGeom>
              <a:avLst/>
              <a:gdLst/>
              <a:ahLst/>
              <a:cxnLst/>
              <a:rect l="0" t="0" r="r" b="b"/>
              <a:pathLst>
                <a:path w="8813" h="20925">
                  <a:moveTo>
                    <a:pt x="720" y="0"/>
                  </a:moveTo>
                  <a:lnTo>
                    <a:pt x="8093" y="0"/>
                  </a:lnTo>
                  <a:cubicBezTo>
                    <a:pt x="8490" y="0"/>
                    <a:pt x="8813" y="322"/>
                    <a:pt x="8813" y="720"/>
                  </a:cubicBezTo>
                  <a:lnTo>
                    <a:pt x="8813" y="20205"/>
                  </a:lnTo>
                  <a:cubicBezTo>
                    <a:pt x="8813" y="20603"/>
                    <a:pt x="8490" y="20925"/>
                    <a:pt x="8093" y="20925"/>
                  </a:cubicBezTo>
                  <a:lnTo>
                    <a:pt x="720" y="20925"/>
                  </a:lnTo>
                  <a:cubicBezTo>
                    <a:pt x="322" y="20925"/>
                    <a:pt x="0" y="20603"/>
                    <a:pt x="0" y="20205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a.strong/label"/>
            <p:cNvSpPr txBox="1"/>
            <p:nvPr/>
          </p:nvSpPr>
          <p:spPr>
            <a:xfrm>
              <a:off x="3274060" y="1369060"/>
              <a:ext cx="1051560" cy="2171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2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Strong S</a:t>
              </a:r>
            </a:p>
          </p:txBody>
        </p:sp>
        <p:sp>
          <p:nvSpPr>
            <p:cNvPr id="13" name="a.strong/frozen/white outline"/>
            <p:cNvSpPr/>
            <p:nvPr/>
          </p:nvSpPr>
          <p:spPr>
            <a:xfrm>
              <a:off x="3182620" y="672650"/>
              <a:ext cx="182880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a.strong/frozen/blue crystal"/>
            <p:cNvSpPr/>
            <p:nvPr/>
          </p:nvSpPr>
          <p:spPr>
            <a:xfrm>
              <a:off x="3182620" y="672650"/>
              <a:ext cx="182880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a.weak"/>
          <p:cNvGrpSpPr/>
          <p:nvPr/>
        </p:nvGrpSpPr>
        <p:grpSpPr>
          <a:xfrm>
            <a:off x="4451807" y="652399"/>
            <a:ext cx="1142542" cy="968121"/>
            <a:chOff x="4451807" y="652399"/>
            <a:chExt cx="1142542" cy="968121"/>
          </a:xfrm>
        </p:grpSpPr>
        <p:sp>
          <p:nvSpPr>
            <p:cNvPr id="16" name="a.weak/box"/>
            <p:cNvSpPr/>
            <p:nvPr/>
          </p:nvSpPr>
          <p:spPr>
            <a:xfrm>
              <a:off x="4497070" y="740410"/>
              <a:ext cx="1097279" cy="880110"/>
            </a:xfrm>
            <a:custGeom>
              <a:avLst/>
              <a:gdLst/>
              <a:ahLst/>
              <a:cxnLst/>
              <a:rect l="0" t="0" r="r" b="b"/>
              <a:pathLst>
                <a:path w="86400" h="69300">
                  <a:moveTo>
                    <a:pt x="7200" y="0"/>
                  </a:moveTo>
                  <a:lnTo>
                    <a:pt x="79200" y="0"/>
                  </a:lnTo>
                  <a:cubicBezTo>
                    <a:pt x="83176" y="0"/>
                    <a:pt x="86400" y="3224"/>
                    <a:pt x="86400" y="7200"/>
                  </a:cubicBezTo>
                  <a:lnTo>
                    <a:pt x="86400" y="62100"/>
                  </a:lnTo>
                  <a:cubicBezTo>
                    <a:pt x="86400" y="66076"/>
                    <a:pt x="83176" y="69300"/>
                    <a:pt x="79200" y="69300"/>
                  </a:cubicBezTo>
                  <a:lnTo>
                    <a:pt x="7200" y="69300"/>
                  </a:lnTo>
                  <a:cubicBezTo>
                    <a:pt x="3224" y="69300"/>
                    <a:pt x="0" y="66076"/>
                    <a:pt x="0" y="621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F6E8D8"/>
            </a:solidFill>
            <a:ln w="8001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a.weak/network spine"/>
            <p:cNvSpPr/>
            <p:nvPr/>
          </p:nvSpPr>
          <p:spPr>
            <a:xfrm>
              <a:off x="4742815" y="1077595"/>
              <a:ext cx="605790" cy="127"/>
            </a:xfrm>
            <a:custGeom>
              <a:avLst/>
              <a:gdLst/>
              <a:ahLst/>
              <a:cxnLst/>
              <a:rect l="0" t="0" r="r" b="b"/>
              <a:pathLst>
                <a:path w="47700" h="10">
                  <a:moveTo>
                    <a:pt x="0" y="0"/>
                  </a:moveTo>
                  <a:lnTo>
                    <a:pt x="47700" y="0"/>
                  </a:lnTo>
                </a:path>
              </a:pathLst>
            </a:custGeom>
            <a:noFill/>
            <a:ln w="9715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a.weak/network block 0"/>
            <p:cNvSpPr/>
            <p:nvPr/>
          </p:nvSpPr>
          <p:spPr>
            <a:xfrm>
              <a:off x="4842770" y="944721"/>
              <a:ext cx="102984" cy="265747"/>
            </a:xfrm>
            <a:custGeom>
              <a:avLst/>
              <a:gdLst/>
              <a:ahLst/>
              <a:cxnLst/>
              <a:rect l="0" t="0" r="r" b="b"/>
              <a:pathLst>
                <a:path w="8109" h="20925">
                  <a:moveTo>
                    <a:pt x="720" y="0"/>
                  </a:moveTo>
                  <a:lnTo>
                    <a:pt x="7389" y="0"/>
                  </a:lnTo>
                  <a:cubicBezTo>
                    <a:pt x="7787" y="0"/>
                    <a:pt x="8109" y="322"/>
                    <a:pt x="8109" y="720"/>
                  </a:cubicBezTo>
                  <a:lnTo>
                    <a:pt x="8109" y="20205"/>
                  </a:lnTo>
                  <a:cubicBezTo>
                    <a:pt x="8109" y="20603"/>
                    <a:pt x="7787" y="20925"/>
                    <a:pt x="7389" y="20925"/>
                  </a:cubicBezTo>
                  <a:lnTo>
                    <a:pt x="720" y="20925"/>
                  </a:lnTo>
                  <a:cubicBezTo>
                    <a:pt x="322" y="20925"/>
                    <a:pt x="0" y="20603"/>
                    <a:pt x="0" y="20205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a.weak/network block 1"/>
            <p:cNvSpPr/>
            <p:nvPr/>
          </p:nvSpPr>
          <p:spPr>
            <a:xfrm>
              <a:off x="4994217" y="900430"/>
              <a:ext cx="102984" cy="354329"/>
            </a:xfrm>
            <a:custGeom>
              <a:avLst/>
              <a:gdLst/>
              <a:ahLst/>
              <a:cxnLst/>
              <a:rect l="0" t="0" r="r" b="b"/>
              <a:pathLst>
                <a:path w="8109" h="27900">
                  <a:moveTo>
                    <a:pt x="720" y="0"/>
                  </a:moveTo>
                  <a:lnTo>
                    <a:pt x="7389" y="0"/>
                  </a:lnTo>
                  <a:cubicBezTo>
                    <a:pt x="7787" y="0"/>
                    <a:pt x="8109" y="322"/>
                    <a:pt x="8109" y="720"/>
                  </a:cubicBezTo>
                  <a:lnTo>
                    <a:pt x="8109" y="27180"/>
                  </a:lnTo>
                  <a:cubicBezTo>
                    <a:pt x="8109" y="27578"/>
                    <a:pt x="7787" y="27900"/>
                    <a:pt x="7389" y="27900"/>
                  </a:cubicBezTo>
                  <a:lnTo>
                    <a:pt x="720" y="27900"/>
                  </a:lnTo>
                  <a:cubicBezTo>
                    <a:pt x="322" y="27900"/>
                    <a:pt x="0" y="27578"/>
                    <a:pt x="0" y="2718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a.weak/network block 2"/>
            <p:cNvSpPr/>
            <p:nvPr/>
          </p:nvSpPr>
          <p:spPr>
            <a:xfrm>
              <a:off x="5145665" y="944721"/>
              <a:ext cx="102984" cy="265747"/>
            </a:xfrm>
            <a:custGeom>
              <a:avLst/>
              <a:gdLst/>
              <a:ahLst/>
              <a:cxnLst/>
              <a:rect l="0" t="0" r="r" b="b"/>
              <a:pathLst>
                <a:path w="8109" h="20925">
                  <a:moveTo>
                    <a:pt x="720" y="0"/>
                  </a:moveTo>
                  <a:lnTo>
                    <a:pt x="7389" y="0"/>
                  </a:lnTo>
                  <a:cubicBezTo>
                    <a:pt x="7787" y="0"/>
                    <a:pt x="8109" y="322"/>
                    <a:pt x="8109" y="720"/>
                  </a:cubicBezTo>
                  <a:lnTo>
                    <a:pt x="8109" y="20205"/>
                  </a:lnTo>
                  <a:cubicBezTo>
                    <a:pt x="8109" y="20603"/>
                    <a:pt x="7787" y="20925"/>
                    <a:pt x="7389" y="20925"/>
                  </a:cubicBezTo>
                  <a:lnTo>
                    <a:pt x="720" y="20925"/>
                  </a:lnTo>
                  <a:cubicBezTo>
                    <a:pt x="322" y="20925"/>
                    <a:pt x="0" y="20603"/>
                    <a:pt x="0" y="20205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a.weak/label"/>
            <p:cNvSpPr txBox="1"/>
            <p:nvPr/>
          </p:nvSpPr>
          <p:spPr>
            <a:xfrm>
              <a:off x="4531360" y="1369060"/>
              <a:ext cx="1028700" cy="2171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2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Weak W</a:t>
              </a:r>
              <a:r>
                <a:rPr sz="122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</a:p>
          </p:txBody>
        </p:sp>
        <p:sp>
          <p:nvSpPr>
            <p:cNvPr id="22" name="a.weak/trainable/red"/>
            <p:cNvSpPr/>
            <p:nvPr/>
          </p:nvSpPr>
          <p:spPr>
            <a:xfrm>
              <a:off x="4451807" y="652399"/>
              <a:ext cx="178993" cy="185623"/>
            </a:xfrm>
            <a:custGeom>
              <a:avLst/>
              <a:gdLst/>
              <a:ahLst/>
              <a:cxnLst/>
              <a:rect l="0" t="0" r="r" b="b"/>
              <a:pathLst>
                <a:path w="14094" h="14616">
                  <a:moveTo>
                    <a:pt x="6264" y="14094"/>
                  </a:moveTo>
                  <a:cubicBezTo>
                    <a:pt x="0" y="12006"/>
                    <a:pt x="2088" y="6786"/>
                    <a:pt x="3654" y="5220"/>
                  </a:cubicBezTo>
                  <a:cubicBezTo>
                    <a:pt x="3132" y="8352"/>
                    <a:pt x="5742" y="8874"/>
                    <a:pt x="5220" y="5742"/>
                  </a:cubicBezTo>
                  <a:cubicBezTo>
                    <a:pt x="4176" y="3654"/>
                    <a:pt x="7830" y="2610"/>
                    <a:pt x="6264" y="0"/>
                  </a:cubicBezTo>
                  <a:cubicBezTo>
                    <a:pt x="12006" y="2610"/>
                    <a:pt x="9396" y="6264"/>
                    <a:pt x="10962" y="4698"/>
                  </a:cubicBezTo>
                  <a:cubicBezTo>
                    <a:pt x="14094" y="8352"/>
                    <a:pt x="12528" y="13050"/>
                    <a:pt x="8874" y="14094"/>
                  </a:cubicBezTo>
                  <a:cubicBezTo>
                    <a:pt x="7830" y="14616"/>
                    <a:pt x="6786" y="14616"/>
                    <a:pt x="6264" y="14094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a.weak/trainable/gold"/>
            <p:cNvSpPr/>
            <p:nvPr/>
          </p:nvSpPr>
          <p:spPr>
            <a:xfrm>
              <a:off x="4504842" y="738581"/>
              <a:ext cx="79552" cy="86182"/>
            </a:xfrm>
            <a:custGeom>
              <a:avLst/>
              <a:gdLst/>
              <a:ahLst/>
              <a:cxnLst/>
              <a:rect l="0" t="0" r="r" b="b"/>
              <a:pathLst>
                <a:path w="6264" h="6786">
                  <a:moveTo>
                    <a:pt x="2610" y="6786"/>
                  </a:moveTo>
                  <a:cubicBezTo>
                    <a:pt x="0" y="5742"/>
                    <a:pt x="0" y="2610"/>
                    <a:pt x="1566" y="1044"/>
                  </a:cubicBezTo>
                  <a:cubicBezTo>
                    <a:pt x="1566" y="3654"/>
                    <a:pt x="3654" y="3654"/>
                    <a:pt x="3132" y="0"/>
                  </a:cubicBezTo>
                  <a:cubicBezTo>
                    <a:pt x="6264" y="2088"/>
                    <a:pt x="6264" y="5742"/>
                    <a:pt x="3654" y="6786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a.scale"/>
          <p:cNvGrpSpPr/>
          <p:nvPr/>
        </p:nvGrpSpPr>
        <p:grpSpPr>
          <a:xfrm>
            <a:off x="5686247" y="652399"/>
            <a:ext cx="1142543" cy="968121"/>
            <a:chOff x="5686247" y="652399"/>
            <a:chExt cx="1142543" cy="968121"/>
          </a:xfrm>
        </p:grpSpPr>
        <p:sp>
          <p:nvSpPr>
            <p:cNvPr id="25" name="a.scale/box"/>
            <p:cNvSpPr/>
            <p:nvPr/>
          </p:nvSpPr>
          <p:spPr>
            <a:xfrm>
              <a:off x="5731510" y="740410"/>
              <a:ext cx="1097280" cy="880110"/>
            </a:xfrm>
            <a:custGeom>
              <a:avLst/>
              <a:gdLst/>
              <a:ahLst/>
              <a:cxnLst/>
              <a:rect l="0" t="0" r="r" b="b"/>
              <a:pathLst>
                <a:path w="86400" h="69300">
                  <a:moveTo>
                    <a:pt x="7200" y="0"/>
                  </a:moveTo>
                  <a:lnTo>
                    <a:pt x="79200" y="0"/>
                  </a:lnTo>
                  <a:cubicBezTo>
                    <a:pt x="83176" y="0"/>
                    <a:pt x="86400" y="3224"/>
                    <a:pt x="86400" y="7200"/>
                  </a:cubicBezTo>
                  <a:lnTo>
                    <a:pt x="86400" y="62100"/>
                  </a:lnTo>
                  <a:cubicBezTo>
                    <a:pt x="86400" y="66076"/>
                    <a:pt x="83176" y="69300"/>
                    <a:pt x="79200" y="69300"/>
                  </a:cubicBezTo>
                  <a:lnTo>
                    <a:pt x="7200" y="69300"/>
                  </a:lnTo>
                  <a:cubicBezTo>
                    <a:pt x="3224" y="69300"/>
                    <a:pt x="0" y="66076"/>
                    <a:pt x="0" y="621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F6E8D8"/>
            </a:solidFill>
            <a:ln w="8001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a.scale/time axis"/>
            <p:cNvSpPr/>
            <p:nvPr/>
          </p:nvSpPr>
          <p:spPr>
            <a:xfrm>
              <a:off x="5925820" y="1163320"/>
              <a:ext cx="765810" cy="127"/>
            </a:xfrm>
            <a:custGeom>
              <a:avLst/>
              <a:gdLst/>
              <a:ahLst/>
              <a:cxnLst/>
              <a:rect l="0" t="0" r="r" b="b"/>
              <a:pathLst>
                <a:path w="60300" h="10">
                  <a:moveTo>
                    <a:pt x="0" y="0"/>
                  </a:moveTo>
                  <a:lnTo>
                    <a:pt x="60300" y="0"/>
                  </a:lnTo>
                </a:path>
              </a:pathLst>
            </a:custGeom>
            <a:noFill/>
            <a:ln w="7429">
              <a:solidFill>
                <a:srgbClr val="91A0A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a.scale/value axis"/>
            <p:cNvSpPr/>
            <p:nvPr/>
          </p:nvSpPr>
          <p:spPr>
            <a:xfrm>
              <a:off x="5925820" y="854710"/>
              <a:ext cx="127" cy="445769"/>
            </a:xfrm>
            <a:custGeom>
              <a:avLst/>
              <a:gdLst/>
              <a:ahLst/>
              <a:cxnLst/>
              <a:rect l="0" t="0" r="r" b="b"/>
              <a:pathLst>
                <a:path w="10" h="35100">
                  <a:moveTo>
                    <a:pt x="0" y="0"/>
                  </a:moveTo>
                  <a:lnTo>
                    <a:pt x="0" y="35100"/>
                  </a:lnTo>
                </a:path>
              </a:pathLst>
            </a:custGeom>
            <a:noFill/>
            <a:ln w="7429">
              <a:solidFill>
                <a:srgbClr val="91A0A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a.scale/signed schedule"/>
            <p:cNvSpPr/>
            <p:nvPr/>
          </p:nvSpPr>
          <p:spPr>
            <a:xfrm>
              <a:off x="5948680" y="946150"/>
              <a:ext cx="697229" cy="297180"/>
            </a:xfrm>
            <a:custGeom>
              <a:avLst/>
              <a:gdLst/>
              <a:ahLst/>
              <a:cxnLst/>
              <a:rect l="0" t="0" r="r" b="b"/>
              <a:pathLst>
                <a:path w="54900" h="23400">
                  <a:moveTo>
                    <a:pt x="0" y="11700"/>
                  </a:moveTo>
                  <a:lnTo>
                    <a:pt x="10800" y="1170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8100"/>
                  </a:lnTo>
                  <a:lnTo>
                    <a:pt x="32400" y="8100"/>
                  </a:lnTo>
                  <a:lnTo>
                    <a:pt x="32400" y="23400"/>
                  </a:lnTo>
                  <a:lnTo>
                    <a:pt x="43200" y="23400"/>
                  </a:lnTo>
                  <a:lnTo>
                    <a:pt x="43200" y="12600"/>
                  </a:lnTo>
                  <a:lnTo>
                    <a:pt x="54900" y="12600"/>
                  </a:lnTo>
                </a:path>
              </a:pathLst>
            </a:custGeom>
            <a:noFill/>
            <a:ln w="18859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a.scale/label"/>
            <p:cNvSpPr txBox="1"/>
            <p:nvPr/>
          </p:nvSpPr>
          <p:spPr>
            <a:xfrm>
              <a:off x="5765800" y="1369060"/>
              <a:ext cx="1028700" cy="2171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2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Scale a</a:t>
              </a:r>
              <a:r>
                <a:rPr sz="122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</a:p>
          </p:txBody>
        </p:sp>
        <p:sp>
          <p:nvSpPr>
            <p:cNvPr id="30" name="a.scale/trainable/red"/>
            <p:cNvSpPr/>
            <p:nvPr/>
          </p:nvSpPr>
          <p:spPr>
            <a:xfrm>
              <a:off x="5686247" y="652399"/>
              <a:ext cx="178993" cy="185623"/>
            </a:xfrm>
            <a:custGeom>
              <a:avLst/>
              <a:gdLst/>
              <a:ahLst/>
              <a:cxnLst/>
              <a:rect l="0" t="0" r="r" b="b"/>
              <a:pathLst>
                <a:path w="14094" h="14616">
                  <a:moveTo>
                    <a:pt x="6264" y="14094"/>
                  </a:moveTo>
                  <a:cubicBezTo>
                    <a:pt x="0" y="12006"/>
                    <a:pt x="2088" y="6786"/>
                    <a:pt x="3654" y="5220"/>
                  </a:cubicBezTo>
                  <a:cubicBezTo>
                    <a:pt x="3132" y="8352"/>
                    <a:pt x="5742" y="8874"/>
                    <a:pt x="5220" y="5742"/>
                  </a:cubicBezTo>
                  <a:cubicBezTo>
                    <a:pt x="4176" y="3654"/>
                    <a:pt x="7830" y="2610"/>
                    <a:pt x="6264" y="0"/>
                  </a:cubicBezTo>
                  <a:cubicBezTo>
                    <a:pt x="12006" y="2610"/>
                    <a:pt x="9396" y="6264"/>
                    <a:pt x="10962" y="4698"/>
                  </a:cubicBezTo>
                  <a:cubicBezTo>
                    <a:pt x="14094" y="8352"/>
                    <a:pt x="12528" y="13050"/>
                    <a:pt x="8874" y="14094"/>
                  </a:cubicBezTo>
                  <a:cubicBezTo>
                    <a:pt x="7830" y="14616"/>
                    <a:pt x="6786" y="14616"/>
                    <a:pt x="6264" y="14094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a.scale/trainable/gold"/>
            <p:cNvSpPr/>
            <p:nvPr/>
          </p:nvSpPr>
          <p:spPr>
            <a:xfrm>
              <a:off x="5739282" y="738581"/>
              <a:ext cx="79552" cy="86182"/>
            </a:xfrm>
            <a:custGeom>
              <a:avLst/>
              <a:gdLst/>
              <a:ahLst/>
              <a:cxnLst/>
              <a:rect l="0" t="0" r="r" b="b"/>
              <a:pathLst>
                <a:path w="6264" h="6786">
                  <a:moveTo>
                    <a:pt x="2610" y="6786"/>
                  </a:moveTo>
                  <a:cubicBezTo>
                    <a:pt x="0" y="5742"/>
                    <a:pt x="0" y="2610"/>
                    <a:pt x="1566" y="1044"/>
                  </a:cubicBezTo>
                  <a:cubicBezTo>
                    <a:pt x="1566" y="3654"/>
                    <a:pt x="3654" y="3654"/>
                    <a:pt x="3132" y="0"/>
                  </a:cubicBezTo>
                  <a:cubicBezTo>
                    <a:pt x="6264" y="2088"/>
                    <a:pt x="6264" y="5742"/>
                    <a:pt x="3654" y="6786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a.merge"/>
          <p:cNvGrpSpPr/>
          <p:nvPr/>
        </p:nvGrpSpPr>
        <p:grpSpPr>
          <a:xfrm>
            <a:off x="3799840" y="1620520"/>
            <a:ext cx="2480437" cy="240030"/>
            <a:chOff x="3799840" y="1620520"/>
            <a:chExt cx="2480437" cy="240030"/>
          </a:xfrm>
        </p:grpSpPr>
        <p:sp>
          <p:nvSpPr>
            <p:cNvPr id="33" name="a.merge/228"/>
            <p:cNvSpPr/>
            <p:nvPr/>
          </p:nvSpPr>
          <p:spPr>
            <a:xfrm>
              <a:off x="3799840" y="1620520"/>
              <a:ext cx="127" cy="148590"/>
            </a:xfrm>
            <a:custGeom>
              <a:avLst/>
              <a:gdLst/>
              <a:ahLst/>
              <a:cxnLst/>
              <a:rect l="0" t="0" r="r" b="b"/>
              <a:pathLst>
                <a:path w="10" h="11700">
                  <a:moveTo>
                    <a:pt x="0" y="0"/>
                  </a:moveTo>
                  <a:lnTo>
                    <a:pt x="0" y="1170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a.merge/337"/>
            <p:cNvSpPr/>
            <p:nvPr/>
          </p:nvSpPr>
          <p:spPr>
            <a:xfrm>
              <a:off x="5045710" y="1620520"/>
              <a:ext cx="127" cy="148590"/>
            </a:xfrm>
            <a:custGeom>
              <a:avLst/>
              <a:gdLst/>
              <a:ahLst/>
              <a:cxnLst/>
              <a:rect l="0" t="0" r="r" b="b"/>
              <a:pathLst>
                <a:path w="10" h="11700">
                  <a:moveTo>
                    <a:pt x="0" y="0"/>
                  </a:moveTo>
                  <a:lnTo>
                    <a:pt x="0" y="1170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a.merge/445"/>
            <p:cNvSpPr/>
            <p:nvPr/>
          </p:nvSpPr>
          <p:spPr>
            <a:xfrm>
              <a:off x="6280150" y="1620520"/>
              <a:ext cx="127" cy="148590"/>
            </a:xfrm>
            <a:custGeom>
              <a:avLst/>
              <a:gdLst/>
              <a:ahLst/>
              <a:cxnLst/>
              <a:rect l="0" t="0" r="r" b="b"/>
              <a:pathLst>
                <a:path w="10" h="11700">
                  <a:moveTo>
                    <a:pt x="0" y="0"/>
                  </a:moveTo>
                  <a:lnTo>
                    <a:pt x="0" y="1170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a.merge/bus"/>
            <p:cNvSpPr/>
            <p:nvPr/>
          </p:nvSpPr>
          <p:spPr>
            <a:xfrm>
              <a:off x="3799840" y="1769110"/>
              <a:ext cx="2480309" cy="127"/>
            </a:xfrm>
            <a:custGeom>
              <a:avLst/>
              <a:gdLst/>
              <a:ahLst/>
              <a:cxnLst/>
              <a:rect l="0" t="0" r="r" b="b"/>
              <a:pathLst>
                <a:path w="195300" h="10">
                  <a:moveTo>
                    <a:pt x="0" y="0"/>
                  </a:moveTo>
                  <a:lnTo>
                    <a:pt x="195300" y="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a.merge/output"/>
            <p:cNvSpPr/>
            <p:nvPr/>
          </p:nvSpPr>
          <p:spPr>
            <a:xfrm>
              <a:off x="5045710" y="1769110"/>
              <a:ext cx="127" cy="91439"/>
            </a:xfrm>
            <a:custGeom>
              <a:avLst/>
              <a:gdLst/>
              <a:ahLst/>
              <a:cxnLst/>
              <a:rect l="0" t="0" r="r" b="b"/>
              <a:pathLst>
                <a:path w="10" h="7200">
                  <a:moveTo>
                    <a:pt x="0" y="0"/>
                  </a:moveTo>
                  <a:lnTo>
                    <a:pt x="0" y="720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a.merge/output head"/>
            <p:cNvSpPr/>
            <p:nvPr/>
          </p:nvSpPr>
          <p:spPr>
            <a:xfrm>
              <a:off x="5014849" y="1791970"/>
              <a:ext cx="61722" cy="68580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" name="a.sampler"/>
          <p:cNvGrpSpPr/>
          <p:nvPr/>
        </p:nvGrpSpPr>
        <p:grpSpPr>
          <a:xfrm>
            <a:off x="3251200" y="1860550"/>
            <a:ext cx="3566160" cy="640080"/>
            <a:chOff x="3251200" y="1860550"/>
            <a:chExt cx="3566160" cy="640080"/>
          </a:xfrm>
        </p:grpSpPr>
        <p:sp>
          <p:nvSpPr>
            <p:cNvPr id="40" name="a.sampler/guided prediction"/>
            <p:cNvSpPr txBox="1"/>
            <p:nvPr/>
          </p:nvSpPr>
          <p:spPr>
            <a:xfrm>
              <a:off x="3251200" y="1860550"/>
              <a:ext cx="3566160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9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S + a</a:t>
              </a:r>
              <a:r>
                <a:rPr sz="149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  <a:r>
                <a:rPr sz="149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(t)(S − W</a:t>
              </a:r>
              <a:r>
                <a:rPr sz="149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  <a:r>
                <a:rPr sz="149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)</a:t>
              </a:r>
            </a:p>
          </p:txBody>
        </p:sp>
        <p:sp>
          <p:nvSpPr>
            <p:cNvPr id="41" name="a.sampler/noise state"/>
            <p:cNvSpPr txBox="1"/>
            <p:nvPr/>
          </p:nvSpPr>
          <p:spPr>
            <a:xfrm>
              <a:off x="3365500" y="2226310"/>
              <a:ext cx="36576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77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z</a:t>
              </a:r>
            </a:p>
          </p:txBody>
        </p:sp>
        <p:sp>
          <p:nvSpPr>
            <p:cNvPr id="42" name="a.sampler/middle state"/>
            <p:cNvSpPr txBox="1"/>
            <p:nvPr/>
          </p:nvSpPr>
          <p:spPr>
            <a:xfrm>
              <a:off x="4782820" y="2226310"/>
              <a:ext cx="48006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77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377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t</a:t>
              </a:r>
            </a:p>
          </p:txBody>
        </p:sp>
        <p:sp>
          <p:nvSpPr>
            <p:cNvPr id="43" name="a.sampler/final state"/>
            <p:cNvSpPr txBox="1"/>
            <p:nvPr/>
          </p:nvSpPr>
          <p:spPr>
            <a:xfrm>
              <a:off x="6040120" y="2226310"/>
              <a:ext cx="51435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77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377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</a:p>
          </p:txBody>
        </p:sp>
      </p:grpSp>
      <p:grpSp>
        <p:nvGrpSpPr>
          <p:cNvPr id="44" name="a.trajectory"/>
          <p:cNvGrpSpPr/>
          <p:nvPr/>
        </p:nvGrpSpPr>
        <p:grpSpPr>
          <a:xfrm>
            <a:off x="3765550" y="2332609"/>
            <a:ext cx="2217420" cy="61721"/>
            <a:chOff x="3765550" y="2332609"/>
            <a:chExt cx="2217420" cy="61721"/>
          </a:xfrm>
        </p:grpSpPr>
        <p:sp>
          <p:nvSpPr>
            <p:cNvPr id="45" name="a.trajectory/early"/>
            <p:cNvSpPr/>
            <p:nvPr/>
          </p:nvSpPr>
          <p:spPr>
            <a:xfrm>
              <a:off x="3765550" y="2363470"/>
              <a:ext cx="948689" cy="127"/>
            </a:xfrm>
            <a:custGeom>
              <a:avLst/>
              <a:gdLst/>
              <a:ahLst/>
              <a:cxnLst/>
              <a:rect l="0" t="0" r="r" b="b"/>
              <a:pathLst>
                <a:path w="74700" h="10">
                  <a:moveTo>
                    <a:pt x="0" y="0"/>
                  </a:moveTo>
                  <a:lnTo>
                    <a:pt x="74700" y="0"/>
                  </a:lnTo>
                </a:path>
              </a:pathLst>
            </a:custGeom>
            <a:noFill/>
            <a:ln w="14859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a.trajectory/early head"/>
            <p:cNvSpPr/>
            <p:nvPr/>
          </p:nvSpPr>
          <p:spPr>
            <a:xfrm>
              <a:off x="4645660" y="2332609"/>
              <a:ext cx="68579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a.trajectory/late"/>
            <p:cNvSpPr/>
            <p:nvPr/>
          </p:nvSpPr>
          <p:spPr>
            <a:xfrm>
              <a:off x="5320030" y="2363470"/>
              <a:ext cx="662939" cy="127"/>
            </a:xfrm>
            <a:custGeom>
              <a:avLst/>
              <a:gdLst/>
              <a:ahLst/>
              <a:cxnLst/>
              <a:rect l="0" t="0" r="r" b="b"/>
              <a:pathLst>
                <a:path w="52200" h="10">
                  <a:moveTo>
                    <a:pt x="0" y="0"/>
                  </a:moveTo>
                  <a:lnTo>
                    <a:pt x="52200" y="0"/>
                  </a:lnTo>
                </a:path>
              </a:pathLst>
            </a:custGeom>
            <a:noFill/>
            <a:ln w="14859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a.trajectory/late head"/>
            <p:cNvSpPr/>
            <p:nvPr/>
          </p:nvSpPr>
          <p:spPr>
            <a:xfrm>
              <a:off x="5914390" y="2332609"/>
              <a:ext cx="68580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" name="a.noise"/>
          <p:cNvGrpSpPr/>
          <p:nvPr/>
        </p:nvGrpSpPr>
        <p:grpSpPr>
          <a:xfrm>
            <a:off x="1845310" y="728980"/>
            <a:ext cx="937260" cy="754380"/>
            <a:chOff x="1845310" y="728980"/>
            <a:chExt cx="937260" cy="754380"/>
          </a:xfrm>
        </p:grpSpPr>
        <p:pic>
          <p:nvPicPr>
            <p:cNvPr id="50" name="a.noise/texture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8180" y="728980"/>
              <a:ext cx="731520" cy="434340"/>
            </a:xfrm>
            <a:prstGeom prst="rect">
              <a:avLst/>
            </a:prstGeom>
          </p:spPr>
        </p:pic>
        <p:sp>
          <p:nvSpPr>
            <p:cNvPr id="51" name="a.noise/label"/>
            <p:cNvSpPr txBox="1"/>
            <p:nvPr/>
          </p:nvSpPr>
          <p:spPr>
            <a:xfrm>
              <a:off x="1845310" y="1209040"/>
              <a:ext cx="93726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68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Noise z</a:t>
              </a:r>
            </a:p>
          </p:txBody>
        </p:sp>
      </p:grpSp>
      <p:grpSp>
        <p:nvGrpSpPr>
          <p:cNvPr id="52" name="a.input"/>
          <p:cNvGrpSpPr/>
          <p:nvPr/>
        </p:nvGrpSpPr>
        <p:grpSpPr>
          <a:xfrm>
            <a:off x="1913889" y="926719"/>
            <a:ext cx="1165861" cy="1551051"/>
            <a:chOff x="1913889" y="926719"/>
            <a:chExt cx="1165861" cy="1551051"/>
          </a:xfrm>
        </p:grpSpPr>
        <p:sp>
          <p:nvSpPr>
            <p:cNvPr id="53" name="a.input/noise"/>
            <p:cNvSpPr/>
            <p:nvPr/>
          </p:nvSpPr>
          <p:spPr>
            <a:xfrm>
              <a:off x="2691130" y="957580"/>
              <a:ext cx="388619" cy="127"/>
            </a:xfrm>
            <a:custGeom>
              <a:avLst/>
              <a:gdLst/>
              <a:ahLst/>
              <a:cxnLst/>
              <a:rect l="0" t="0" r="r" b="b"/>
              <a:pathLst>
                <a:path w="30600" h="10">
                  <a:moveTo>
                    <a:pt x="0" y="0"/>
                  </a:moveTo>
                  <a:lnTo>
                    <a:pt x="30600" y="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a.input/noise head"/>
            <p:cNvSpPr/>
            <p:nvPr/>
          </p:nvSpPr>
          <p:spPr>
            <a:xfrm>
              <a:off x="3011170" y="926719"/>
              <a:ext cx="68580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a.input/class"/>
            <p:cNvSpPr txBox="1"/>
            <p:nvPr/>
          </p:nvSpPr>
          <p:spPr>
            <a:xfrm>
              <a:off x="1913889" y="2192020"/>
              <a:ext cx="834390" cy="2857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68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Class c</a:t>
              </a:r>
            </a:p>
          </p:txBody>
        </p:sp>
        <p:sp>
          <p:nvSpPr>
            <p:cNvPr id="56" name="a.input/class edge"/>
            <p:cNvSpPr/>
            <p:nvPr/>
          </p:nvSpPr>
          <p:spPr>
            <a:xfrm>
              <a:off x="2759710" y="2363470"/>
              <a:ext cx="320039" cy="127"/>
            </a:xfrm>
            <a:custGeom>
              <a:avLst/>
              <a:gdLst/>
              <a:ahLst/>
              <a:cxnLst/>
              <a:rect l="0" t="0" r="r" b="b"/>
              <a:pathLst>
                <a:path w="25200" h="10">
                  <a:moveTo>
                    <a:pt x="0" y="0"/>
                  </a:moveTo>
                  <a:lnTo>
                    <a:pt x="25200" y="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a.input/class edge head"/>
            <p:cNvSpPr/>
            <p:nvPr/>
          </p:nvSpPr>
          <p:spPr>
            <a:xfrm>
              <a:off x="3011170" y="2332609"/>
              <a:ext cx="68580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a.output"/>
          <p:cNvGrpSpPr/>
          <p:nvPr/>
        </p:nvGrpSpPr>
        <p:grpSpPr>
          <a:xfrm>
            <a:off x="6272149" y="2512060"/>
            <a:ext cx="61722" cy="354330"/>
            <a:chOff x="6272149" y="2512060"/>
            <a:chExt cx="61722" cy="354330"/>
          </a:xfrm>
        </p:grpSpPr>
        <p:sp>
          <p:nvSpPr>
            <p:cNvPr id="59" name="a.output/endpoint"/>
            <p:cNvSpPr/>
            <p:nvPr/>
          </p:nvSpPr>
          <p:spPr>
            <a:xfrm>
              <a:off x="6303010" y="2512060"/>
              <a:ext cx="127" cy="354330"/>
            </a:xfrm>
            <a:custGeom>
              <a:avLst/>
              <a:gdLst/>
              <a:ahLst/>
              <a:cxnLst/>
              <a:rect l="0" t="0" r="r" b="b"/>
              <a:pathLst>
                <a:path w="10" h="27900">
                  <a:moveTo>
                    <a:pt x="0" y="0"/>
                  </a:moveTo>
                  <a:lnTo>
                    <a:pt x="0" y="2790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a.output/endpoint head"/>
            <p:cNvSpPr/>
            <p:nvPr/>
          </p:nvSpPr>
          <p:spPr>
            <a:xfrm>
              <a:off x="6272149" y="2797810"/>
              <a:ext cx="61722" cy="68580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" name="a.decode"/>
          <p:cNvGrpSpPr/>
          <p:nvPr/>
        </p:nvGrpSpPr>
        <p:grpSpPr>
          <a:xfrm>
            <a:off x="5560060" y="2798630"/>
            <a:ext cx="1417320" cy="422089"/>
            <a:chOff x="5560060" y="2798630"/>
            <a:chExt cx="1417320" cy="422089"/>
          </a:xfrm>
        </p:grpSpPr>
        <p:sp>
          <p:nvSpPr>
            <p:cNvPr id="62" name="a.decode/box"/>
            <p:cNvSpPr/>
            <p:nvPr/>
          </p:nvSpPr>
          <p:spPr>
            <a:xfrm>
              <a:off x="5617210" y="2866390"/>
              <a:ext cx="1360170" cy="354329"/>
            </a:xfrm>
            <a:custGeom>
              <a:avLst/>
              <a:gdLst/>
              <a:ahLst/>
              <a:cxnLst/>
              <a:rect l="0" t="0" r="r" b="b"/>
              <a:pathLst>
                <a:path w="107100" h="27900">
                  <a:moveTo>
                    <a:pt x="7200" y="0"/>
                  </a:moveTo>
                  <a:lnTo>
                    <a:pt x="99900" y="0"/>
                  </a:lnTo>
                  <a:cubicBezTo>
                    <a:pt x="103876" y="0"/>
                    <a:pt x="107100" y="3224"/>
                    <a:pt x="107100" y="7200"/>
                  </a:cubicBezTo>
                  <a:lnTo>
                    <a:pt x="107100" y="20700"/>
                  </a:lnTo>
                  <a:cubicBezTo>
                    <a:pt x="107100" y="24676"/>
                    <a:pt x="103876" y="27900"/>
                    <a:pt x="99900" y="27900"/>
                  </a:cubicBezTo>
                  <a:lnTo>
                    <a:pt x="7200" y="27900"/>
                  </a:lnTo>
                  <a:cubicBezTo>
                    <a:pt x="3224" y="27900"/>
                    <a:pt x="0" y="24676"/>
                    <a:pt x="0" y="207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EAF0F5"/>
            </a:solidFill>
            <a:ln w="8001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a.decode/label"/>
            <p:cNvSpPr txBox="1"/>
            <p:nvPr/>
          </p:nvSpPr>
          <p:spPr>
            <a:xfrm>
              <a:off x="5662930" y="2889250"/>
              <a:ext cx="1268730" cy="3086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0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VAE decode</a:t>
              </a:r>
            </a:p>
          </p:txBody>
        </p:sp>
        <p:sp>
          <p:nvSpPr>
            <p:cNvPr id="64" name="a.decode/frozen/white outline"/>
            <p:cNvSpPr/>
            <p:nvPr/>
          </p:nvSpPr>
          <p:spPr>
            <a:xfrm>
              <a:off x="5560060" y="279863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a.decode/frozen/blue crystal"/>
            <p:cNvSpPr/>
            <p:nvPr/>
          </p:nvSpPr>
          <p:spPr>
            <a:xfrm>
              <a:off x="5560060" y="279863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" name="a.output"/>
          <p:cNvGrpSpPr/>
          <p:nvPr/>
        </p:nvGrpSpPr>
        <p:grpSpPr>
          <a:xfrm>
            <a:off x="6272149" y="3220720"/>
            <a:ext cx="61722" cy="182880"/>
            <a:chOff x="6272149" y="3220720"/>
            <a:chExt cx="61722" cy="182880"/>
          </a:xfrm>
        </p:grpSpPr>
        <p:sp>
          <p:nvSpPr>
            <p:cNvPr id="67" name="a.output/rgb"/>
            <p:cNvSpPr/>
            <p:nvPr/>
          </p:nvSpPr>
          <p:spPr>
            <a:xfrm>
              <a:off x="6303010" y="3220720"/>
              <a:ext cx="127" cy="182880"/>
            </a:xfrm>
            <a:custGeom>
              <a:avLst/>
              <a:gdLst/>
              <a:ahLst/>
              <a:cxnLst/>
              <a:rect l="0" t="0" r="r" b="b"/>
              <a:pathLst>
                <a:path w="10" h="14400">
                  <a:moveTo>
                    <a:pt x="0" y="0"/>
                  </a:moveTo>
                  <a:lnTo>
                    <a:pt x="0" y="1440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a.output/rgb head"/>
            <p:cNvSpPr/>
            <p:nvPr/>
          </p:nvSpPr>
          <p:spPr>
            <a:xfrm>
              <a:off x="6272149" y="3335020"/>
              <a:ext cx="61722" cy="68579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" name="a.real"/>
          <p:cNvGrpSpPr/>
          <p:nvPr/>
        </p:nvGrpSpPr>
        <p:grpSpPr>
          <a:xfrm>
            <a:off x="2211070" y="3403600"/>
            <a:ext cx="1531620" cy="617220"/>
            <a:chOff x="2211070" y="3403600"/>
            <a:chExt cx="1531620" cy="617220"/>
          </a:xfrm>
        </p:grpSpPr>
        <p:sp>
          <p:nvSpPr>
            <p:cNvPr id="70" name="a.real/box"/>
            <p:cNvSpPr/>
            <p:nvPr/>
          </p:nvSpPr>
          <p:spPr>
            <a:xfrm>
              <a:off x="2211070" y="3403600"/>
              <a:ext cx="1531620" cy="617220"/>
            </a:xfrm>
            <a:custGeom>
              <a:avLst/>
              <a:gdLst/>
              <a:ahLst/>
              <a:cxnLst/>
              <a:rect l="0" t="0" r="r" b="b"/>
              <a:pathLst>
                <a:path w="120600" h="48600">
                  <a:moveTo>
                    <a:pt x="7200" y="0"/>
                  </a:moveTo>
                  <a:lnTo>
                    <a:pt x="113400" y="0"/>
                  </a:lnTo>
                  <a:cubicBezTo>
                    <a:pt x="117376" y="0"/>
                    <a:pt x="120600" y="3224"/>
                    <a:pt x="120600" y="7200"/>
                  </a:cubicBezTo>
                  <a:lnTo>
                    <a:pt x="120600" y="41400"/>
                  </a:lnTo>
                  <a:cubicBezTo>
                    <a:pt x="120600" y="45376"/>
                    <a:pt x="117376" y="48600"/>
                    <a:pt x="113400" y="48600"/>
                  </a:cubicBezTo>
                  <a:lnTo>
                    <a:pt x="7200" y="48600"/>
                  </a:lnTo>
                  <a:cubicBezTo>
                    <a:pt x="3224" y="48600"/>
                    <a:pt x="0" y="45376"/>
                    <a:pt x="0" y="414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FFFFFF"/>
            </a:solidFill>
            <a:ln w="1714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a.real/sample 0"/>
            <p:cNvSpPr/>
            <p:nvPr/>
          </p:nvSpPr>
          <p:spPr>
            <a:xfrm>
              <a:off x="235966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a.real/sample 1"/>
            <p:cNvSpPr/>
            <p:nvPr/>
          </p:nvSpPr>
          <p:spPr>
            <a:xfrm>
              <a:off x="263398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a.real/sample 2"/>
            <p:cNvSpPr/>
            <p:nvPr/>
          </p:nvSpPr>
          <p:spPr>
            <a:xfrm>
              <a:off x="290830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a.real/sample 3"/>
            <p:cNvSpPr/>
            <p:nvPr/>
          </p:nvSpPr>
          <p:spPr>
            <a:xfrm>
              <a:off x="318262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a.real/sample 4"/>
            <p:cNvSpPr/>
            <p:nvPr/>
          </p:nvSpPr>
          <p:spPr>
            <a:xfrm>
              <a:off x="345694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a.real/label"/>
            <p:cNvSpPr txBox="1"/>
            <p:nvPr/>
          </p:nvSpPr>
          <p:spPr>
            <a:xfrm>
              <a:off x="2233930" y="3746500"/>
              <a:ext cx="1485900" cy="2400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87" b="0" i="0">
                  <a:solidFill>
                    <a:srgbClr val="C56C60"/>
                  </a:solidFill>
                  <a:latin typeface="Liberation Sans"/>
                  <a:ea typeface="Liberation Sans"/>
                  <a:cs typeface="Liberation Sans"/>
                </a:rPr>
                <a:t>Real x</a:t>
              </a:r>
              <a:r>
                <a:rPr sz="1287" b="0" i="0" baseline="-25000">
                  <a:solidFill>
                    <a:srgbClr val="C56C60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</a:p>
          </p:txBody>
        </p:sp>
      </p:grpSp>
      <p:grpSp>
        <p:nvGrpSpPr>
          <p:cNvPr id="77" name="a.fake"/>
          <p:cNvGrpSpPr/>
          <p:nvPr/>
        </p:nvGrpSpPr>
        <p:grpSpPr>
          <a:xfrm>
            <a:off x="5457190" y="3403600"/>
            <a:ext cx="1531619" cy="617220"/>
            <a:chOff x="5457190" y="3403600"/>
            <a:chExt cx="1531619" cy="617220"/>
          </a:xfrm>
        </p:grpSpPr>
        <p:sp>
          <p:nvSpPr>
            <p:cNvPr id="78" name="a.fake/box"/>
            <p:cNvSpPr/>
            <p:nvPr/>
          </p:nvSpPr>
          <p:spPr>
            <a:xfrm>
              <a:off x="5457190" y="3403600"/>
              <a:ext cx="1531619" cy="617220"/>
            </a:xfrm>
            <a:custGeom>
              <a:avLst/>
              <a:gdLst/>
              <a:ahLst/>
              <a:cxnLst/>
              <a:rect l="0" t="0" r="r" b="b"/>
              <a:pathLst>
                <a:path w="120600" h="48600">
                  <a:moveTo>
                    <a:pt x="7200" y="0"/>
                  </a:moveTo>
                  <a:lnTo>
                    <a:pt x="113400" y="0"/>
                  </a:lnTo>
                  <a:cubicBezTo>
                    <a:pt x="117376" y="0"/>
                    <a:pt x="120600" y="3224"/>
                    <a:pt x="120600" y="7200"/>
                  </a:cubicBezTo>
                  <a:lnTo>
                    <a:pt x="120600" y="41400"/>
                  </a:lnTo>
                  <a:cubicBezTo>
                    <a:pt x="120600" y="45376"/>
                    <a:pt x="117376" y="48600"/>
                    <a:pt x="113400" y="48600"/>
                  </a:cubicBezTo>
                  <a:lnTo>
                    <a:pt x="7200" y="48600"/>
                  </a:lnTo>
                  <a:cubicBezTo>
                    <a:pt x="3224" y="48600"/>
                    <a:pt x="0" y="45376"/>
                    <a:pt x="0" y="414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FFFFFF"/>
            </a:solidFill>
            <a:ln w="1714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a.fake/sample 0"/>
            <p:cNvSpPr/>
            <p:nvPr/>
          </p:nvSpPr>
          <p:spPr>
            <a:xfrm>
              <a:off x="560578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a.fake/sample 1"/>
            <p:cNvSpPr/>
            <p:nvPr/>
          </p:nvSpPr>
          <p:spPr>
            <a:xfrm>
              <a:off x="588010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a.fake/sample 2"/>
            <p:cNvSpPr/>
            <p:nvPr/>
          </p:nvSpPr>
          <p:spPr>
            <a:xfrm>
              <a:off x="615442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a.fake/sample 3"/>
            <p:cNvSpPr/>
            <p:nvPr/>
          </p:nvSpPr>
          <p:spPr>
            <a:xfrm>
              <a:off x="642874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a.fake/sample 4"/>
            <p:cNvSpPr/>
            <p:nvPr/>
          </p:nvSpPr>
          <p:spPr>
            <a:xfrm>
              <a:off x="670306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a.fake/label"/>
            <p:cNvSpPr txBox="1"/>
            <p:nvPr/>
          </p:nvSpPr>
          <p:spPr>
            <a:xfrm>
              <a:off x="5480050" y="3746500"/>
              <a:ext cx="1485900" cy="2400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87" b="0" i="0">
                  <a:solidFill>
                    <a:srgbClr val="5E8DB5"/>
                  </a:solidFill>
                  <a:latin typeface="Liberation Sans"/>
                  <a:ea typeface="Liberation Sans"/>
                  <a:cs typeface="Liberation Sans"/>
                </a:rPr>
                <a:t>Fake x</a:t>
              </a:r>
              <a:r>
                <a:rPr sz="1287" b="0" i="0" baseline="-25000">
                  <a:solidFill>
                    <a:srgbClr val="5E8DB5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</a:p>
          </p:txBody>
        </p:sp>
      </p:grpSp>
      <p:grpSp>
        <p:nvGrpSpPr>
          <p:cNvPr id="85" name="a.inputs"/>
          <p:cNvGrpSpPr/>
          <p:nvPr/>
        </p:nvGrpSpPr>
        <p:grpSpPr>
          <a:xfrm>
            <a:off x="5609209" y="4020820"/>
            <a:ext cx="613790" cy="365760"/>
            <a:chOff x="5609209" y="4020820"/>
            <a:chExt cx="613790" cy="365760"/>
          </a:xfrm>
        </p:grpSpPr>
        <p:sp>
          <p:nvSpPr>
            <p:cNvPr id="86" name="a.inputs/fake"/>
            <p:cNvSpPr/>
            <p:nvPr/>
          </p:nvSpPr>
          <p:spPr>
            <a:xfrm>
              <a:off x="5640070" y="4020820"/>
              <a:ext cx="582929" cy="365760"/>
            </a:xfrm>
            <a:custGeom>
              <a:avLst/>
              <a:gdLst/>
              <a:ahLst/>
              <a:cxnLst/>
              <a:rect l="0" t="0" r="r" b="b"/>
              <a:pathLst>
                <a:path w="45900" h="28800">
                  <a:moveTo>
                    <a:pt x="45900" y="0"/>
                  </a:moveTo>
                  <a:lnTo>
                    <a:pt x="45900" y="15300"/>
                  </a:lnTo>
                  <a:lnTo>
                    <a:pt x="0" y="15300"/>
                  </a:lnTo>
                  <a:lnTo>
                    <a:pt x="0" y="28800"/>
                  </a:lnTo>
                </a:path>
              </a:pathLst>
            </a:custGeom>
            <a:noFill/>
            <a:ln w="16002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a.inputs/fake head"/>
            <p:cNvSpPr/>
            <p:nvPr/>
          </p:nvSpPr>
          <p:spPr>
            <a:xfrm>
              <a:off x="5609209" y="4318000"/>
              <a:ext cx="61721" cy="68580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" name="a.features"/>
          <p:cNvGrpSpPr/>
          <p:nvPr/>
        </p:nvGrpSpPr>
        <p:grpSpPr>
          <a:xfrm>
            <a:off x="4291330" y="4318820"/>
            <a:ext cx="2640329" cy="845000"/>
            <a:chOff x="4291330" y="4318820"/>
            <a:chExt cx="2640329" cy="845000"/>
          </a:xfrm>
        </p:grpSpPr>
        <p:sp>
          <p:nvSpPr>
            <p:cNvPr id="89" name="a.features/box"/>
            <p:cNvSpPr/>
            <p:nvPr/>
          </p:nvSpPr>
          <p:spPr>
            <a:xfrm>
              <a:off x="4348480" y="4386580"/>
              <a:ext cx="2583179" cy="514350"/>
            </a:xfrm>
            <a:custGeom>
              <a:avLst/>
              <a:gdLst/>
              <a:ahLst/>
              <a:cxnLst/>
              <a:rect l="0" t="0" r="r" b="b"/>
              <a:pathLst>
                <a:path w="203400" h="40500">
                  <a:moveTo>
                    <a:pt x="7200" y="0"/>
                  </a:moveTo>
                  <a:lnTo>
                    <a:pt x="196200" y="0"/>
                  </a:lnTo>
                  <a:cubicBezTo>
                    <a:pt x="200176" y="0"/>
                    <a:pt x="203400" y="3224"/>
                    <a:pt x="203400" y="7200"/>
                  </a:cubicBezTo>
                  <a:lnTo>
                    <a:pt x="203400" y="33300"/>
                  </a:lnTo>
                  <a:cubicBezTo>
                    <a:pt x="203400" y="37276"/>
                    <a:pt x="200176" y="40500"/>
                    <a:pt x="196200" y="40500"/>
                  </a:cubicBezTo>
                  <a:lnTo>
                    <a:pt x="7200" y="40500"/>
                  </a:lnTo>
                  <a:cubicBezTo>
                    <a:pt x="3224" y="40500"/>
                    <a:pt x="0" y="37276"/>
                    <a:pt x="0" y="333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EAF0F5"/>
            </a:solidFill>
            <a:ln w="8001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a.features/label"/>
            <p:cNvSpPr txBox="1"/>
            <p:nvPr/>
          </p:nvSpPr>
          <p:spPr>
            <a:xfrm>
              <a:off x="4394200" y="4409440"/>
              <a:ext cx="2491740" cy="4686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7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/>
              </a:r>
            </a:p>
          </p:txBody>
        </p:sp>
        <p:sp>
          <p:nvSpPr>
            <p:cNvPr id="91" name="a.features/frozen/white outline"/>
            <p:cNvSpPr/>
            <p:nvPr/>
          </p:nvSpPr>
          <p:spPr>
            <a:xfrm>
              <a:off x="4291330" y="4318820"/>
              <a:ext cx="182880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a.features/frozen/blue crystal"/>
            <p:cNvSpPr/>
            <p:nvPr/>
          </p:nvSpPr>
          <p:spPr>
            <a:xfrm>
              <a:off x="4291330" y="4318820"/>
              <a:ext cx="182880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a.features/feature plane 0"/>
            <p:cNvSpPr/>
            <p:nvPr/>
          </p:nvSpPr>
          <p:spPr>
            <a:xfrm>
              <a:off x="4485640" y="4466590"/>
              <a:ext cx="262890" cy="262890"/>
            </a:xfrm>
            <a:custGeom>
              <a:avLst/>
              <a:gdLst/>
              <a:ahLst/>
              <a:cxnLst/>
              <a:rect l="0" t="0" r="r" b="b"/>
              <a:pathLst>
                <a:path w="20700" h="20700">
                  <a:moveTo>
                    <a:pt x="1800" y="0"/>
                  </a:moveTo>
                  <a:lnTo>
                    <a:pt x="18900" y="0"/>
                  </a:lnTo>
                  <a:cubicBezTo>
                    <a:pt x="19894" y="0"/>
                    <a:pt x="20700" y="806"/>
                    <a:pt x="20700" y="1800"/>
                  </a:cubicBezTo>
                  <a:lnTo>
                    <a:pt x="20700" y="18900"/>
                  </a:lnTo>
                  <a:cubicBezTo>
                    <a:pt x="20700" y="19894"/>
                    <a:pt x="19894" y="20700"/>
                    <a:pt x="18900" y="20700"/>
                  </a:cubicBezTo>
                  <a:lnTo>
                    <a:pt x="1800" y="20700"/>
                  </a:lnTo>
                  <a:cubicBezTo>
                    <a:pt x="806" y="20700"/>
                    <a:pt x="0" y="19894"/>
                    <a:pt x="0" y="18900"/>
                  </a:cubicBezTo>
                  <a:lnTo>
                    <a:pt x="0" y="1800"/>
                  </a:lnTo>
                  <a:cubicBezTo>
                    <a:pt x="0" y="806"/>
                    <a:pt x="806" y="0"/>
                    <a:pt x="1800" y="0"/>
                  </a:cubicBezTo>
                  <a:close/>
                </a:path>
              </a:pathLst>
            </a:custGeom>
            <a:solidFill>
              <a:srgbClr val="E8F0F7"/>
            </a:solidFill>
            <a:ln w="9715">
              <a:solidFill>
                <a:srgbClr val="7894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a.features/feature plane 1"/>
            <p:cNvSpPr/>
            <p:nvPr/>
          </p:nvSpPr>
          <p:spPr>
            <a:xfrm>
              <a:off x="4577080" y="4512310"/>
              <a:ext cx="262889" cy="262889"/>
            </a:xfrm>
            <a:custGeom>
              <a:avLst/>
              <a:gdLst/>
              <a:ahLst/>
              <a:cxnLst/>
              <a:rect l="0" t="0" r="r" b="b"/>
              <a:pathLst>
                <a:path w="20700" h="20700">
                  <a:moveTo>
                    <a:pt x="1800" y="0"/>
                  </a:moveTo>
                  <a:lnTo>
                    <a:pt x="18900" y="0"/>
                  </a:lnTo>
                  <a:cubicBezTo>
                    <a:pt x="19894" y="0"/>
                    <a:pt x="20700" y="806"/>
                    <a:pt x="20700" y="1800"/>
                  </a:cubicBezTo>
                  <a:lnTo>
                    <a:pt x="20700" y="18900"/>
                  </a:lnTo>
                  <a:cubicBezTo>
                    <a:pt x="20700" y="19894"/>
                    <a:pt x="19894" y="20700"/>
                    <a:pt x="18900" y="20700"/>
                  </a:cubicBezTo>
                  <a:lnTo>
                    <a:pt x="1800" y="20700"/>
                  </a:lnTo>
                  <a:cubicBezTo>
                    <a:pt x="806" y="20700"/>
                    <a:pt x="0" y="19894"/>
                    <a:pt x="0" y="18900"/>
                  </a:cubicBezTo>
                  <a:lnTo>
                    <a:pt x="0" y="1800"/>
                  </a:lnTo>
                  <a:cubicBezTo>
                    <a:pt x="0" y="806"/>
                    <a:pt x="806" y="0"/>
                    <a:pt x="1800" y="0"/>
                  </a:cubicBezTo>
                  <a:close/>
                </a:path>
              </a:pathLst>
            </a:custGeom>
            <a:solidFill>
              <a:srgbClr val="DCE7F1"/>
            </a:solidFill>
            <a:ln w="9715">
              <a:solidFill>
                <a:srgbClr val="7894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a.features/feature plane 2"/>
            <p:cNvSpPr/>
            <p:nvPr/>
          </p:nvSpPr>
          <p:spPr>
            <a:xfrm>
              <a:off x="4668520" y="4558030"/>
              <a:ext cx="262889" cy="262889"/>
            </a:xfrm>
            <a:custGeom>
              <a:avLst/>
              <a:gdLst/>
              <a:ahLst/>
              <a:cxnLst/>
              <a:rect l="0" t="0" r="r" b="b"/>
              <a:pathLst>
                <a:path w="20700" h="20700">
                  <a:moveTo>
                    <a:pt x="1800" y="0"/>
                  </a:moveTo>
                  <a:lnTo>
                    <a:pt x="18900" y="0"/>
                  </a:lnTo>
                  <a:cubicBezTo>
                    <a:pt x="19894" y="0"/>
                    <a:pt x="20700" y="806"/>
                    <a:pt x="20700" y="1800"/>
                  </a:cubicBezTo>
                  <a:lnTo>
                    <a:pt x="20700" y="18900"/>
                  </a:lnTo>
                  <a:cubicBezTo>
                    <a:pt x="20700" y="19894"/>
                    <a:pt x="19894" y="20700"/>
                    <a:pt x="18900" y="20700"/>
                  </a:cubicBezTo>
                  <a:lnTo>
                    <a:pt x="1800" y="20700"/>
                  </a:lnTo>
                  <a:cubicBezTo>
                    <a:pt x="806" y="20700"/>
                    <a:pt x="0" y="19894"/>
                    <a:pt x="0" y="18900"/>
                  </a:cubicBezTo>
                  <a:lnTo>
                    <a:pt x="0" y="1800"/>
                  </a:lnTo>
                  <a:cubicBezTo>
                    <a:pt x="0" y="806"/>
                    <a:pt x="806" y="0"/>
                    <a:pt x="1800" y="0"/>
                  </a:cubicBezTo>
                  <a:close/>
                </a:path>
              </a:pathLst>
            </a:custGeom>
            <a:solidFill>
              <a:srgbClr val="F8FBFE"/>
            </a:solidFill>
            <a:ln w="9715">
              <a:solidFill>
                <a:srgbClr val="7894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a.features/name"/>
            <p:cNvSpPr txBox="1"/>
            <p:nvPr/>
          </p:nvSpPr>
          <p:spPr>
            <a:xfrm>
              <a:off x="5114290" y="4432300"/>
              <a:ext cx="1725930" cy="4229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8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Inception φ</a:t>
              </a:r>
            </a:p>
          </p:txBody>
        </p:sp>
        <p:sp>
          <p:nvSpPr>
            <p:cNvPr id="97" name="a.features/output"/>
            <p:cNvSpPr/>
            <p:nvPr/>
          </p:nvSpPr>
          <p:spPr>
            <a:xfrm>
              <a:off x="5640070" y="4900930"/>
              <a:ext cx="127" cy="262889"/>
            </a:xfrm>
            <a:custGeom>
              <a:avLst/>
              <a:gdLst/>
              <a:ahLst/>
              <a:cxnLst/>
              <a:rect l="0" t="0" r="r" b="b"/>
              <a:pathLst>
                <a:path w="10" h="20700">
                  <a:moveTo>
                    <a:pt x="0" y="0"/>
                  </a:moveTo>
                  <a:lnTo>
                    <a:pt x="0" y="2070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a.features/output head"/>
            <p:cNvSpPr/>
            <p:nvPr/>
          </p:nvSpPr>
          <p:spPr>
            <a:xfrm>
              <a:off x="5609209" y="5095240"/>
              <a:ext cx="61721" cy="68580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a.classifier"/>
          <p:cNvGrpSpPr/>
          <p:nvPr/>
        </p:nvGrpSpPr>
        <p:grpSpPr>
          <a:xfrm>
            <a:off x="4291330" y="5096060"/>
            <a:ext cx="2640329" cy="559249"/>
            <a:chOff x="4291330" y="5096060"/>
            <a:chExt cx="2640329" cy="559249"/>
          </a:xfrm>
        </p:grpSpPr>
        <p:sp>
          <p:nvSpPr>
            <p:cNvPr id="100" name="a.classifier/box"/>
            <p:cNvSpPr/>
            <p:nvPr/>
          </p:nvSpPr>
          <p:spPr>
            <a:xfrm>
              <a:off x="4348480" y="5163820"/>
              <a:ext cx="2583179" cy="491489"/>
            </a:xfrm>
            <a:custGeom>
              <a:avLst/>
              <a:gdLst/>
              <a:ahLst/>
              <a:cxnLst/>
              <a:rect l="0" t="0" r="r" b="b"/>
              <a:pathLst>
                <a:path w="203400" h="38700">
                  <a:moveTo>
                    <a:pt x="7200" y="0"/>
                  </a:moveTo>
                  <a:lnTo>
                    <a:pt x="196200" y="0"/>
                  </a:lnTo>
                  <a:cubicBezTo>
                    <a:pt x="200176" y="0"/>
                    <a:pt x="203400" y="3224"/>
                    <a:pt x="203400" y="7200"/>
                  </a:cubicBezTo>
                  <a:lnTo>
                    <a:pt x="203400" y="31500"/>
                  </a:lnTo>
                  <a:cubicBezTo>
                    <a:pt x="203400" y="35476"/>
                    <a:pt x="200176" y="38700"/>
                    <a:pt x="196200" y="38700"/>
                  </a:cubicBezTo>
                  <a:lnTo>
                    <a:pt x="7200" y="38700"/>
                  </a:lnTo>
                  <a:cubicBezTo>
                    <a:pt x="3224" y="38700"/>
                    <a:pt x="0" y="35476"/>
                    <a:pt x="0" y="315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EAF0F5"/>
            </a:solidFill>
            <a:ln w="8001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a.classifier/label"/>
            <p:cNvSpPr txBox="1"/>
            <p:nvPr/>
          </p:nvSpPr>
          <p:spPr>
            <a:xfrm>
              <a:off x="4394200" y="5186680"/>
              <a:ext cx="2491740" cy="4457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2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/>
              </a:r>
            </a:p>
          </p:txBody>
        </p:sp>
        <p:sp>
          <p:nvSpPr>
            <p:cNvPr id="102" name="a.classifier/frozen/white outline"/>
            <p:cNvSpPr/>
            <p:nvPr/>
          </p:nvSpPr>
          <p:spPr>
            <a:xfrm>
              <a:off x="4291330" y="5096060"/>
              <a:ext cx="182880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a.classifier/frozen/blue crystal"/>
            <p:cNvSpPr/>
            <p:nvPr/>
          </p:nvSpPr>
          <p:spPr>
            <a:xfrm>
              <a:off x="4291330" y="5096060"/>
              <a:ext cx="182880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a.classifier/network spine"/>
            <p:cNvSpPr/>
            <p:nvPr/>
          </p:nvSpPr>
          <p:spPr>
            <a:xfrm>
              <a:off x="4508500" y="5403850"/>
              <a:ext cx="491489" cy="127"/>
            </a:xfrm>
            <a:custGeom>
              <a:avLst/>
              <a:gdLst/>
              <a:ahLst/>
              <a:cxnLst/>
              <a:rect l="0" t="0" r="r" b="b"/>
              <a:pathLst>
                <a:path w="38700" h="10">
                  <a:moveTo>
                    <a:pt x="0" y="0"/>
                  </a:moveTo>
                  <a:lnTo>
                    <a:pt x="38700" y="0"/>
                  </a:lnTo>
                </a:path>
              </a:pathLst>
            </a:custGeom>
            <a:noFill/>
            <a:ln w="971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a.classifier/network block 0"/>
            <p:cNvSpPr/>
            <p:nvPr/>
          </p:nvSpPr>
          <p:spPr>
            <a:xfrm>
              <a:off x="4589595" y="5309552"/>
              <a:ext cx="83553" cy="188595"/>
            </a:xfrm>
            <a:custGeom>
              <a:avLst/>
              <a:gdLst/>
              <a:ahLst/>
              <a:cxnLst/>
              <a:rect l="0" t="0" r="r" b="b"/>
              <a:pathLst>
                <a:path w="6579" h="14850">
                  <a:moveTo>
                    <a:pt x="720" y="0"/>
                  </a:moveTo>
                  <a:lnTo>
                    <a:pt x="5859" y="0"/>
                  </a:lnTo>
                  <a:cubicBezTo>
                    <a:pt x="6257" y="0"/>
                    <a:pt x="6579" y="322"/>
                    <a:pt x="6579" y="720"/>
                  </a:cubicBezTo>
                  <a:lnTo>
                    <a:pt x="6579" y="14130"/>
                  </a:lnTo>
                  <a:cubicBezTo>
                    <a:pt x="6579" y="14528"/>
                    <a:pt x="6257" y="14850"/>
                    <a:pt x="5859" y="14850"/>
                  </a:cubicBezTo>
                  <a:lnTo>
                    <a:pt x="720" y="14850"/>
                  </a:lnTo>
                  <a:cubicBezTo>
                    <a:pt x="322" y="14850"/>
                    <a:pt x="0" y="14528"/>
                    <a:pt x="0" y="1413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a.classifier/network block 1"/>
            <p:cNvSpPr/>
            <p:nvPr/>
          </p:nvSpPr>
          <p:spPr>
            <a:xfrm>
              <a:off x="4712468" y="5278120"/>
              <a:ext cx="83553" cy="251460"/>
            </a:xfrm>
            <a:custGeom>
              <a:avLst/>
              <a:gdLst/>
              <a:ahLst/>
              <a:cxnLst/>
              <a:rect l="0" t="0" r="r" b="b"/>
              <a:pathLst>
                <a:path w="6579" h="19800">
                  <a:moveTo>
                    <a:pt x="720" y="0"/>
                  </a:moveTo>
                  <a:lnTo>
                    <a:pt x="5859" y="0"/>
                  </a:lnTo>
                  <a:cubicBezTo>
                    <a:pt x="6257" y="0"/>
                    <a:pt x="6579" y="322"/>
                    <a:pt x="6579" y="720"/>
                  </a:cubicBezTo>
                  <a:lnTo>
                    <a:pt x="6579" y="19080"/>
                  </a:lnTo>
                  <a:cubicBezTo>
                    <a:pt x="6579" y="19478"/>
                    <a:pt x="6257" y="19800"/>
                    <a:pt x="5859" y="19800"/>
                  </a:cubicBezTo>
                  <a:lnTo>
                    <a:pt x="720" y="19800"/>
                  </a:lnTo>
                  <a:cubicBezTo>
                    <a:pt x="322" y="19800"/>
                    <a:pt x="0" y="19478"/>
                    <a:pt x="0" y="1908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a.classifier/network block 2"/>
            <p:cNvSpPr/>
            <p:nvPr/>
          </p:nvSpPr>
          <p:spPr>
            <a:xfrm>
              <a:off x="4835340" y="5309552"/>
              <a:ext cx="83553" cy="188595"/>
            </a:xfrm>
            <a:custGeom>
              <a:avLst/>
              <a:gdLst/>
              <a:ahLst/>
              <a:cxnLst/>
              <a:rect l="0" t="0" r="r" b="b"/>
              <a:pathLst>
                <a:path w="6579" h="14850">
                  <a:moveTo>
                    <a:pt x="720" y="0"/>
                  </a:moveTo>
                  <a:lnTo>
                    <a:pt x="5859" y="0"/>
                  </a:lnTo>
                  <a:cubicBezTo>
                    <a:pt x="6257" y="0"/>
                    <a:pt x="6579" y="322"/>
                    <a:pt x="6579" y="720"/>
                  </a:cubicBezTo>
                  <a:lnTo>
                    <a:pt x="6579" y="14130"/>
                  </a:lnTo>
                  <a:cubicBezTo>
                    <a:pt x="6579" y="14528"/>
                    <a:pt x="6257" y="14850"/>
                    <a:pt x="5859" y="14850"/>
                  </a:cubicBezTo>
                  <a:lnTo>
                    <a:pt x="720" y="14850"/>
                  </a:lnTo>
                  <a:cubicBezTo>
                    <a:pt x="322" y="14850"/>
                    <a:pt x="0" y="14528"/>
                    <a:pt x="0" y="1413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a.classifier/name"/>
            <p:cNvSpPr txBox="1"/>
            <p:nvPr/>
          </p:nvSpPr>
          <p:spPr>
            <a:xfrm>
              <a:off x="5114290" y="5209540"/>
              <a:ext cx="1748790" cy="400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40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Classifier D</a:t>
              </a:r>
              <a:r>
                <a:rPr sz="1440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</a:p>
          </p:txBody>
        </p:sp>
      </p:grpSp>
      <p:grpSp>
        <p:nvGrpSpPr>
          <p:cNvPr id="109" name="a.condition"/>
          <p:cNvGrpSpPr/>
          <p:nvPr/>
        </p:nvGrpSpPr>
        <p:grpSpPr>
          <a:xfrm>
            <a:off x="3925570" y="5152390"/>
            <a:ext cx="422909" cy="293750"/>
            <a:chOff x="3925570" y="5152390"/>
            <a:chExt cx="422909" cy="293750"/>
          </a:xfrm>
        </p:grpSpPr>
        <p:sp>
          <p:nvSpPr>
            <p:cNvPr id="110" name="a.condition/class"/>
            <p:cNvSpPr txBox="1"/>
            <p:nvPr/>
          </p:nvSpPr>
          <p:spPr>
            <a:xfrm>
              <a:off x="3925570" y="5152390"/>
              <a:ext cx="308610" cy="2400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42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c</a:t>
              </a:r>
            </a:p>
          </p:txBody>
        </p:sp>
        <p:sp>
          <p:nvSpPr>
            <p:cNvPr id="111" name="a.condition/edge"/>
            <p:cNvSpPr/>
            <p:nvPr/>
          </p:nvSpPr>
          <p:spPr>
            <a:xfrm>
              <a:off x="3925570" y="5415280"/>
              <a:ext cx="422909" cy="127"/>
            </a:xfrm>
            <a:custGeom>
              <a:avLst/>
              <a:gdLst/>
              <a:ahLst/>
              <a:cxnLst/>
              <a:rect l="0" t="0" r="r" b="b"/>
              <a:pathLst>
                <a:path w="33300" h="10">
                  <a:moveTo>
                    <a:pt x="0" y="0"/>
                  </a:moveTo>
                  <a:lnTo>
                    <a:pt x="33300" y="0"/>
                  </a:lnTo>
                </a:path>
              </a:pathLst>
            </a:custGeom>
            <a:noFill/>
            <a:ln w="13716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a.condition/edge head"/>
            <p:cNvSpPr/>
            <p:nvPr/>
          </p:nvSpPr>
          <p:spPr>
            <a:xfrm>
              <a:off x="4279900" y="5384419"/>
              <a:ext cx="68579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a.probe"/>
          <p:cNvGrpSpPr/>
          <p:nvPr/>
        </p:nvGrpSpPr>
        <p:grpSpPr>
          <a:xfrm>
            <a:off x="2946019" y="4020820"/>
            <a:ext cx="1288161" cy="834389"/>
            <a:chOff x="2946019" y="4020820"/>
            <a:chExt cx="1288161" cy="834389"/>
          </a:xfrm>
        </p:grpSpPr>
        <p:sp>
          <p:nvSpPr>
            <p:cNvPr id="114" name="a.probe/edge"/>
            <p:cNvSpPr/>
            <p:nvPr/>
          </p:nvSpPr>
          <p:spPr>
            <a:xfrm>
              <a:off x="2976880" y="4020820"/>
              <a:ext cx="127" cy="834389"/>
            </a:xfrm>
            <a:custGeom>
              <a:avLst/>
              <a:gdLst/>
              <a:ahLst/>
              <a:cxnLst/>
              <a:rect l="0" t="0" r="r" b="b"/>
              <a:pathLst>
                <a:path w="10" h="65700">
                  <a:moveTo>
                    <a:pt x="0" y="0"/>
                  </a:moveTo>
                  <a:lnTo>
                    <a:pt x="0" y="65700"/>
                  </a:lnTo>
                </a:path>
              </a:pathLst>
            </a:custGeom>
            <a:noFill/>
            <a:ln w="14287">
              <a:solidFill>
                <a:srgbClr val="6677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a.probe/edge head"/>
            <p:cNvSpPr/>
            <p:nvPr/>
          </p:nvSpPr>
          <p:spPr>
            <a:xfrm>
              <a:off x="2946019" y="4786630"/>
              <a:ext cx="61721" cy="68579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77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a.probe/description"/>
            <p:cNvSpPr txBox="1"/>
            <p:nvPr/>
          </p:nvSpPr>
          <p:spPr>
            <a:xfrm>
              <a:off x="3079750" y="4295140"/>
              <a:ext cx="1154430" cy="3314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33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Fresh probe</a:t>
              </a:r>
            </a:p>
          </p:txBody>
        </p:sp>
      </p:grpSp>
      <p:grpSp>
        <p:nvGrpSpPr>
          <p:cNvPr id="117" name="a.anchor"/>
          <p:cNvGrpSpPr/>
          <p:nvPr/>
        </p:nvGrpSpPr>
        <p:grpSpPr>
          <a:xfrm>
            <a:off x="2176780" y="4855210"/>
            <a:ext cx="1611630" cy="685800"/>
            <a:chOff x="2176780" y="4855210"/>
            <a:chExt cx="1611630" cy="685800"/>
          </a:xfrm>
        </p:grpSpPr>
        <p:sp>
          <p:nvSpPr>
            <p:cNvPr id="118" name="a.anchor/box"/>
            <p:cNvSpPr/>
            <p:nvPr/>
          </p:nvSpPr>
          <p:spPr>
            <a:xfrm>
              <a:off x="2176780" y="4855210"/>
              <a:ext cx="1611630" cy="685800"/>
            </a:xfrm>
            <a:custGeom>
              <a:avLst/>
              <a:gdLst/>
              <a:ahLst/>
              <a:cxnLst/>
              <a:rect l="0" t="0" r="r" b="b"/>
              <a:pathLst>
                <a:path w="126900" h="54000">
                  <a:moveTo>
                    <a:pt x="6300" y="0"/>
                  </a:moveTo>
                  <a:lnTo>
                    <a:pt x="120600" y="0"/>
                  </a:lnTo>
                  <a:cubicBezTo>
                    <a:pt x="124079" y="0"/>
                    <a:pt x="126900" y="2821"/>
                    <a:pt x="126900" y="6300"/>
                  </a:cubicBezTo>
                  <a:lnTo>
                    <a:pt x="126900" y="47700"/>
                  </a:lnTo>
                  <a:cubicBezTo>
                    <a:pt x="126900" y="51179"/>
                    <a:pt x="124079" y="54000"/>
                    <a:pt x="120600" y="54000"/>
                  </a:cubicBezTo>
                  <a:lnTo>
                    <a:pt x="6300" y="54000"/>
                  </a:lnTo>
                  <a:cubicBezTo>
                    <a:pt x="2821" y="54000"/>
                    <a:pt x="0" y="51179"/>
                    <a:pt x="0" y="47700"/>
                  </a:cubicBezTo>
                  <a:lnTo>
                    <a:pt x="0" y="6300"/>
                  </a:lnTo>
                  <a:cubicBezTo>
                    <a:pt x="0" y="2821"/>
                    <a:pt x="2821" y="0"/>
                    <a:pt x="6300" y="0"/>
                  </a:cubicBezTo>
                  <a:close/>
                </a:path>
              </a:pathLst>
            </a:custGeom>
            <a:solidFill>
              <a:srgbClr val="FCF7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a.anchor/title"/>
            <p:cNvSpPr txBox="1"/>
            <p:nvPr/>
          </p:nvSpPr>
          <p:spPr>
            <a:xfrm>
              <a:off x="2222500" y="4900930"/>
              <a:ext cx="152019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Scale anchor</a:t>
              </a:r>
            </a:p>
          </p:txBody>
        </p:sp>
        <p:sp>
          <p:nvSpPr>
            <p:cNvPr id="120" name="a.anchor/formula"/>
            <p:cNvSpPr txBox="1"/>
            <p:nvPr/>
          </p:nvSpPr>
          <p:spPr>
            <a:xfrm>
              <a:off x="2222500" y="5198110"/>
              <a:ext cx="1520190" cy="2628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1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31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gap</a:t>
              </a:r>
              <a:r>
                <a:rPr sz="131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(θ; W</a:t>
              </a:r>
              <a:r>
                <a:rPr sz="131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0</a:t>
              </a:r>
              <a:r>
                <a:rPr sz="131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)</a:t>
              </a:r>
            </a:p>
          </p:txBody>
        </p:sp>
      </p:grpSp>
      <p:grpSp>
        <p:nvGrpSpPr>
          <p:cNvPr id="121" name="a.loss"/>
          <p:cNvGrpSpPr/>
          <p:nvPr/>
        </p:nvGrpSpPr>
        <p:grpSpPr>
          <a:xfrm>
            <a:off x="2976880" y="5541010"/>
            <a:ext cx="2663190" cy="457200"/>
            <a:chOff x="2976880" y="5541010"/>
            <a:chExt cx="2663190" cy="457200"/>
          </a:xfrm>
        </p:grpSpPr>
        <p:sp>
          <p:nvSpPr>
            <p:cNvPr id="122" name="a.loss/anchor edge"/>
            <p:cNvSpPr/>
            <p:nvPr/>
          </p:nvSpPr>
          <p:spPr>
            <a:xfrm>
              <a:off x="2976880" y="5541010"/>
              <a:ext cx="1520190" cy="285750"/>
            </a:xfrm>
            <a:custGeom>
              <a:avLst/>
              <a:gdLst/>
              <a:ahLst/>
              <a:cxnLst/>
              <a:rect l="0" t="0" r="r" b="b"/>
              <a:pathLst>
                <a:path w="119700" h="22500">
                  <a:moveTo>
                    <a:pt x="0" y="0"/>
                  </a:moveTo>
                  <a:lnTo>
                    <a:pt x="0" y="22500"/>
                  </a:lnTo>
                  <a:lnTo>
                    <a:pt x="119700" y="22500"/>
                  </a:lnTo>
                </a:path>
              </a:pathLst>
            </a:custGeom>
            <a:noFill/>
            <a:ln w="16002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a.loss/classifier edge"/>
            <p:cNvSpPr/>
            <p:nvPr/>
          </p:nvSpPr>
          <p:spPr>
            <a:xfrm>
              <a:off x="4497070" y="5655310"/>
              <a:ext cx="1143000" cy="342900"/>
            </a:xfrm>
            <a:custGeom>
              <a:avLst/>
              <a:gdLst/>
              <a:ahLst/>
              <a:cxnLst/>
              <a:rect l="0" t="0" r="r" b="b"/>
              <a:pathLst>
                <a:path w="90000" h="27000">
                  <a:moveTo>
                    <a:pt x="90000" y="0"/>
                  </a:moveTo>
                  <a:lnTo>
                    <a:pt x="90000" y="13500"/>
                  </a:lnTo>
                  <a:lnTo>
                    <a:pt x="0" y="13500"/>
                  </a:lnTo>
                  <a:lnTo>
                    <a:pt x="0" y="27000"/>
                  </a:lnTo>
                </a:path>
              </a:pathLst>
            </a:custGeom>
            <a:noFill/>
            <a:ln w="16002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a.loss/classifier edge head"/>
            <p:cNvSpPr/>
            <p:nvPr/>
          </p:nvSpPr>
          <p:spPr>
            <a:xfrm>
              <a:off x="4466209" y="5929630"/>
              <a:ext cx="61721" cy="68579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" name="a.objective"/>
          <p:cNvGrpSpPr/>
          <p:nvPr/>
        </p:nvGrpSpPr>
        <p:grpSpPr>
          <a:xfrm>
            <a:off x="1925320" y="5998210"/>
            <a:ext cx="5143500" cy="891540"/>
            <a:chOff x="1925320" y="5998210"/>
            <a:chExt cx="5143500" cy="891540"/>
          </a:xfrm>
        </p:grpSpPr>
        <p:sp>
          <p:nvSpPr>
            <p:cNvPr id="126" name="a.objective/box"/>
            <p:cNvSpPr/>
            <p:nvPr/>
          </p:nvSpPr>
          <p:spPr>
            <a:xfrm>
              <a:off x="2073910" y="5998210"/>
              <a:ext cx="4892040" cy="617219"/>
            </a:xfrm>
            <a:custGeom>
              <a:avLst/>
              <a:gdLst/>
              <a:ahLst/>
              <a:cxnLst/>
              <a:rect l="0" t="0" r="r" b="b"/>
              <a:pathLst>
                <a:path w="385200" h="48600">
                  <a:moveTo>
                    <a:pt x="6300" y="0"/>
                  </a:moveTo>
                  <a:lnTo>
                    <a:pt x="378900" y="0"/>
                  </a:lnTo>
                  <a:cubicBezTo>
                    <a:pt x="382379" y="0"/>
                    <a:pt x="385200" y="2821"/>
                    <a:pt x="385200" y="6300"/>
                  </a:cubicBezTo>
                  <a:lnTo>
                    <a:pt x="385200" y="42300"/>
                  </a:lnTo>
                  <a:cubicBezTo>
                    <a:pt x="385200" y="45779"/>
                    <a:pt x="382379" y="48600"/>
                    <a:pt x="378900" y="48600"/>
                  </a:cubicBezTo>
                  <a:lnTo>
                    <a:pt x="6300" y="48600"/>
                  </a:lnTo>
                  <a:cubicBezTo>
                    <a:pt x="2821" y="48600"/>
                    <a:pt x="0" y="45779"/>
                    <a:pt x="0" y="42300"/>
                  </a:cubicBezTo>
                  <a:lnTo>
                    <a:pt x="0" y="6300"/>
                  </a:lnTo>
                  <a:cubicBezTo>
                    <a:pt x="0" y="2821"/>
                    <a:pt x="2821" y="0"/>
                    <a:pt x="6300" y="0"/>
                  </a:cubicBezTo>
                  <a:close/>
                </a:path>
              </a:pathLst>
            </a:custGeom>
            <a:solidFill>
              <a:srgbClr val="FCF7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a.objective/formula"/>
            <p:cNvSpPr txBox="1"/>
            <p:nvPr/>
          </p:nvSpPr>
          <p:spPr>
            <a:xfrm>
              <a:off x="2165350" y="6112510"/>
              <a:ext cx="4709160" cy="3886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58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min</a:t>
              </a:r>
              <a:r>
                <a:rPr sz="1458" b="0" i="0" baseline="-2500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θ, α</a:t>
              </a:r>
              <a:r>
                <a:rPr sz="1458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  E[softplus(−d</a:t>
              </a:r>
              <a:r>
                <a:rPr sz="1458" b="0" i="0" baseline="-2500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  <a:r>
                <a:rPr sz="1458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)]</a:t>
              </a:r>
              <a:r>
                <a:rPr sz="1458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 + λ R</a:t>
              </a:r>
              <a:r>
                <a:rPr sz="1458" b="0" i="0" baseline="-2500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gap</a:t>
              </a:r>
            </a:p>
          </p:txBody>
        </p:sp>
        <p:sp>
          <p:nvSpPr>
            <p:cNvPr id="128" name="a.objective/note"/>
            <p:cNvSpPr txBox="1"/>
            <p:nvPr/>
          </p:nvSpPr>
          <p:spPr>
            <a:xfrm>
              <a:off x="1925320" y="6649720"/>
              <a:ext cx="5143500" cy="2400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24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Learn weak head and signed schedule</a:t>
              </a:r>
            </a:p>
          </p:txBody>
        </p:sp>
      </p:grpSp>
      <p:grpSp>
        <p:nvGrpSpPr>
          <p:cNvPr id="129" name="a.gradient"/>
          <p:cNvGrpSpPr/>
          <p:nvPr/>
        </p:nvGrpSpPr>
        <p:grpSpPr>
          <a:xfrm>
            <a:off x="142240" y="2637790"/>
            <a:ext cx="4934331" cy="3646170"/>
            <a:chOff x="142240" y="2637790"/>
            <a:chExt cx="4934331" cy="3646170"/>
          </a:xfrm>
        </p:grpSpPr>
        <p:sp>
          <p:nvSpPr>
            <p:cNvPr id="130" name="a.gradient/return"/>
            <p:cNvSpPr/>
            <p:nvPr/>
          </p:nvSpPr>
          <p:spPr>
            <a:xfrm>
              <a:off x="1513840" y="2637790"/>
              <a:ext cx="3531870" cy="3646170"/>
            </a:xfrm>
            <a:custGeom>
              <a:avLst/>
              <a:gdLst/>
              <a:ahLst/>
              <a:cxnLst/>
              <a:rect l="0" t="0" r="r" b="b"/>
              <a:pathLst>
                <a:path w="278100" h="287100">
                  <a:moveTo>
                    <a:pt x="44100" y="287100"/>
                  </a:moveTo>
                  <a:lnTo>
                    <a:pt x="0" y="287100"/>
                  </a:lnTo>
                  <a:lnTo>
                    <a:pt x="0" y="11700"/>
                  </a:lnTo>
                  <a:lnTo>
                    <a:pt x="278100" y="11700"/>
                  </a:lnTo>
                  <a:lnTo>
                    <a:pt x="278100" y="0"/>
                  </a:lnTo>
                </a:path>
              </a:pathLst>
            </a:custGeom>
            <a:noFill/>
            <a:ln w="20574">
              <a:solidFill>
                <a:srgbClr val="B8643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a.gradient/return head"/>
            <p:cNvSpPr/>
            <p:nvPr/>
          </p:nvSpPr>
          <p:spPr>
            <a:xfrm>
              <a:off x="5014849" y="2637790"/>
              <a:ext cx="61722" cy="68579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0"/>
                  </a:moveTo>
                  <a:lnTo>
                    <a:pt x="0" y="5400"/>
                  </a:lnTo>
                  <a:lnTo>
                    <a:pt x="4860" y="5400"/>
                  </a:lnTo>
                  <a:close/>
                </a:path>
              </a:pathLst>
            </a:custGeom>
            <a:solidFill>
              <a:srgbClr val="B864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a.gradient/label"/>
            <p:cNvSpPr txBox="1"/>
            <p:nvPr/>
          </p:nvSpPr>
          <p:spPr>
            <a:xfrm rot="16200000">
              <a:off x="142240" y="4466590"/>
              <a:ext cx="2400300" cy="2400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42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Full-trajectory gradient</a:t>
              </a:r>
            </a:p>
          </p:txBody>
        </p:sp>
      </p:grpSp>
      <p:grpSp>
        <p:nvGrpSpPr>
          <p:cNvPr id="133" name="a.before-real"/>
          <p:cNvGrpSpPr/>
          <p:nvPr/>
        </p:nvGrpSpPr>
        <p:grpSpPr>
          <a:xfrm>
            <a:off x="2183638" y="7324661"/>
            <a:ext cx="740664" cy="524637"/>
            <a:chOff x="2183638" y="7324661"/>
            <a:chExt cx="740664" cy="524637"/>
          </a:xfrm>
        </p:grpSpPr>
        <p:sp>
          <p:nvSpPr>
            <p:cNvPr id="134" name="a.before-real/contour 1.35"/>
            <p:cNvSpPr/>
            <p:nvPr/>
          </p:nvSpPr>
          <p:spPr>
            <a:xfrm>
              <a:off x="2183638" y="7324661"/>
              <a:ext cx="740664" cy="524637"/>
            </a:xfrm>
            <a:prstGeom prst="ellipse">
              <a:avLst/>
            </a:prstGeom>
            <a:solidFill>
              <a:srgbClr val="C56C60">
                <a:alpha val="4500"/>
              </a:srgbClr>
            </a:solidFill>
            <a:ln w="4000">
              <a:solidFill>
                <a:srgbClr val="C56C60">
                  <a:alpha val="45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a.before-real/contour 1.05"/>
            <p:cNvSpPr/>
            <p:nvPr/>
          </p:nvSpPr>
          <p:spPr>
            <a:xfrm>
              <a:off x="2265934" y="7382954"/>
              <a:ext cx="576072" cy="408051"/>
            </a:xfrm>
            <a:prstGeom prst="ellipse">
              <a:avLst/>
            </a:prstGeom>
            <a:solidFill>
              <a:srgbClr val="C56C60">
                <a:alpha val="7000"/>
              </a:srgbClr>
            </a:solidFill>
            <a:ln w="4000">
              <a:solidFill>
                <a:srgbClr val="C56C60">
                  <a:alpha val="7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a.before-real/contour 0.75"/>
            <p:cNvSpPr/>
            <p:nvPr/>
          </p:nvSpPr>
          <p:spPr>
            <a:xfrm>
              <a:off x="2348230" y="7441247"/>
              <a:ext cx="411480" cy="291465"/>
            </a:xfrm>
            <a:prstGeom prst="ellipse">
              <a:avLst/>
            </a:prstGeom>
            <a:solidFill>
              <a:srgbClr val="C56C60">
                <a:alpha val="10000"/>
              </a:srgbClr>
            </a:solidFill>
            <a:ln w="4000">
              <a:solidFill>
                <a:srgbClr val="C56C60">
                  <a:alpha val="10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a.before-real/point 000"/>
            <p:cNvSpPr/>
            <p:nvPr/>
          </p:nvSpPr>
          <p:spPr>
            <a:xfrm>
              <a:off x="2609416" y="7637051"/>
              <a:ext cx="25431" cy="25431"/>
            </a:xfrm>
            <a:prstGeom prst="ellipse">
              <a:avLst/>
            </a:prstGeom>
            <a:solidFill>
              <a:srgbClr val="C56C60">
                <a:alpha val="768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a.before-real/point 001"/>
            <p:cNvSpPr/>
            <p:nvPr/>
          </p:nvSpPr>
          <p:spPr>
            <a:xfrm>
              <a:off x="2528814" y="7497907"/>
              <a:ext cx="25832" cy="25832"/>
            </a:xfrm>
            <a:prstGeom prst="ellipse">
              <a:avLst/>
            </a:prstGeom>
            <a:solidFill>
              <a:srgbClr val="C56C60">
                <a:alpha val="702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a.before-real/point 002"/>
            <p:cNvSpPr/>
            <p:nvPr/>
          </p:nvSpPr>
          <p:spPr>
            <a:xfrm>
              <a:off x="2644297" y="7617504"/>
              <a:ext cx="15515" cy="15515"/>
            </a:xfrm>
            <a:prstGeom prst="ellipse">
              <a:avLst/>
            </a:prstGeom>
            <a:solidFill>
              <a:srgbClr val="C56C60">
                <a:alpha val="8545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a.before-real/point 003"/>
            <p:cNvSpPr/>
            <p:nvPr/>
          </p:nvSpPr>
          <p:spPr>
            <a:xfrm>
              <a:off x="2631135" y="7556216"/>
              <a:ext cx="19102" cy="19102"/>
            </a:xfrm>
            <a:prstGeom prst="ellipse">
              <a:avLst/>
            </a:prstGeom>
            <a:solidFill>
              <a:srgbClr val="C56C60">
                <a:alpha val="7918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a.before-real/point 004"/>
            <p:cNvSpPr/>
            <p:nvPr/>
          </p:nvSpPr>
          <p:spPr>
            <a:xfrm>
              <a:off x="2563436" y="7621456"/>
              <a:ext cx="17445" cy="17445"/>
            </a:xfrm>
            <a:prstGeom prst="ellipse">
              <a:avLst/>
            </a:prstGeom>
            <a:solidFill>
              <a:srgbClr val="C56C60">
                <a:alpha val="6318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a.before-real/point 005"/>
            <p:cNvSpPr/>
            <p:nvPr/>
          </p:nvSpPr>
          <p:spPr>
            <a:xfrm>
              <a:off x="2362101" y="7446313"/>
              <a:ext cx="17750" cy="17750"/>
            </a:xfrm>
            <a:prstGeom prst="ellipse">
              <a:avLst/>
            </a:prstGeom>
            <a:solidFill>
              <a:srgbClr val="C56C60">
                <a:alpha val="8633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a.before-real/point 006"/>
            <p:cNvSpPr/>
            <p:nvPr/>
          </p:nvSpPr>
          <p:spPr>
            <a:xfrm>
              <a:off x="2335666" y="7521182"/>
              <a:ext cx="26078" cy="26078"/>
            </a:xfrm>
            <a:prstGeom prst="ellipse">
              <a:avLst/>
            </a:prstGeom>
            <a:solidFill>
              <a:srgbClr val="C56C60">
                <a:alpha val="560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a.before-real/point 007"/>
            <p:cNvSpPr/>
            <p:nvPr/>
          </p:nvSpPr>
          <p:spPr>
            <a:xfrm>
              <a:off x="2515405" y="7549770"/>
              <a:ext cx="14936" cy="14936"/>
            </a:xfrm>
            <a:prstGeom prst="ellipse">
              <a:avLst/>
            </a:prstGeom>
            <a:solidFill>
              <a:srgbClr val="C56C60">
                <a:alpha val="650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a.before-real/point 008"/>
            <p:cNvSpPr/>
            <p:nvPr/>
          </p:nvSpPr>
          <p:spPr>
            <a:xfrm>
              <a:off x="2564517" y="7486327"/>
              <a:ext cx="17501" cy="17501"/>
            </a:xfrm>
            <a:prstGeom prst="ellipse">
              <a:avLst/>
            </a:prstGeom>
            <a:solidFill>
              <a:srgbClr val="C56C60">
                <a:alpha val="8196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a.before-real/point 009"/>
            <p:cNvSpPr/>
            <p:nvPr/>
          </p:nvSpPr>
          <p:spPr>
            <a:xfrm>
              <a:off x="2607465" y="7549194"/>
              <a:ext cx="21006" cy="21006"/>
            </a:xfrm>
            <a:prstGeom prst="ellipse">
              <a:avLst/>
            </a:prstGeom>
            <a:solidFill>
              <a:srgbClr val="C56C60">
                <a:alpha val="7423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a.before-real/point 010"/>
            <p:cNvSpPr/>
            <p:nvPr/>
          </p:nvSpPr>
          <p:spPr>
            <a:xfrm>
              <a:off x="2585921" y="7554210"/>
              <a:ext cx="22457" cy="22457"/>
            </a:xfrm>
            <a:prstGeom prst="ellipse">
              <a:avLst/>
            </a:prstGeom>
            <a:solidFill>
              <a:srgbClr val="C56C60">
                <a:alpha val="86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a.before-real/point 011"/>
            <p:cNvSpPr/>
            <p:nvPr/>
          </p:nvSpPr>
          <p:spPr>
            <a:xfrm>
              <a:off x="2416331" y="7501888"/>
              <a:ext cx="25488" cy="25488"/>
            </a:xfrm>
            <a:prstGeom prst="ellipse">
              <a:avLst/>
            </a:prstGeom>
            <a:solidFill>
              <a:srgbClr val="C56C60">
                <a:alpha val="692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a.before-real/point 012"/>
            <p:cNvSpPr/>
            <p:nvPr/>
          </p:nvSpPr>
          <p:spPr>
            <a:xfrm>
              <a:off x="2509313" y="7668986"/>
              <a:ext cx="22103" cy="22103"/>
            </a:xfrm>
            <a:prstGeom prst="ellipse">
              <a:avLst/>
            </a:prstGeom>
            <a:solidFill>
              <a:srgbClr val="C56C60">
                <a:alpha val="6304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a.before-real/point 013"/>
            <p:cNvSpPr/>
            <p:nvPr/>
          </p:nvSpPr>
          <p:spPr>
            <a:xfrm>
              <a:off x="2601908" y="7522065"/>
              <a:ext cx="21491" cy="21491"/>
            </a:xfrm>
            <a:prstGeom prst="ellipse">
              <a:avLst/>
            </a:prstGeom>
            <a:solidFill>
              <a:srgbClr val="C56C60">
                <a:alpha val="7893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a.before-real/point 014"/>
            <p:cNvSpPr/>
            <p:nvPr/>
          </p:nvSpPr>
          <p:spPr>
            <a:xfrm>
              <a:off x="2625390" y="7435876"/>
              <a:ext cx="23795" cy="23795"/>
            </a:xfrm>
            <a:prstGeom prst="ellipse">
              <a:avLst/>
            </a:prstGeom>
            <a:solidFill>
              <a:srgbClr val="C56C60">
                <a:alpha val="595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a.before-real/point 015"/>
            <p:cNvSpPr/>
            <p:nvPr/>
          </p:nvSpPr>
          <p:spPr>
            <a:xfrm>
              <a:off x="2669362" y="7445702"/>
              <a:ext cx="24662" cy="24662"/>
            </a:xfrm>
            <a:prstGeom prst="ellipse">
              <a:avLst/>
            </a:prstGeom>
            <a:solidFill>
              <a:srgbClr val="C56C60">
                <a:alpha val="7914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a.before-real/point 016"/>
            <p:cNvSpPr/>
            <p:nvPr/>
          </p:nvSpPr>
          <p:spPr>
            <a:xfrm>
              <a:off x="2424591" y="7568408"/>
              <a:ext cx="22851" cy="22851"/>
            </a:xfrm>
            <a:prstGeom prst="ellipse">
              <a:avLst/>
            </a:prstGeom>
            <a:solidFill>
              <a:srgbClr val="C56C60">
                <a:alpha val="5559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a.before-real/point 017"/>
            <p:cNvSpPr/>
            <p:nvPr/>
          </p:nvSpPr>
          <p:spPr>
            <a:xfrm>
              <a:off x="2454916" y="7450687"/>
              <a:ext cx="17118" cy="17118"/>
            </a:xfrm>
            <a:prstGeom prst="ellipse">
              <a:avLst/>
            </a:prstGeom>
            <a:solidFill>
              <a:srgbClr val="C56C60">
                <a:alpha val="7864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a.before-real/point 018"/>
            <p:cNvSpPr/>
            <p:nvPr/>
          </p:nvSpPr>
          <p:spPr>
            <a:xfrm>
              <a:off x="2532178" y="7544063"/>
              <a:ext cx="15554" cy="15554"/>
            </a:xfrm>
            <a:prstGeom prst="ellipse">
              <a:avLst/>
            </a:prstGeom>
            <a:solidFill>
              <a:srgbClr val="C56C60">
                <a:alpha val="7262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a.before-real/point 019"/>
            <p:cNvSpPr/>
            <p:nvPr/>
          </p:nvSpPr>
          <p:spPr>
            <a:xfrm>
              <a:off x="2559120" y="7636048"/>
              <a:ext cx="23379" cy="23379"/>
            </a:xfrm>
            <a:prstGeom prst="ellipse">
              <a:avLst/>
            </a:prstGeom>
            <a:solidFill>
              <a:srgbClr val="C56C60">
                <a:alpha val="7473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a.before-real/point 020"/>
            <p:cNvSpPr/>
            <p:nvPr/>
          </p:nvSpPr>
          <p:spPr>
            <a:xfrm>
              <a:off x="2543217" y="7484088"/>
              <a:ext cx="19436" cy="19436"/>
            </a:xfrm>
            <a:prstGeom prst="ellipse">
              <a:avLst/>
            </a:prstGeom>
            <a:solidFill>
              <a:srgbClr val="C56C60">
                <a:alpha val="5047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a.before-real/point 021"/>
            <p:cNvSpPr/>
            <p:nvPr/>
          </p:nvSpPr>
          <p:spPr>
            <a:xfrm>
              <a:off x="2593039" y="7606852"/>
              <a:ext cx="22063" cy="22063"/>
            </a:xfrm>
            <a:prstGeom prst="ellipse">
              <a:avLst/>
            </a:prstGeom>
            <a:solidFill>
              <a:srgbClr val="C56C60">
                <a:alpha val="773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a.before-real/point 022"/>
            <p:cNvSpPr/>
            <p:nvPr/>
          </p:nvSpPr>
          <p:spPr>
            <a:xfrm>
              <a:off x="2565733" y="7642252"/>
              <a:ext cx="27702" cy="27702"/>
            </a:xfrm>
            <a:prstGeom prst="ellipse">
              <a:avLst/>
            </a:prstGeom>
            <a:solidFill>
              <a:srgbClr val="C56C60">
                <a:alpha val="6522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a.before-real/point 023"/>
            <p:cNvSpPr/>
            <p:nvPr/>
          </p:nvSpPr>
          <p:spPr>
            <a:xfrm>
              <a:off x="2509733" y="7477873"/>
              <a:ext cx="23907" cy="23907"/>
            </a:xfrm>
            <a:prstGeom prst="ellipse">
              <a:avLst/>
            </a:prstGeom>
            <a:solidFill>
              <a:srgbClr val="C56C60">
                <a:alpha val="681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a.before-real/point 024"/>
            <p:cNvSpPr/>
            <p:nvPr/>
          </p:nvSpPr>
          <p:spPr>
            <a:xfrm>
              <a:off x="2394038" y="7547225"/>
              <a:ext cx="17069" cy="17069"/>
            </a:xfrm>
            <a:prstGeom prst="ellipse">
              <a:avLst/>
            </a:prstGeom>
            <a:solidFill>
              <a:srgbClr val="C56C60">
                <a:alpha val="8035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a.before-real/point 025"/>
            <p:cNvSpPr/>
            <p:nvPr/>
          </p:nvSpPr>
          <p:spPr>
            <a:xfrm>
              <a:off x="2567176" y="7562190"/>
              <a:ext cx="17576" cy="17576"/>
            </a:xfrm>
            <a:prstGeom prst="ellipse">
              <a:avLst/>
            </a:prstGeom>
            <a:solidFill>
              <a:srgbClr val="C56C60">
                <a:alpha val="5945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a.before-real/point 026"/>
            <p:cNvSpPr/>
            <p:nvPr/>
          </p:nvSpPr>
          <p:spPr>
            <a:xfrm>
              <a:off x="2588373" y="7597208"/>
              <a:ext cx="23656" cy="23656"/>
            </a:xfrm>
            <a:prstGeom prst="ellipse">
              <a:avLst/>
            </a:prstGeom>
            <a:solidFill>
              <a:srgbClr val="C56C60">
                <a:alpha val="5467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a.before-real/point 027"/>
            <p:cNvSpPr/>
            <p:nvPr/>
          </p:nvSpPr>
          <p:spPr>
            <a:xfrm>
              <a:off x="2767609" y="7647541"/>
              <a:ext cx="20373" cy="20373"/>
            </a:xfrm>
            <a:prstGeom prst="ellipse">
              <a:avLst/>
            </a:prstGeom>
            <a:solidFill>
              <a:srgbClr val="C56C60">
                <a:alpha val="70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a.before-real/point 028"/>
            <p:cNvSpPr/>
            <p:nvPr/>
          </p:nvSpPr>
          <p:spPr>
            <a:xfrm>
              <a:off x="2451508" y="7587114"/>
              <a:ext cx="21089" cy="21089"/>
            </a:xfrm>
            <a:prstGeom prst="ellipse">
              <a:avLst/>
            </a:prstGeom>
            <a:solidFill>
              <a:srgbClr val="C56C60">
                <a:alpha val="573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a.before-real/point 029"/>
            <p:cNvSpPr/>
            <p:nvPr/>
          </p:nvSpPr>
          <p:spPr>
            <a:xfrm>
              <a:off x="2477825" y="7552286"/>
              <a:ext cx="16852" cy="16852"/>
            </a:xfrm>
            <a:prstGeom prst="ellipse">
              <a:avLst/>
            </a:prstGeom>
            <a:solidFill>
              <a:srgbClr val="C56C60">
                <a:alpha val="57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a.before-real/point 030"/>
            <p:cNvSpPr/>
            <p:nvPr/>
          </p:nvSpPr>
          <p:spPr>
            <a:xfrm>
              <a:off x="2342500" y="7661967"/>
              <a:ext cx="23059" cy="23059"/>
            </a:xfrm>
            <a:prstGeom prst="ellipse">
              <a:avLst/>
            </a:prstGeom>
            <a:solidFill>
              <a:srgbClr val="C56C60">
                <a:alpha val="8726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a.before-real/point 031"/>
            <p:cNvSpPr/>
            <p:nvPr/>
          </p:nvSpPr>
          <p:spPr>
            <a:xfrm>
              <a:off x="2477648" y="7607281"/>
              <a:ext cx="24606" cy="24606"/>
            </a:xfrm>
            <a:prstGeom prst="ellipse">
              <a:avLst/>
            </a:prstGeom>
            <a:solidFill>
              <a:srgbClr val="C56C60">
                <a:alpha val="5723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a.before-real/point 032"/>
            <p:cNvSpPr/>
            <p:nvPr/>
          </p:nvSpPr>
          <p:spPr>
            <a:xfrm>
              <a:off x="2645680" y="7576818"/>
              <a:ext cx="18581" cy="18581"/>
            </a:xfrm>
            <a:prstGeom prst="ellipse">
              <a:avLst/>
            </a:prstGeom>
            <a:solidFill>
              <a:srgbClr val="C56C60">
                <a:alpha val="6030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a.before-real/point 033"/>
            <p:cNvSpPr/>
            <p:nvPr/>
          </p:nvSpPr>
          <p:spPr>
            <a:xfrm>
              <a:off x="2459710" y="7731865"/>
              <a:ext cx="28467" cy="28467"/>
            </a:xfrm>
            <a:prstGeom prst="ellipse">
              <a:avLst/>
            </a:prstGeom>
            <a:solidFill>
              <a:srgbClr val="C56C60">
                <a:alpha val="712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a.before-real/point 034"/>
            <p:cNvSpPr/>
            <p:nvPr/>
          </p:nvSpPr>
          <p:spPr>
            <a:xfrm>
              <a:off x="2547596" y="7588996"/>
              <a:ext cx="15956" cy="15956"/>
            </a:xfrm>
            <a:prstGeom prst="ellipse">
              <a:avLst/>
            </a:prstGeom>
            <a:solidFill>
              <a:srgbClr val="C56C60">
                <a:alpha val="6132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a.before-real/point 035"/>
            <p:cNvSpPr/>
            <p:nvPr/>
          </p:nvSpPr>
          <p:spPr>
            <a:xfrm>
              <a:off x="2451832" y="7494858"/>
              <a:ext cx="26563" cy="26563"/>
            </a:xfrm>
            <a:prstGeom prst="ellipse">
              <a:avLst/>
            </a:prstGeom>
            <a:solidFill>
              <a:srgbClr val="C56C60">
                <a:alpha val="81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a.before-real/point 036"/>
            <p:cNvSpPr/>
            <p:nvPr/>
          </p:nvSpPr>
          <p:spPr>
            <a:xfrm>
              <a:off x="2452187" y="7662517"/>
              <a:ext cx="20953" cy="20953"/>
            </a:xfrm>
            <a:prstGeom prst="ellipse">
              <a:avLst/>
            </a:prstGeom>
            <a:solidFill>
              <a:srgbClr val="C56C60">
                <a:alpha val="7767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a.before-real/point 037"/>
            <p:cNvSpPr/>
            <p:nvPr/>
          </p:nvSpPr>
          <p:spPr>
            <a:xfrm>
              <a:off x="2657964" y="7759764"/>
              <a:ext cx="15172" cy="15172"/>
            </a:xfrm>
            <a:prstGeom prst="ellipse">
              <a:avLst/>
            </a:prstGeom>
            <a:solidFill>
              <a:srgbClr val="C56C60">
                <a:alpha val="734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a.before-real/point 038"/>
            <p:cNvSpPr/>
            <p:nvPr/>
          </p:nvSpPr>
          <p:spPr>
            <a:xfrm>
              <a:off x="2436122" y="7681852"/>
              <a:ext cx="16829" cy="16829"/>
            </a:xfrm>
            <a:prstGeom prst="ellipse">
              <a:avLst/>
            </a:prstGeom>
            <a:solidFill>
              <a:srgbClr val="C56C60">
                <a:alpha val="8385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a.before-real/point 039"/>
            <p:cNvSpPr/>
            <p:nvPr/>
          </p:nvSpPr>
          <p:spPr>
            <a:xfrm>
              <a:off x="2707147" y="7577097"/>
              <a:ext cx="24507" cy="24507"/>
            </a:xfrm>
            <a:prstGeom prst="ellipse">
              <a:avLst/>
            </a:prstGeom>
            <a:solidFill>
              <a:srgbClr val="C56C60">
                <a:alpha val="692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a.before-real/point 040"/>
            <p:cNvSpPr/>
            <p:nvPr/>
          </p:nvSpPr>
          <p:spPr>
            <a:xfrm>
              <a:off x="2588981" y="7639247"/>
              <a:ext cx="20985" cy="20985"/>
            </a:xfrm>
            <a:prstGeom prst="ellipse">
              <a:avLst/>
            </a:prstGeom>
            <a:solidFill>
              <a:srgbClr val="C56C60">
                <a:alpha val="58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a.before-real/point 041"/>
            <p:cNvSpPr/>
            <p:nvPr/>
          </p:nvSpPr>
          <p:spPr>
            <a:xfrm>
              <a:off x="2646305" y="7692937"/>
              <a:ext cx="22397" cy="22397"/>
            </a:xfrm>
            <a:prstGeom prst="ellipse">
              <a:avLst/>
            </a:prstGeom>
            <a:solidFill>
              <a:srgbClr val="C56C60">
                <a:alpha val="602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a.before-real/point 042"/>
            <p:cNvSpPr/>
            <p:nvPr/>
          </p:nvSpPr>
          <p:spPr>
            <a:xfrm>
              <a:off x="2444262" y="7506451"/>
              <a:ext cx="16725" cy="16725"/>
            </a:xfrm>
            <a:prstGeom prst="ellipse">
              <a:avLst/>
            </a:prstGeom>
            <a:solidFill>
              <a:srgbClr val="C56C60">
                <a:alpha val="722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a.before-real/point 043"/>
            <p:cNvSpPr/>
            <p:nvPr/>
          </p:nvSpPr>
          <p:spPr>
            <a:xfrm>
              <a:off x="2501992" y="7559846"/>
              <a:ext cx="18984" cy="18984"/>
            </a:xfrm>
            <a:prstGeom prst="ellipse">
              <a:avLst/>
            </a:prstGeom>
            <a:solidFill>
              <a:srgbClr val="C56C60">
                <a:alpha val="8280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a.before-real/point 044"/>
            <p:cNvSpPr/>
            <p:nvPr/>
          </p:nvSpPr>
          <p:spPr>
            <a:xfrm>
              <a:off x="2480436" y="7552512"/>
              <a:ext cx="20256" cy="20256"/>
            </a:xfrm>
            <a:prstGeom prst="ellipse">
              <a:avLst/>
            </a:prstGeom>
            <a:solidFill>
              <a:srgbClr val="C56C60">
                <a:alpha val="674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a.before-real/point 045"/>
            <p:cNvSpPr/>
            <p:nvPr/>
          </p:nvSpPr>
          <p:spPr>
            <a:xfrm>
              <a:off x="2493696" y="7441071"/>
              <a:ext cx="16058" cy="16058"/>
            </a:xfrm>
            <a:prstGeom prst="ellipse">
              <a:avLst/>
            </a:prstGeom>
            <a:solidFill>
              <a:srgbClr val="C56C60">
                <a:alpha val="5177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a.before-real/point 046"/>
            <p:cNvSpPr/>
            <p:nvPr/>
          </p:nvSpPr>
          <p:spPr>
            <a:xfrm>
              <a:off x="2526447" y="7583680"/>
              <a:ext cx="16975" cy="16975"/>
            </a:xfrm>
            <a:prstGeom prst="ellipse">
              <a:avLst/>
            </a:prstGeom>
            <a:solidFill>
              <a:srgbClr val="C56C60">
                <a:alpha val="5403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a.before-real/point 047"/>
            <p:cNvSpPr/>
            <p:nvPr/>
          </p:nvSpPr>
          <p:spPr>
            <a:xfrm>
              <a:off x="2666672" y="7632076"/>
              <a:ext cx="16168" cy="16168"/>
            </a:xfrm>
            <a:prstGeom prst="ellipse">
              <a:avLst/>
            </a:prstGeom>
            <a:solidFill>
              <a:srgbClr val="C56C60">
                <a:alpha val="7153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5" name="a.before-fake"/>
          <p:cNvGrpSpPr/>
          <p:nvPr/>
        </p:nvGrpSpPr>
        <p:grpSpPr>
          <a:xfrm>
            <a:off x="2846578" y="6950900"/>
            <a:ext cx="740664" cy="586359"/>
            <a:chOff x="2846578" y="6950900"/>
            <a:chExt cx="740664" cy="586359"/>
          </a:xfrm>
        </p:grpSpPr>
        <p:sp>
          <p:nvSpPr>
            <p:cNvPr id="186" name="a.before-fake/contour 1.35"/>
            <p:cNvSpPr/>
            <p:nvPr/>
          </p:nvSpPr>
          <p:spPr>
            <a:xfrm>
              <a:off x="2846578" y="6950900"/>
              <a:ext cx="740664" cy="586359"/>
            </a:xfrm>
            <a:prstGeom prst="ellipse">
              <a:avLst/>
            </a:prstGeom>
            <a:solidFill>
              <a:srgbClr val="5E8DB5">
                <a:alpha val="4500"/>
              </a:srgbClr>
            </a:solidFill>
            <a:ln w="4000">
              <a:solidFill>
                <a:srgbClr val="5E8DB5">
                  <a:alpha val="45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a.before-fake/contour 1.05"/>
            <p:cNvSpPr/>
            <p:nvPr/>
          </p:nvSpPr>
          <p:spPr>
            <a:xfrm>
              <a:off x="2928874" y="7016051"/>
              <a:ext cx="576072" cy="456056"/>
            </a:xfrm>
            <a:prstGeom prst="ellipse">
              <a:avLst/>
            </a:prstGeom>
            <a:solidFill>
              <a:srgbClr val="5E8DB5">
                <a:alpha val="7000"/>
              </a:srgbClr>
            </a:solidFill>
            <a:ln w="4000">
              <a:solidFill>
                <a:srgbClr val="5E8DB5">
                  <a:alpha val="7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a.before-fake/contour 0.75"/>
            <p:cNvSpPr/>
            <p:nvPr/>
          </p:nvSpPr>
          <p:spPr>
            <a:xfrm>
              <a:off x="3011170" y="7081202"/>
              <a:ext cx="411480" cy="325755"/>
            </a:xfrm>
            <a:prstGeom prst="ellipse">
              <a:avLst/>
            </a:prstGeom>
            <a:solidFill>
              <a:srgbClr val="5E8DB5">
                <a:alpha val="10000"/>
              </a:srgbClr>
            </a:solidFill>
            <a:ln w="4000">
              <a:solidFill>
                <a:srgbClr val="5E8DB5">
                  <a:alpha val="10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a.before-fake/point 000"/>
            <p:cNvSpPr/>
            <p:nvPr/>
          </p:nvSpPr>
          <p:spPr>
            <a:xfrm>
              <a:off x="3270284" y="7247106"/>
              <a:ext cx="24585" cy="24585"/>
            </a:xfrm>
            <a:prstGeom prst="ellipse">
              <a:avLst/>
            </a:prstGeom>
            <a:solidFill>
              <a:srgbClr val="5E8DB5">
                <a:alpha val="5542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a.before-fake/point 001"/>
            <p:cNvSpPr/>
            <p:nvPr/>
          </p:nvSpPr>
          <p:spPr>
            <a:xfrm>
              <a:off x="3260366" y="7187807"/>
              <a:ext cx="15016" cy="15016"/>
            </a:xfrm>
            <a:prstGeom prst="ellipse">
              <a:avLst/>
            </a:prstGeom>
            <a:solidFill>
              <a:srgbClr val="5E8DB5">
                <a:alpha val="667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a.before-fake/point 002"/>
            <p:cNvSpPr/>
            <p:nvPr/>
          </p:nvSpPr>
          <p:spPr>
            <a:xfrm>
              <a:off x="3216698" y="7247354"/>
              <a:ext cx="18673" cy="18673"/>
            </a:xfrm>
            <a:prstGeom prst="ellipse">
              <a:avLst/>
            </a:prstGeom>
            <a:solidFill>
              <a:srgbClr val="5E8DB5">
                <a:alpha val="6747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a.before-fake/point 003"/>
            <p:cNvSpPr/>
            <p:nvPr/>
          </p:nvSpPr>
          <p:spPr>
            <a:xfrm>
              <a:off x="3277240" y="7381862"/>
              <a:ext cx="18974" cy="18974"/>
            </a:xfrm>
            <a:prstGeom prst="ellipse">
              <a:avLst/>
            </a:prstGeom>
            <a:solidFill>
              <a:srgbClr val="5E8DB5">
                <a:alpha val="7663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a.before-fake/point 004"/>
            <p:cNvSpPr/>
            <p:nvPr/>
          </p:nvSpPr>
          <p:spPr>
            <a:xfrm>
              <a:off x="3178752" y="7263528"/>
              <a:ext cx="20819" cy="20819"/>
            </a:xfrm>
            <a:prstGeom prst="ellipse">
              <a:avLst/>
            </a:prstGeom>
            <a:solidFill>
              <a:srgbClr val="5E8DB5">
                <a:alpha val="7605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a.before-fake/point 005"/>
            <p:cNvSpPr/>
            <p:nvPr/>
          </p:nvSpPr>
          <p:spPr>
            <a:xfrm>
              <a:off x="3063610" y="7245209"/>
              <a:ext cx="16528" cy="16528"/>
            </a:xfrm>
            <a:prstGeom prst="ellipse">
              <a:avLst/>
            </a:prstGeom>
            <a:solidFill>
              <a:srgbClr val="5E8DB5">
                <a:alpha val="5531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a.before-fake/point 006"/>
            <p:cNvSpPr/>
            <p:nvPr/>
          </p:nvSpPr>
          <p:spPr>
            <a:xfrm>
              <a:off x="3284329" y="7298938"/>
              <a:ext cx="26668" cy="26668"/>
            </a:xfrm>
            <a:prstGeom prst="ellipse">
              <a:avLst/>
            </a:prstGeom>
            <a:solidFill>
              <a:srgbClr val="5E8DB5">
                <a:alpha val="645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a.before-fake/point 007"/>
            <p:cNvSpPr/>
            <p:nvPr/>
          </p:nvSpPr>
          <p:spPr>
            <a:xfrm>
              <a:off x="3228997" y="7199830"/>
              <a:ext cx="17950" cy="17950"/>
            </a:xfrm>
            <a:prstGeom prst="ellipse">
              <a:avLst/>
            </a:prstGeom>
            <a:solidFill>
              <a:srgbClr val="5E8DB5">
                <a:alpha val="7558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a.before-fake/point 008"/>
            <p:cNvSpPr/>
            <p:nvPr/>
          </p:nvSpPr>
          <p:spPr>
            <a:xfrm>
              <a:off x="3248470" y="7096449"/>
              <a:ext cx="16856" cy="16856"/>
            </a:xfrm>
            <a:prstGeom prst="ellipse">
              <a:avLst/>
            </a:prstGeom>
            <a:solidFill>
              <a:srgbClr val="5E8DB5">
                <a:alpha val="7057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a.before-fake/point 009"/>
            <p:cNvSpPr/>
            <p:nvPr/>
          </p:nvSpPr>
          <p:spPr>
            <a:xfrm>
              <a:off x="3218757" y="7365932"/>
              <a:ext cx="22815" cy="22815"/>
            </a:xfrm>
            <a:prstGeom prst="ellipse">
              <a:avLst/>
            </a:prstGeom>
            <a:solidFill>
              <a:srgbClr val="5E8DB5">
                <a:alpha val="761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a.before-fake/point 010"/>
            <p:cNvSpPr/>
            <p:nvPr/>
          </p:nvSpPr>
          <p:spPr>
            <a:xfrm>
              <a:off x="3268698" y="7003857"/>
              <a:ext cx="21253" cy="21253"/>
            </a:xfrm>
            <a:prstGeom prst="ellipse">
              <a:avLst/>
            </a:prstGeom>
            <a:solidFill>
              <a:srgbClr val="5E8DB5">
                <a:alpha val="878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a.before-fake/point 011"/>
            <p:cNvSpPr/>
            <p:nvPr/>
          </p:nvSpPr>
          <p:spPr>
            <a:xfrm>
              <a:off x="3156918" y="7396719"/>
              <a:ext cx="16307" cy="16307"/>
            </a:xfrm>
            <a:prstGeom prst="ellipse">
              <a:avLst/>
            </a:prstGeom>
            <a:solidFill>
              <a:srgbClr val="5E8DB5">
                <a:alpha val="7722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a.before-fake/point 012"/>
            <p:cNvSpPr/>
            <p:nvPr/>
          </p:nvSpPr>
          <p:spPr>
            <a:xfrm>
              <a:off x="3309941" y="7172395"/>
              <a:ext cx="19811" cy="19811"/>
            </a:xfrm>
            <a:prstGeom prst="ellipse">
              <a:avLst/>
            </a:prstGeom>
            <a:solidFill>
              <a:srgbClr val="5E8DB5">
                <a:alpha val="8137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a.before-fake/point 013"/>
            <p:cNvSpPr/>
            <p:nvPr/>
          </p:nvSpPr>
          <p:spPr>
            <a:xfrm>
              <a:off x="3270331" y="7117305"/>
              <a:ext cx="19591" cy="19591"/>
            </a:xfrm>
            <a:prstGeom prst="ellipse">
              <a:avLst/>
            </a:prstGeom>
            <a:solidFill>
              <a:srgbClr val="5E8DB5">
                <a:alpha val="695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a.before-fake/point 014"/>
            <p:cNvSpPr/>
            <p:nvPr/>
          </p:nvSpPr>
          <p:spPr>
            <a:xfrm>
              <a:off x="3331908" y="7235736"/>
              <a:ext cx="19080" cy="19080"/>
            </a:xfrm>
            <a:prstGeom prst="ellipse">
              <a:avLst/>
            </a:prstGeom>
            <a:solidFill>
              <a:srgbClr val="5E8DB5">
                <a:alpha val="756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a.before-fake/point 015"/>
            <p:cNvSpPr/>
            <p:nvPr/>
          </p:nvSpPr>
          <p:spPr>
            <a:xfrm>
              <a:off x="3318465" y="7246625"/>
              <a:ext cx="16474" cy="16474"/>
            </a:xfrm>
            <a:prstGeom prst="ellipse">
              <a:avLst/>
            </a:prstGeom>
            <a:solidFill>
              <a:srgbClr val="5E8DB5">
                <a:alpha val="6313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a.before-fake/point 016"/>
            <p:cNvSpPr/>
            <p:nvPr/>
          </p:nvSpPr>
          <p:spPr>
            <a:xfrm>
              <a:off x="3374825" y="7214199"/>
              <a:ext cx="23704" cy="23704"/>
            </a:xfrm>
            <a:prstGeom prst="ellipse">
              <a:avLst/>
            </a:prstGeom>
            <a:solidFill>
              <a:srgbClr val="5E8DB5">
                <a:alpha val="6380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a.before-fake/point 017"/>
            <p:cNvSpPr/>
            <p:nvPr/>
          </p:nvSpPr>
          <p:spPr>
            <a:xfrm>
              <a:off x="3226445" y="7244645"/>
              <a:ext cx="22345" cy="22345"/>
            </a:xfrm>
            <a:prstGeom prst="ellipse">
              <a:avLst/>
            </a:prstGeom>
            <a:solidFill>
              <a:srgbClr val="5E8DB5">
                <a:alpha val="8741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a.before-fake/point 018"/>
            <p:cNvSpPr/>
            <p:nvPr/>
          </p:nvSpPr>
          <p:spPr>
            <a:xfrm>
              <a:off x="3196486" y="7174749"/>
              <a:ext cx="28188" cy="28188"/>
            </a:xfrm>
            <a:prstGeom prst="ellipse">
              <a:avLst/>
            </a:prstGeom>
            <a:solidFill>
              <a:srgbClr val="5E8DB5">
                <a:alpha val="5856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a.before-fake/point 019"/>
            <p:cNvSpPr/>
            <p:nvPr/>
          </p:nvSpPr>
          <p:spPr>
            <a:xfrm>
              <a:off x="3322345" y="7261108"/>
              <a:ext cx="21013" cy="21013"/>
            </a:xfrm>
            <a:prstGeom prst="ellipse">
              <a:avLst/>
            </a:prstGeom>
            <a:solidFill>
              <a:srgbClr val="5E8DB5">
                <a:alpha val="5260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a.before-fake/point 020"/>
            <p:cNvSpPr/>
            <p:nvPr/>
          </p:nvSpPr>
          <p:spPr>
            <a:xfrm>
              <a:off x="3280600" y="7201767"/>
              <a:ext cx="20243" cy="20243"/>
            </a:xfrm>
            <a:prstGeom prst="ellipse">
              <a:avLst/>
            </a:prstGeom>
            <a:solidFill>
              <a:srgbClr val="5E8DB5">
                <a:alpha val="5150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a.before-fake/point 021"/>
            <p:cNvSpPr/>
            <p:nvPr/>
          </p:nvSpPr>
          <p:spPr>
            <a:xfrm>
              <a:off x="3449289" y="7246712"/>
              <a:ext cx="28098" cy="28098"/>
            </a:xfrm>
            <a:prstGeom prst="ellipse">
              <a:avLst/>
            </a:prstGeom>
            <a:solidFill>
              <a:srgbClr val="5E8DB5">
                <a:alpha val="7366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a.before-fake/point 022"/>
            <p:cNvSpPr/>
            <p:nvPr/>
          </p:nvSpPr>
          <p:spPr>
            <a:xfrm>
              <a:off x="3262337" y="7249425"/>
              <a:ext cx="16740" cy="16740"/>
            </a:xfrm>
            <a:prstGeom prst="ellipse">
              <a:avLst/>
            </a:prstGeom>
            <a:solidFill>
              <a:srgbClr val="5E8DB5">
                <a:alpha val="504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a.before-fake/point 023"/>
            <p:cNvSpPr/>
            <p:nvPr/>
          </p:nvSpPr>
          <p:spPr>
            <a:xfrm>
              <a:off x="3241531" y="7151749"/>
              <a:ext cx="15265" cy="15265"/>
            </a:xfrm>
            <a:prstGeom prst="ellipse">
              <a:avLst/>
            </a:prstGeom>
            <a:solidFill>
              <a:srgbClr val="5E8DB5">
                <a:alpha val="6009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a.before-fake/point 024"/>
            <p:cNvSpPr/>
            <p:nvPr/>
          </p:nvSpPr>
          <p:spPr>
            <a:xfrm>
              <a:off x="3087122" y="7257483"/>
              <a:ext cx="21973" cy="21973"/>
            </a:xfrm>
            <a:prstGeom prst="ellipse">
              <a:avLst/>
            </a:prstGeom>
            <a:solidFill>
              <a:srgbClr val="5E8DB5">
                <a:alpha val="5508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a.before-fake/point 025"/>
            <p:cNvSpPr/>
            <p:nvPr/>
          </p:nvSpPr>
          <p:spPr>
            <a:xfrm>
              <a:off x="3220610" y="7198907"/>
              <a:ext cx="20924" cy="20924"/>
            </a:xfrm>
            <a:prstGeom prst="ellipse">
              <a:avLst/>
            </a:prstGeom>
            <a:solidFill>
              <a:srgbClr val="5E8DB5">
                <a:alpha val="7770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a.before-fake/point 026"/>
            <p:cNvSpPr/>
            <p:nvPr/>
          </p:nvSpPr>
          <p:spPr>
            <a:xfrm>
              <a:off x="3219073" y="7240164"/>
              <a:ext cx="28416" cy="28416"/>
            </a:xfrm>
            <a:prstGeom prst="ellipse">
              <a:avLst/>
            </a:prstGeom>
            <a:solidFill>
              <a:srgbClr val="5E8DB5">
                <a:alpha val="7633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a.before-fake/point 027"/>
            <p:cNvSpPr/>
            <p:nvPr/>
          </p:nvSpPr>
          <p:spPr>
            <a:xfrm>
              <a:off x="3262028" y="7346217"/>
              <a:ext cx="16250" cy="16250"/>
            </a:xfrm>
            <a:prstGeom prst="ellipse">
              <a:avLst/>
            </a:prstGeom>
            <a:solidFill>
              <a:srgbClr val="5E8DB5">
                <a:alpha val="8140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a.before-fake/point 028"/>
            <p:cNvSpPr/>
            <p:nvPr/>
          </p:nvSpPr>
          <p:spPr>
            <a:xfrm>
              <a:off x="3255521" y="7244610"/>
              <a:ext cx="17908" cy="17908"/>
            </a:xfrm>
            <a:prstGeom prst="ellipse">
              <a:avLst/>
            </a:prstGeom>
            <a:solidFill>
              <a:srgbClr val="5E8DB5">
                <a:alpha val="7379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a.before-fake/point 029"/>
            <p:cNvSpPr/>
            <p:nvPr/>
          </p:nvSpPr>
          <p:spPr>
            <a:xfrm>
              <a:off x="3255946" y="7187508"/>
              <a:ext cx="25481" cy="25481"/>
            </a:xfrm>
            <a:prstGeom prst="ellipse">
              <a:avLst/>
            </a:prstGeom>
            <a:solidFill>
              <a:srgbClr val="5E8DB5">
                <a:alpha val="6567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a.before-fake/point 030"/>
            <p:cNvSpPr/>
            <p:nvPr/>
          </p:nvSpPr>
          <p:spPr>
            <a:xfrm>
              <a:off x="3060533" y="7266351"/>
              <a:ext cx="18141" cy="18141"/>
            </a:xfrm>
            <a:prstGeom prst="ellipse">
              <a:avLst/>
            </a:prstGeom>
            <a:solidFill>
              <a:srgbClr val="5E8DB5">
                <a:alpha val="7691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a.before-fake/point 031"/>
            <p:cNvSpPr/>
            <p:nvPr/>
          </p:nvSpPr>
          <p:spPr>
            <a:xfrm>
              <a:off x="3171832" y="7271363"/>
              <a:ext cx="23658" cy="23658"/>
            </a:xfrm>
            <a:prstGeom prst="ellipse">
              <a:avLst/>
            </a:prstGeom>
            <a:solidFill>
              <a:srgbClr val="5E8DB5">
                <a:alpha val="6948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a.before-fake/point 032"/>
            <p:cNvSpPr/>
            <p:nvPr/>
          </p:nvSpPr>
          <p:spPr>
            <a:xfrm>
              <a:off x="3440687" y="7279861"/>
              <a:ext cx="25395" cy="25395"/>
            </a:xfrm>
            <a:prstGeom prst="ellipse">
              <a:avLst/>
            </a:prstGeom>
            <a:solidFill>
              <a:srgbClr val="5E8DB5">
                <a:alpha val="6697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a.before-fake/point 033"/>
            <p:cNvSpPr/>
            <p:nvPr/>
          </p:nvSpPr>
          <p:spPr>
            <a:xfrm>
              <a:off x="3256525" y="7104747"/>
              <a:ext cx="15299" cy="15299"/>
            </a:xfrm>
            <a:prstGeom prst="ellipse">
              <a:avLst/>
            </a:prstGeom>
            <a:solidFill>
              <a:srgbClr val="5E8DB5">
                <a:alpha val="5225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a.before-fake/point 034"/>
            <p:cNvSpPr/>
            <p:nvPr/>
          </p:nvSpPr>
          <p:spPr>
            <a:xfrm>
              <a:off x="3098606" y="7237163"/>
              <a:ext cx="24138" cy="24138"/>
            </a:xfrm>
            <a:prstGeom prst="ellipse">
              <a:avLst/>
            </a:prstGeom>
            <a:solidFill>
              <a:srgbClr val="5E8DB5">
                <a:alpha val="5615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a.before-fake/point 035"/>
            <p:cNvSpPr/>
            <p:nvPr/>
          </p:nvSpPr>
          <p:spPr>
            <a:xfrm>
              <a:off x="3266423" y="7290033"/>
              <a:ext cx="28403" cy="28403"/>
            </a:xfrm>
            <a:prstGeom prst="ellipse">
              <a:avLst/>
            </a:prstGeom>
            <a:solidFill>
              <a:srgbClr val="5E8DB5">
                <a:alpha val="5073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a.before-fake/point 036"/>
            <p:cNvSpPr/>
            <p:nvPr/>
          </p:nvSpPr>
          <p:spPr>
            <a:xfrm>
              <a:off x="3337510" y="7203396"/>
              <a:ext cx="19723" cy="19723"/>
            </a:xfrm>
            <a:prstGeom prst="ellipse">
              <a:avLst/>
            </a:prstGeom>
            <a:solidFill>
              <a:srgbClr val="5E8DB5">
                <a:alpha val="5369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a.before-fake/point 037"/>
            <p:cNvSpPr/>
            <p:nvPr/>
          </p:nvSpPr>
          <p:spPr>
            <a:xfrm>
              <a:off x="3108227" y="7267582"/>
              <a:ext cx="15615" cy="15615"/>
            </a:xfrm>
            <a:prstGeom prst="ellipse">
              <a:avLst/>
            </a:prstGeom>
            <a:solidFill>
              <a:srgbClr val="5E8DB5">
                <a:alpha val="6525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a.before-fake/point 038"/>
            <p:cNvSpPr/>
            <p:nvPr/>
          </p:nvSpPr>
          <p:spPr>
            <a:xfrm>
              <a:off x="3430128" y="7140623"/>
              <a:ext cx="24516" cy="24516"/>
            </a:xfrm>
            <a:prstGeom prst="ellipse">
              <a:avLst/>
            </a:prstGeom>
            <a:solidFill>
              <a:srgbClr val="5E8DB5">
                <a:alpha val="6479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a.before-fake/point 039"/>
            <p:cNvSpPr/>
            <p:nvPr/>
          </p:nvSpPr>
          <p:spPr>
            <a:xfrm>
              <a:off x="3223795" y="7214204"/>
              <a:ext cx="24695" cy="24695"/>
            </a:xfrm>
            <a:prstGeom prst="ellipse">
              <a:avLst/>
            </a:prstGeom>
            <a:solidFill>
              <a:srgbClr val="5E8DB5">
                <a:alpha val="7680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a.before-fake/point 040"/>
            <p:cNvSpPr/>
            <p:nvPr/>
          </p:nvSpPr>
          <p:spPr>
            <a:xfrm>
              <a:off x="3264627" y="7295255"/>
              <a:ext cx="20555" cy="20555"/>
            </a:xfrm>
            <a:prstGeom prst="ellipse">
              <a:avLst/>
            </a:prstGeom>
            <a:solidFill>
              <a:srgbClr val="5E8DB5">
                <a:alpha val="8011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a.before-fake/point 041"/>
            <p:cNvSpPr/>
            <p:nvPr/>
          </p:nvSpPr>
          <p:spPr>
            <a:xfrm>
              <a:off x="3140683" y="7198690"/>
              <a:ext cx="26091" cy="26091"/>
            </a:xfrm>
            <a:prstGeom prst="ellipse">
              <a:avLst/>
            </a:prstGeom>
            <a:solidFill>
              <a:srgbClr val="5E8DB5">
                <a:alpha val="684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a.before-fake/point 042"/>
            <p:cNvSpPr/>
            <p:nvPr/>
          </p:nvSpPr>
          <p:spPr>
            <a:xfrm>
              <a:off x="3225907" y="7160250"/>
              <a:ext cx="19500" cy="19500"/>
            </a:xfrm>
            <a:prstGeom prst="ellipse">
              <a:avLst/>
            </a:prstGeom>
            <a:solidFill>
              <a:srgbClr val="5E8DB5">
                <a:alpha val="6270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a.before-fake/point 043"/>
            <p:cNvSpPr/>
            <p:nvPr/>
          </p:nvSpPr>
          <p:spPr>
            <a:xfrm>
              <a:off x="3294988" y="7349254"/>
              <a:ext cx="23858" cy="23858"/>
            </a:xfrm>
            <a:prstGeom prst="ellipse">
              <a:avLst/>
            </a:prstGeom>
            <a:solidFill>
              <a:srgbClr val="5E8DB5">
                <a:alpha val="64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a.before-fake/point 044"/>
            <p:cNvSpPr/>
            <p:nvPr/>
          </p:nvSpPr>
          <p:spPr>
            <a:xfrm>
              <a:off x="3079489" y="7155958"/>
              <a:ext cx="28041" cy="28041"/>
            </a:xfrm>
            <a:prstGeom prst="ellipse">
              <a:avLst/>
            </a:prstGeom>
            <a:solidFill>
              <a:srgbClr val="5E8DB5">
                <a:alpha val="5514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a.before-fake/point 045"/>
            <p:cNvSpPr/>
            <p:nvPr/>
          </p:nvSpPr>
          <p:spPr>
            <a:xfrm>
              <a:off x="3376867" y="7325236"/>
              <a:ext cx="27799" cy="27799"/>
            </a:xfrm>
            <a:prstGeom prst="ellipse">
              <a:avLst/>
            </a:prstGeom>
            <a:solidFill>
              <a:srgbClr val="5E8DB5">
                <a:alpha val="7750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a.before-fake/point 046"/>
            <p:cNvSpPr/>
            <p:nvPr/>
          </p:nvSpPr>
          <p:spPr>
            <a:xfrm>
              <a:off x="2955418" y="7181799"/>
              <a:ext cx="27002" cy="27002"/>
            </a:xfrm>
            <a:prstGeom prst="ellipse">
              <a:avLst/>
            </a:prstGeom>
            <a:solidFill>
              <a:srgbClr val="5E8DB5">
                <a:alpha val="5352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a.before-fake/point 047"/>
            <p:cNvSpPr/>
            <p:nvPr/>
          </p:nvSpPr>
          <p:spPr>
            <a:xfrm>
              <a:off x="3143441" y="7098218"/>
              <a:ext cx="18631" cy="18631"/>
            </a:xfrm>
            <a:prstGeom prst="ellipse">
              <a:avLst/>
            </a:prstGeom>
            <a:solidFill>
              <a:srgbClr val="5E8DB5">
                <a:alpha val="8077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7" name="a.after-real"/>
          <p:cNvGrpSpPr/>
          <p:nvPr/>
        </p:nvGrpSpPr>
        <p:grpSpPr>
          <a:xfrm>
            <a:off x="5486908" y="7324661"/>
            <a:ext cx="740664" cy="524637"/>
            <a:chOff x="5486908" y="7324661"/>
            <a:chExt cx="740664" cy="524637"/>
          </a:xfrm>
        </p:grpSpPr>
        <p:sp>
          <p:nvSpPr>
            <p:cNvPr id="238" name="a.after-real/contour 1.35"/>
            <p:cNvSpPr/>
            <p:nvPr/>
          </p:nvSpPr>
          <p:spPr>
            <a:xfrm>
              <a:off x="5486908" y="7324661"/>
              <a:ext cx="740664" cy="524637"/>
            </a:xfrm>
            <a:prstGeom prst="ellipse">
              <a:avLst/>
            </a:prstGeom>
            <a:solidFill>
              <a:srgbClr val="C56C60">
                <a:alpha val="4500"/>
              </a:srgbClr>
            </a:solidFill>
            <a:ln w="4000">
              <a:solidFill>
                <a:srgbClr val="C56C60">
                  <a:alpha val="45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a.after-real/contour 1.05"/>
            <p:cNvSpPr/>
            <p:nvPr/>
          </p:nvSpPr>
          <p:spPr>
            <a:xfrm>
              <a:off x="5569204" y="7382954"/>
              <a:ext cx="576072" cy="408051"/>
            </a:xfrm>
            <a:prstGeom prst="ellipse">
              <a:avLst/>
            </a:prstGeom>
            <a:solidFill>
              <a:srgbClr val="C56C60">
                <a:alpha val="7000"/>
              </a:srgbClr>
            </a:solidFill>
            <a:ln w="4000">
              <a:solidFill>
                <a:srgbClr val="C56C60">
                  <a:alpha val="7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a.after-real/contour 0.75"/>
            <p:cNvSpPr/>
            <p:nvPr/>
          </p:nvSpPr>
          <p:spPr>
            <a:xfrm>
              <a:off x="5651500" y="7441247"/>
              <a:ext cx="411480" cy="291465"/>
            </a:xfrm>
            <a:prstGeom prst="ellipse">
              <a:avLst/>
            </a:prstGeom>
            <a:solidFill>
              <a:srgbClr val="C56C60">
                <a:alpha val="10000"/>
              </a:srgbClr>
            </a:solidFill>
            <a:ln w="4000">
              <a:solidFill>
                <a:srgbClr val="C56C60">
                  <a:alpha val="10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a.after-real/point 000"/>
            <p:cNvSpPr/>
            <p:nvPr/>
          </p:nvSpPr>
          <p:spPr>
            <a:xfrm>
              <a:off x="5912686" y="7637051"/>
              <a:ext cx="25431" cy="25431"/>
            </a:xfrm>
            <a:prstGeom prst="ellipse">
              <a:avLst/>
            </a:prstGeom>
            <a:solidFill>
              <a:srgbClr val="C56C60">
                <a:alpha val="768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a.after-real/point 001"/>
            <p:cNvSpPr/>
            <p:nvPr/>
          </p:nvSpPr>
          <p:spPr>
            <a:xfrm>
              <a:off x="5832084" y="7497907"/>
              <a:ext cx="25832" cy="25832"/>
            </a:xfrm>
            <a:prstGeom prst="ellipse">
              <a:avLst/>
            </a:prstGeom>
            <a:solidFill>
              <a:srgbClr val="C56C60">
                <a:alpha val="702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a.after-real/point 002"/>
            <p:cNvSpPr/>
            <p:nvPr/>
          </p:nvSpPr>
          <p:spPr>
            <a:xfrm>
              <a:off x="5947567" y="7617504"/>
              <a:ext cx="15515" cy="15515"/>
            </a:xfrm>
            <a:prstGeom prst="ellipse">
              <a:avLst/>
            </a:prstGeom>
            <a:solidFill>
              <a:srgbClr val="C56C60">
                <a:alpha val="8545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a.after-real/point 003"/>
            <p:cNvSpPr/>
            <p:nvPr/>
          </p:nvSpPr>
          <p:spPr>
            <a:xfrm>
              <a:off x="5934405" y="7556216"/>
              <a:ext cx="19102" cy="19102"/>
            </a:xfrm>
            <a:prstGeom prst="ellipse">
              <a:avLst/>
            </a:prstGeom>
            <a:solidFill>
              <a:srgbClr val="C56C60">
                <a:alpha val="7918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a.after-real/point 004"/>
            <p:cNvSpPr/>
            <p:nvPr/>
          </p:nvSpPr>
          <p:spPr>
            <a:xfrm>
              <a:off x="5866706" y="7621456"/>
              <a:ext cx="17445" cy="17445"/>
            </a:xfrm>
            <a:prstGeom prst="ellipse">
              <a:avLst/>
            </a:prstGeom>
            <a:solidFill>
              <a:srgbClr val="C56C60">
                <a:alpha val="6318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a.after-real/point 005"/>
            <p:cNvSpPr/>
            <p:nvPr/>
          </p:nvSpPr>
          <p:spPr>
            <a:xfrm>
              <a:off x="5665371" y="7446313"/>
              <a:ext cx="17750" cy="17750"/>
            </a:xfrm>
            <a:prstGeom prst="ellipse">
              <a:avLst/>
            </a:prstGeom>
            <a:solidFill>
              <a:srgbClr val="C56C60">
                <a:alpha val="8633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a.after-real/point 006"/>
            <p:cNvSpPr/>
            <p:nvPr/>
          </p:nvSpPr>
          <p:spPr>
            <a:xfrm>
              <a:off x="5638936" y="7521182"/>
              <a:ext cx="26078" cy="26078"/>
            </a:xfrm>
            <a:prstGeom prst="ellipse">
              <a:avLst/>
            </a:prstGeom>
            <a:solidFill>
              <a:srgbClr val="C56C60">
                <a:alpha val="560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a.after-real/point 007"/>
            <p:cNvSpPr/>
            <p:nvPr/>
          </p:nvSpPr>
          <p:spPr>
            <a:xfrm>
              <a:off x="5818675" y="7549770"/>
              <a:ext cx="14936" cy="14936"/>
            </a:xfrm>
            <a:prstGeom prst="ellipse">
              <a:avLst/>
            </a:prstGeom>
            <a:solidFill>
              <a:srgbClr val="C56C60">
                <a:alpha val="650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a.after-real/point 008"/>
            <p:cNvSpPr/>
            <p:nvPr/>
          </p:nvSpPr>
          <p:spPr>
            <a:xfrm>
              <a:off x="5867787" y="7486327"/>
              <a:ext cx="17501" cy="17501"/>
            </a:xfrm>
            <a:prstGeom prst="ellipse">
              <a:avLst/>
            </a:prstGeom>
            <a:solidFill>
              <a:srgbClr val="C56C60">
                <a:alpha val="8196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a.after-real/point 009"/>
            <p:cNvSpPr/>
            <p:nvPr/>
          </p:nvSpPr>
          <p:spPr>
            <a:xfrm>
              <a:off x="5910735" y="7549194"/>
              <a:ext cx="21006" cy="21006"/>
            </a:xfrm>
            <a:prstGeom prst="ellipse">
              <a:avLst/>
            </a:prstGeom>
            <a:solidFill>
              <a:srgbClr val="C56C60">
                <a:alpha val="7423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a.after-real/point 010"/>
            <p:cNvSpPr/>
            <p:nvPr/>
          </p:nvSpPr>
          <p:spPr>
            <a:xfrm>
              <a:off x="5889191" y="7554210"/>
              <a:ext cx="22457" cy="22457"/>
            </a:xfrm>
            <a:prstGeom prst="ellipse">
              <a:avLst/>
            </a:prstGeom>
            <a:solidFill>
              <a:srgbClr val="C56C60">
                <a:alpha val="86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a.after-real/point 011"/>
            <p:cNvSpPr/>
            <p:nvPr/>
          </p:nvSpPr>
          <p:spPr>
            <a:xfrm>
              <a:off x="5719601" y="7501888"/>
              <a:ext cx="25488" cy="25488"/>
            </a:xfrm>
            <a:prstGeom prst="ellipse">
              <a:avLst/>
            </a:prstGeom>
            <a:solidFill>
              <a:srgbClr val="C56C60">
                <a:alpha val="692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a.after-real/point 012"/>
            <p:cNvSpPr/>
            <p:nvPr/>
          </p:nvSpPr>
          <p:spPr>
            <a:xfrm>
              <a:off x="5812583" y="7668986"/>
              <a:ext cx="22103" cy="22103"/>
            </a:xfrm>
            <a:prstGeom prst="ellipse">
              <a:avLst/>
            </a:prstGeom>
            <a:solidFill>
              <a:srgbClr val="C56C60">
                <a:alpha val="6304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a.after-real/point 013"/>
            <p:cNvSpPr/>
            <p:nvPr/>
          </p:nvSpPr>
          <p:spPr>
            <a:xfrm>
              <a:off x="5905178" y="7522065"/>
              <a:ext cx="21491" cy="21491"/>
            </a:xfrm>
            <a:prstGeom prst="ellipse">
              <a:avLst/>
            </a:prstGeom>
            <a:solidFill>
              <a:srgbClr val="C56C60">
                <a:alpha val="7893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a.after-real/point 014"/>
            <p:cNvSpPr/>
            <p:nvPr/>
          </p:nvSpPr>
          <p:spPr>
            <a:xfrm>
              <a:off x="5928660" y="7435876"/>
              <a:ext cx="23795" cy="23795"/>
            </a:xfrm>
            <a:prstGeom prst="ellipse">
              <a:avLst/>
            </a:prstGeom>
            <a:solidFill>
              <a:srgbClr val="C56C60">
                <a:alpha val="595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a.after-real/point 015"/>
            <p:cNvSpPr/>
            <p:nvPr/>
          </p:nvSpPr>
          <p:spPr>
            <a:xfrm>
              <a:off x="5972632" y="7445702"/>
              <a:ext cx="24662" cy="24662"/>
            </a:xfrm>
            <a:prstGeom prst="ellipse">
              <a:avLst/>
            </a:prstGeom>
            <a:solidFill>
              <a:srgbClr val="C56C60">
                <a:alpha val="7914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a.after-real/point 016"/>
            <p:cNvSpPr/>
            <p:nvPr/>
          </p:nvSpPr>
          <p:spPr>
            <a:xfrm>
              <a:off x="5727861" y="7568408"/>
              <a:ext cx="22851" cy="22851"/>
            </a:xfrm>
            <a:prstGeom prst="ellipse">
              <a:avLst/>
            </a:prstGeom>
            <a:solidFill>
              <a:srgbClr val="C56C60">
                <a:alpha val="5559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a.after-real/point 017"/>
            <p:cNvSpPr/>
            <p:nvPr/>
          </p:nvSpPr>
          <p:spPr>
            <a:xfrm>
              <a:off x="5758186" y="7450687"/>
              <a:ext cx="17118" cy="17118"/>
            </a:xfrm>
            <a:prstGeom prst="ellipse">
              <a:avLst/>
            </a:prstGeom>
            <a:solidFill>
              <a:srgbClr val="C56C60">
                <a:alpha val="7864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a.after-real/point 018"/>
            <p:cNvSpPr/>
            <p:nvPr/>
          </p:nvSpPr>
          <p:spPr>
            <a:xfrm>
              <a:off x="5835448" y="7544063"/>
              <a:ext cx="15554" cy="15554"/>
            </a:xfrm>
            <a:prstGeom prst="ellipse">
              <a:avLst/>
            </a:prstGeom>
            <a:solidFill>
              <a:srgbClr val="C56C60">
                <a:alpha val="7262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a.after-real/point 019"/>
            <p:cNvSpPr/>
            <p:nvPr/>
          </p:nvSpPr>
          <p:spPr>
            <a:xfrm>
              <a:off x="5862390" y="7636048"/>
              <a:ext cx="23379" cy="23379"/>
            </a:xfrm>
            <a:prstGeom prst="ellipse">
              <a:avLst/>
            </a:prstGeom>
            <a:solidFill>
              <a:srgbClr val="C56C60">
                <a:alpha val="7473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a.after-real/point 020"/>
            <p:cNvSpPr/>
            <p:nvPr/>
          </p:nvSpPr>
          <p:spPr>
            <a:xfrm>
              <a:off x="5846487" y="7484088"/>
              <a:ext cx="19436" cy="19436"/>
            </a:xfrm>
            <a:prstGeom prst="ellipse">
              <a:avLst/>
            </a:prstGeom>
            <a:solidFill>
              <a:srgbClr val="C56C60">
                <a:alpha val="5047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a.after-real/point 021"/>
            <p:cNvSpPr/>
            <p:nvPr/>
          </p:nvSpPr>
          <p:spPr>
            <a:xfrm>
              <a:off x="5896309" y="7606852"/>
              <a:ext cx="22063" cy="22063"/>
            </a:xfrm>
            <a:prstGeom prst="ellipse">
              <a:avLst/>
            </a:prstGeom>
            <a:solidFill>
              <a:srgbClr val="C56C60">
                <a:alpha val="773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a.after-real/point 022"/>
            <p:cNvSpPr/>
            <p:nvPr/>
          </p:nvSpPr>
          <p:spPr>
            <a:xfrm>
              <a:off x="5869003" y="7642252"/>
              <a:ext cx="27702" cy="27702"/>
            </a:xfrm>
            <a:prstGeom prst="ellipse">
              <a:avLst/>
            </a:prstGeom>
            <a:solidFill>
              <a:srgbClr val="C56C60">
                <a:alpha val="6522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a.after-real/point 023"/>
            <p:cNvSpPr/>
            <p:nvPr/>
          </p:nvSpPr>
          <p:spPr>
            <a:xfrm>
              <a:off x="5813003" y="7477873"/>
              <a:ext cx="23907" cy="23907"/>
            </a:xfrm>
            <a:prstGeom prst="ellipse">
              <a:avLst/>
            </a:prstGeom>
            <a:solidFill>
              <a:srgbClr val="C56C60">
                <a:alpha val="681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a.after-real/point 024"/>
            <p:cNvSpPr/>
            <p:nvPr/>
          </p:nvSpPr>
          <p:spPr>
            <a:xfrm>
              <a:off x="5697308" y="7547225"/>
              <a:ext cx="17069" cy="17069"/>
            </a:xfrm>
            <a:prstGeom prst="ellipse">
              <a:avLst/>
            </a:prstGeom>
            <a:solidFill>
              <a:srgbClr val="C56C60">
                <a:alpha val="8035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a.after-real/point 025"/>
            <p:cNvSpPr/>
            <p:nvPr/>
          </p:nvSpPr>
          <p:spPr>
            <a:xfrm>
              <a:off x="5870446" y="7562190"/>
              <a:ext cx="17576" cy="17576"/>
            </a:xfrm>
            <a:prstGeom prst="ellipse">
              <a:avLst/>
            </a:prstGeom>
            <a:solidFill>
              <a:srgbClr val="C56C60">
                <a:alpha val="5945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a.after-real/point 026"/>
            <p:cNvSpPr/>
            <p:nvPr/>
          </p:nvSpPr>
          <p:spPr>
            <a:xfrm>
              <a:off x="5891643" y="7597208"/>
              <a:ext cx="23656" cy="23656"/>
            </a:xfrm>
            <a:prstGeom prst="ellipse">
              <a:avLst/>
            </a:prstGeom>
            <a:solidFill>
              <a:srgbClr val="C56C60">
                <a:alpha val="5467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a.after-real/point 027"/>
            <p:cNvSpPr/>
            <p:nvPr/>
          </p:nvSpPr>
          <p:spPr>
            <a:xfrm>
              <a:off x="6070879" y="7647541"/>
              <a:ext cx="20373" cy="20373"/>
            </a:xfrm>
            <a:prstGeom prst="ellipse">
              <a:avLst/>
            </a:prstGeom>
            <a:solidFill>
              <a:srgbClr val="C56C60">
                <a:alpha val="70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a.after-real/point 028"/>
            <p:cNvSpPr/>
            <p:nvPr/>
          </p:nvSpPr>
          <p:spPr>
            <a:xfrm>
              <a:off x="5754778" y="7587114"/>
              <a:ext cx="21089" cy="21089"/>
            </a:xfrm>
            <a:prstGeom prst="ellipse">
              <a:avLst/>
            </a:prstGeom>
            <a:solidFill>
              <a:srgbClr val="C56C60">
                <a:alpha val="573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a.after-real/point 029"/>
            <p:cNvSpPr/>
            <p:nvPr/>
          </p:nvSpPr>
          <p:spPr>
            <a:xfrm>
              <a:off x="5781095" y="7552286"/>
              <a:ext cx="16852" cy="16852"/>
            </a:xfrm>
            <a:prstGeom prst="ellipse">
              <a:avLst/>
            </a:prstGeom>
            <a:solidFill>
              <a:srgbClr val="C56C60">
                <a:alpha val="57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a.after-real/point 030"/>
            <p:cNvSpPr/>
            <p:nvPr/>
          </p:nvSpPr>
          <p:spPr>
            <a:xfrm>
              <a:off x="5645770" y="7661967"/>
              <a:ext cx="23059" cy="23059"/>
            </a:xfrm>
            <a:prstGeom prst="ellipse">
              <a:avLst/>
            </a:prstGeom>
            <a:solidFill>
              <a:srgbClr val="C56C60">
                <a:alpha val="8726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a.after-real/point 031"/>
            <p:cNvSpPr/>
            <p:nvPr/>
          </p:nvSpPr>
          <p:spPr>
            <a:xfrm>
              <a:off x="5780918" y="7607281"/>
              <a:ext cx="24606" cy="24606"/>
            </a:xfrm>
            <a:prstGeom prst="ellipse">
              <a:avLst/>
            </a:prstGeom>
            <a:solidFill>
              <a:srgbClr val="C56C60">
                <a:alpha val="5723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a.after-real/point 032"/>
            <p:cNvSpPr/>
            <p:nvPr/>
          </p:nvSpPr>
          <p:spPr>
            <a:xfrm>
              <a:off x="5948950" y="7576818"/>
              <a:ext cx="18581" cy="18581"/>
            </a:xfrm>
            <a:prstGeom prst="ellipse">
              <a:avLst/>
            </a:prstGeom>
            <a:solidFill>
              <a:srgbClr val="C56C60">
                <a:alpha val="6030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a.after-real/point 033"/>
            <p:cNvSpPr/>
            <p:nvPr/>
          </p:nvSpPr>
          <p:spPr>
            <a:xfrm>
              <a:off x="5762980" y="7731865"/>
              <a:ext cx="28467" cy="28467"/>
            </a:xfrm>
            <a:prstGeom prst="ellipse">
              <a:avLst/>
            </a:prstGeom>
            <a:solidFill>
              <a:srgbClr val="C56C60">
                <a:alpha val="712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a.after-real/point 034"/>
            <p:cNvSpPr/>
            <p:nvPr/>
          </p:nvSpPr>
          <p:spPr>
            <a:xfrm>
              <a:off x="5850866" y="7588996"/>
              <a:ext cx="15956" cy="15956"/>
            </a:xfrm>
            <a:prstGeom prst="ellipse">
              <a:avLst/>
            </a:prstGeom>
            <a:solidFill>
              <a:srgbClr val="C56C60">
                <a:alpha val="6132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a.after-real/point 035"/>
            <p:cNvSpPr/>
            <p:nvPr/>
          </p:nvSpPr>
          <p:spPr>
            <a:xfrm>
              <a:off x="5755102" y="7494858"/>
              <a:ext cx="26563" cy="26563"/>
            </a:xfrm>
            <a:prstGeom prst="ellipse">
              <a:avLst/>
            </a:prstGeom>
            <a:solidFill>
              <a:srgbClr val="C56C60">
                <a:alpha val="81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a.after-real/point 036"/>
            <p:cNvSpPr/>
            <p:nvPr/>
          </p:nvSpPr>
          <p:spPr>
            <a:xfrm>
              <a:off x="5755457" y="7662517"/>
              <a:ext cx="20953" cy="20953"/>
            </a:xfrm>
            <a:prstGeom prst="ellipse">
              <a:avLst/>
            </a:prstGeom>
            <a:solidFill>
              <a:srgbClr val="C56C60">
                <a:alpha val="7767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a.after-real/point 037"/>
            <p:cNvSpPr/>
            <p:nvPr/>
          </p:nvSpPr>
          <p:spPr>
            <a:xfrm>
              <a:off x="5961234" y="7759764"/>
              <a:ext cx="15172" cy="15172"/>
            </a:xfrm>
            <a:prstGeom prst="ellipse">
              <a:avLst/>
            </a:prstGeom>
            <a:solidFill>
              <a:srgbClr val="C56C60">
                <a:alpha val="734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a.after-real/point 038"/>
            <p:cNvSpPr/>
            <p:nvPr/>
          </p:nvSpPr>
          <p:spPr>
            <a:xfrm>
              <a:off x="5739392" y="7681852"/>
              <a:ext cx="16829" cy="16829"/>
            </a:xfrm>
            <a:prstGeom prst="ellipse">
              <a:avLst/>
            </a:prstGeom>
            <a:solidFill>
              <a:srgbClr val="C56C60">
                <a:alpha val="8385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a.after-real/point 039"/>
            <p:cNvSpPr/>
            <p:nvPr/>
          </p:nvSpPr>
          <p:spPr>
            <a:xfrm>
              <a:off x="6010417" y="7577097"/>
              <a:ext cx="24507" cy="24507"/>
            </a:xfrm>
            <a:prstGeom prst="ellipse">
              <a:avLst/>
            </a:prstGeom>
            <a:solidFill>
              <a:srgbClr val="C56C60">
                <a:alpha val="692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a.after-real/point 040"/>
            <p:cNvSpPr/>
            <p:nvPr/>
          </p:nvSpPr>
          <p:spPr>
            <a:xfrm>
              <a:off x="5892251" y="7639247"/>
              <a:ext cx="20985" cy="20985"/>
            </a:xfrm>
            <a:prstGeom prst="ellipse">
              <a:avLst/>
            </a:prstGeom>
            <a:solidFill>
              <a:srgbClr val="C56C60">
                <a:alpha val="58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a.after-real/point 041"/>
            <p:cNvSpPr/>
            <p:nvPr/>
          </p:nvSpPr>
          <p:spPr>
            <a:xfrm>
              <a:off x="5949575" y="7692937"/>
              <a:ext cx="22397" cy="22397"/>
            </a:xfrm>
            <a:prstGeom prst="ellipse">
              <a:avLst/>
            </a:prstGeom>
            <a:solidFill>
              <a:srgbClr val="C56C60">
                <a:alpha val="602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a.after-real/point 042"/>
            <p:cNvSpPr/>
            <p:nvPr/>
          </p:nvSpPr>
          <p:spPr>
            <a:xfrm>
              <a:off x="5747532" y="7506451"/>
              <a:ext cx="16725" cy="16725"/>
            </a:xfrm>
            <a:prstGeom prst="ellipse">
              <a:avLst/>
            </a:prstGeom>
            <a:solidFill>
              <a:srgbClr val="C56C60">
                <a:alpha val="722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a.after-real/point 043"/>
            <p:cNvSpPr/>
            <p:nvPr/>
          </p:nvSpPr>
          <p:spPr>
            <a:xfrm>
              <a:off x="5805262" y="7559846"/>
              <a:ext cx="18984" cy="18984"/>
            </a:xfrm>
            <a:prstGeom prst="ellipse">
              <a:avLst/>
            </a:prstGeom>
            <a:solidFill>
              <a:srgbClr val="C56C60">
                <a:alpha val="8280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a.after-real/point 044"/>
            <p:cNvSpPr/>
            <p:nvPr/>
          </p:nvSpPr>
          <p:spPr>
            <a:xfrm>
              <a:off x="5783706" y="7552512"/>
              <a:ext cx="20256" cy="20256"/>
            </a:xfrm>
            <a:prstGeom prst="ellipse">
              <a:avLst/>
            </a:prstGeom>
            <a:solidFill>
              <a:srgbClr val="C56C60">
                <a:alpha val="674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a.after-real/point 045"/>
            <p:cNvSpPr/>
            <p:nvPr/>
          </p:nvSpPr>
          <p:spPr>
            <a:xfrm>
              <a:off x="5796966" y="7441071"/>
              <a:ext cx="16058" cy="16058"/>
            </a:xfrm>
            <a:prstGeom prst="ellipse">
              <a:avLst/>
            </a:prstGeom>
            <a:solidFill>
              <a:srgbClr val="C56C60">
                <a:alpha val="5177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a.after-real/point 046"/>
            <p:cNvSpPr/>
            <p:nvPr/>
          </p:nvSpPr>
          <p:spPr>
            <a:xfrm>
              <a:off x="5829717" y="7583680"/>
              <a:ext cx="16975" cy="16975"/>
            </a:xfrm>
            <a:prstGeom prst="ellipse">
              <a:avLst/>
            </a:prstGeom>
            <a:solidFill>
              <a:srgbClr val="C56C60">
                <a:alpha val="5403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a.after-real/point 047"/>
            <p:cNvSpPr/>
            <p:nvPr/>
          </p:nvSpPr>
          <p:spPr>
            <a:xfrm>
              <a:off x="5969942" y="7632076"/>
              <a:ext cx="16168" cy="16168"/>
            </a:xfrm>
            <a:prstGeom prst="ellipse">
              <a:avLst/>
            </a:prstGeom>
            <a:solidFill>
              <a:srgbClr val="C56C60">
                <a:alpha val="7153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9" name="a.after-fake"/>
          <p:cNvGrpSpPr/>
          <p:nvPr/>
        </p:nvGrpSpPr>
        <p:grpSpPr>
          <a:xfrm>
            <a:off x="5566918" y="7236650"/>
            <a:ext cx="740664" cy="586359"/>
            <a:chOff x="5566918" y="7236650"/>
            <a:chExt cx="740664" cy="586359"/>
          </a:xfrm>
        </p:grpSpPr>
        <p:sp>
          <p:nvSpPr>
            <p:cNvPr id="290" name="a.after-fake/contour 1.35"/>
            <p:cNvSpPr/>
            <p:nvPr/>
          </p:nvSpPr>
          <p:spPr>
            <a:xfrm>
              <a:off x="5566918" y="7236650"/>
              <a:ext cx="740664" cy="586359"/>
            </a:xfrm>
            <a:prstGeom prst="ellipse">
              <a:avLst/>
            </a:prstGeom>
            <a:solidFill>
              <a:srgbClr val="5E8DB5">
                <a:alpha val="4500"/>
              </a:srgbClr>
            </a:solidFill>
            <a:ln w="4000">
              <a:solidFill>
                <a:srgbClr val="5E8DB5">
                  <a:alpha val="45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a.after-fake/contour 1.05"/>
            <p:cNvSpPr/>
            <p:nvPr/>
          </p:nvSpPr>
          <p:spPr>
            <a:xfrm>
              <a:off x="5649214" y="7301801"/>
              <a:ext cx="576072" cy="456056"/>
            </a:xfrm>
            <a:prstGeom prst="ellipse">
              <a:avLst/>
            </a:prstGeom>
            <a:solidFill>
              <a:srgbClr val="5E8DB5">
                <a:alpha val="7000"/>
              </a:srgbClr>
            </a:solidFill>
            <a:ln w="4000">
              <a:solidFill>
                <a:srgbClr val="5E8DB5">
                  <a:alpha val="7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a.after-fake/contour 0.75"/>
            <p:cNvSpPr/>
            <p:nvPr/>
          </p:nvSpPr>
          <p:spPr>
            <a:xfrm>
              <a:off x="5731510" y="7366952"/>
              <a:ext cx="411480" cy="325755"/>
            </a:xfrm>
            <a:prstGeom prst="ellipse">
              <a:avLst/>
            </a:prstGeom>
            <a:solidFill>
              <a:srgbClr val="5E8DB5">
                <a:alpha val="10000"/>
              </a:srgbClr>
            </a:solidFill>
            <a:ln w="4000">
              <a:solidFill>
                <a:srgbClr val="5E8DB5">
                  <a:alpha val="10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a.after-fake/point 000"/>
            <p:cNvSpPr/>
            <p:nvPr/>
          </p:nvSpPr>
          <p:spPr>
            <a:xfrm>
              <a:off x="5990624" y="7532856"/>
              <a:ext cx="24585" cy="24585"/>
            </a:xfrm>
            <a:prstGeom prst="ellipse">
              <a:avLst/>
            </a:prstGeom>
            <a:solidFill>
              <a:srgbClr val="5E8DB5">
                <a:alpha val="5542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a.after-fake/point 001"/>
            <p:cNvSpPr/>
            <p:nvPr/>
          </p:nvSpPr>
          <p:spPr>
            <a:xfrm>
              <a:off x="5980706" y="7473557"/>
              <a:ext cx="15016" cy="15016"/>
            </a:xfrm>
            <a:prstGeom prst="ellipse">
              <a:avLst/>
            </a:prstGeom>
            <a:solidFill>
              <a:srgbClr val="5E8DB5">
                <a:alpha val="667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a.after-fake/point 002"/>
            <p:cNvSpPr/>
            <p:nvPr/>
          </p:nvSpPr>
          <p:spPr>
            <a:xfrm>
              <a:off x="5937038" y="7533104"/>
              <a:ext cx="18673" cy="18673"/>
            </a:xfrm>
            <a:prstGeom prst="ellipse">
              <a:avLst/>
            </a:prstGeom>
            <a:solidFill>
              <a:srgbClr val="5E8DB5">
                <a:alpha val="6747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a.after-fake/point 003"/>
            <p:cNvSpPr/>
            <p:nvPr/>
          </p:nvSpPr>
          <p:spPr>
            <a:xfrm>
              <a:off x="5997580" y="7667612"/>
              <a:ext cx="18974" cy="18974"/>
            </a:xfrm>
            <a:prstGeom prst="ellipse">
              <a:avLst/>
            </a:prstGeom>
            <a:solidFill>
              <a:srgbClr val="5E8DB5">
                <a:alpha val="7663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a.after-fake/point 004"/>
            <p:cNvSpPr/>
            <p:nvPr/>
          </p:nvSpPr>
          <p:spPr>
            <a:xfrm>
              <a:off x="5899092" y="7549278"/>
              <a:ext cx="20819" cy="20819"/>
            </a:xfrm>
            <a:prstGeom prst="ellipse">
              <a:avLst/>
            </a:prstGeom>
            <a:solidFill>
              <a:srgbClr val="5E8DB5">
                <a:alpha val="7605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a.after-fake/point 005"/>
            <p:cNvSpPr/>
            <p:nvPr/>
          </p:nvSpPr>
          <p:spPr>
            <a:xfrm>
              <a:off x="5783950" y="7530959"/>
              <a:ext cx="16528" cy="16528"/>
            </a:xfrm>
            <a:prstGeom prst="ellipse">
              <a:avLst/>
            </a:prstGeom>
            <a:solidFill>
              <a:srgbClr val="5E8DB5">
                <a:alpha val="5531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a.after-fake/point 006"/>
            <p:cNvSpPr/>
            <p:nvPr/>
          </p:nvSpPr>
          <p:spPr>
            <a:xfrm>
              <a:off x="6004669" y="7584688"/>
              <a:ext cx="26668" cy="26668"/>
            </a:xfrm>
            <a:prstGeom prst="ellipse">
              <a:avLst/>
            </a:prstGeom>
            <a:solidFill>
              <a:srgbClr val="5E8DB5">
                <a:alpha val="645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a.after-fake/point 007"/>
            <p:cNvSpPr/>
            <p:nvPr/>
          </p:nvSpPr>
          <p:spPr>
            <a:xfrm>
              <a:off x="5949337" y="7485580"/>
              <a:ext cx="17950" cy="17950"/>
            </a:xfrm>
            <a:prstGeom prst="ellipse">
              <a:avLst/>
            </a:prstGeom>
            <a:solidFill>
              <a:srgbClr val="5E8DB5">
                <a:alpha val="7558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a.after-fake/point 008"/>
            <p:cNvSpPr/>
            <p:nvPr/>
          </p:nvSpPr>
          <p:spPr>
            <a:xfrm>
              <a:off x="5968810" y="7382199"/>
              <a:ext cx="16856" cy="16856"/>
            </a:xfrm>
            <a:prstGeom prst="ellipse">
              <a:avLst/>
            </a:prstGeom>
            <a:solidFill>
              <a:srgbClr val="5E8DB5">
                <a:alpha val="7057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a.after-fake/point 009"/>
            <p:cNvSpPr/>
            <p:nvPr/>
          </p:nvSpPr>
          <p:spPr>
            <a:xfrm>
              <a:off x="5939097" y="7651682"/>
              <a:ext cx="22815" cy="22815"/>
            </a:xfrm>
            <a:prstGeom prst="ellipse">
              <a:avLst/>
            </a:prstGeom>
            <a:solidFill>
              <a:srgbClr val="5E8DB5">
                <a:alpha val="761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a.after-fake/point 010"/>
            <p:cNvSpPr/>
            <p:nvPr/>
          </p:nvSpPr>
          <p:spPr>
            <a:xfrm>
              <a:off x="5989038" y="7289607"/>
              <a:ext cx="21253" cy="21253"/>
            </a:xfrm>
            <a:prstGeom prst="ellipse">
              <a:avLst/>
            </a:prstGeom>
            <a:solidFill>
              <a:srgbClr val="5E8DB5">
                <a:alpha val="878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a.after-fake/point 011"/>
            <p:cNvSpPr/>
            <p:nvPr/>
          </p:nvSpPr>
          <p:spPr>
            <a:xfrm>
              <a:off x="5877258" y="7682469"/>
              <a:ext cx="16307" cy="16307"/>
            </a:xfrm>
            <a:prstGeom prst="ellipse">
              <a:avLst/>
            </a:prstGeom>
            <a:solidFill>
              <a:srgbClr val="5E8DB5">
                <a:alpha val="7722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a.after-fake/point 012"/>
            <p:cNvSpPr/>
            <p:nvPr/>
          </p:nvSpPr>
          <p:spPr>
            <a:xfrm>
              <a:off x="6030281" y="7458145"/>
              <a:ext cx="19811" cy="19811"/>
            </a:xfrm>
            <a:prstGeom prst="ellipse">
              <a:avLst/>
            </a:prstGeom>
            <a:solidFill>
              <a:srgbClr val="5E8DB5">
                <a:alpha val="8137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a.after-fake/point 013"/>
            <p:cNvSpPr/>
            <p:nvPr/>
          </p:nvSpPr>
          <p:spPr>
            <a:xfrm>
              <a:off x="5990671" y="7403055"/>
              <a:ext cx="19591" cy="19591"/>
            </a:xfrm>
            <a:prstGeom prst="ellipse">
              <a:avLst/>
            </a:prstGeom>
            <a:solidFill>
              <a:srgbClr val="5E8DB5">
                <a:alpha val="695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a.after-fake/point 014"/>
            <p:cNvSpPr/>
            <p:nvPr/>
          </p:nvSpPr>
          <p:spPr>
            <a:xfrm>
              <a:off x="6052248" y="7521486"/>
              <a:ext cx="19080" cy="19080"/>
            </a:xfrm>
            <a:prstGeom prst="ellipse">
              <a:avLst/>
            </a:prstGeom>
            <a:solidFill>
              <a:srgbClr val="5E8DB5">
                <a:alpha val="756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a.after-fake/point 015"/>
            <p:cNvSpPr/>
            <p:nvPr/>
          </p:nvSpPr>
          <p:spPr>
            <a:xfrm>
              <a:off x="6038805" y="7532375"/>
              <a:ext cx="16474" cy="16474"/>
            </a:xfrm>
            <a:prstGeom prst="ellipse">
              <a:avLst/>
            </a:prstGeom>
            <a:solidFill>
              <a:srgbClr val="5E8DB5">
                <a:alpha val="6313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a.after-fake/point 016"/>
            <p:cNvSpPr/>
            <p:nvPr/>
          </p:nvSpPr>
          <p:spPr>
            <a:xfrm>
              <a:off x="6095165" y="7499949"/>
              <a:ext cx="23704" cy="23704"/>
            </a:xfrm>
            <a:prstGeom prst="ellipse">
              <a:avLst/>
            </a:prstGeom>
            <a:solidFill>
              <a:srgbClr val="5E8DB5">
                <a:alpha val="6380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a.after-fake/point 017"/>
            <p:cNvSpPr/>
            <p:nvPr/>
          </p:nvSpPr>
          <p:spPr>
            <a:xfrm>
              <a:off x="5946785" y="7530395"/>
              <a:ext cx="22345" cy="22345"/>
            </a:xfrm>
            <a:prstGeom prst="ellipse">
              <a:avLst/>
            </a:prstGeom>
            <a:solidFill>
              <a:srgbClr val="5E8DB5">
                <a:alpha val="8741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a.after-fake/point 018"/>
            <p:cNvSpPr/>
            <p:nvPr/>
          </p:nvSpPr>
          <p:spPr>
            <a:xfrm>
              <a:off x="5916826" y="7460499"/>
              <a:ext cx="28188" cy="28188"/>
            </a:xfrm>
            <a:prstGeom prst="ellipse">
              <a:avLst/>
            </a:prstGeom>
            <a:solidFill>
              <a:srgbClr val="5E8DB5">
                <a:alpha val="5856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a.after-fake/point 019"/>
            <p:cNvSpPr/>
            <p:nvPr/>
          </p:nvSpPr>
          <p:spPr>
            <a:xfrm>
              <a:off x="6042685" y="7546858"/>
              <a:ext cx="21013" cy="21013"/>
            </a:xfrm>
            <a:prstGeom prst="ellipse">
              <a:avLst/>
            </a:prstGeom>
            <a:solidFill>
              <a:srgbClr val="5E8DB5">
                <a:alpha val="5260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a.after-fake/point 020"/>
            <p:cNvSpPr/>
            <p:nvPr/>
          </p:nvSpPr>
          <p:spPr>
            <a:xfrm>
              <a:off x="6000940" y="7487517"/>
              <a:ext cx="20243" cy="20243"/>
            </a:xfrm>
            <a:prstGeom prst="ellipse">
              <a:avLst/>
            </a:prstGeom>
            <a:solidFill>
              <a:srgbClr val="5E8DB5">
                <a:alpha val="5150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a.after-fake/point 021"/>
            <p:cNvSpPr/>
            <p:nvPr/>
          </p:nvSpPr>
          <p:spPr>
            <a:xfrm>
              <a:off x="6169629" y="7532462"/>
              <a:ext cx="28098" cy="28098"/>
            </a:xfrm>
            <a:prstGeom prst="ellipse">
              <a:avLst/>
            </a:prstGeom>
            <a:solidFill>
              <a:srgbClr val="5E8DB5">
                <a:alpha val="7366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a.after-fake/point 022"/>
            <p:cNvSpPr/>
            <p:nvPr/>
          </p:nvSpPr>
          <p:spPr>
            <a:xfrm>
              <a:off x="5982677" y="7535175"/>
              <a:ext cx="16740" cy="16740"/>
            </a:xfrm>
            <a:prstGeom prst="ellipse">
              <a:avLst/>
            </a:prstGeom>
            <a:solidFill>
              <a:srgbClr val="5E8DB5">
                <a:alpha val="504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a.after-fake/point 023"/>
            <p:cNvSpPr/>
            <p:nvPr/>
          </p:nvSpPr>
          <p:spPr>
            <a:xfrm>
              <a:off x="5961871" y="7437499"/>
              <a:ext cx="15265" cy="15265"/>
            </a:xfrm>
            <a:prstGeom prst="ellipse">
              <a:avLst/>
            </a:prstGeom>
            <a:solidFill>
              <a:srgbClr val="5E8DB5">
                <a:alpha val="6009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a.after-fake/point 024"/>
            <p:cNvSpPr/>
            <p:nvPr/>
          </p:nvSpPr>
          <p:spPr>
            <a:xfrm>
              <a:off x="5807462" y="7543233"/>
              <a:ext cx="21973" cy="21973"/>
            </a:xfrm>
            <a:prstGeom prst="ellipse">
              <a:avLst/>
            </a:prstGeom>
            <a:solidFill>
              <a:srgbClr val="5E8DB5">
                <a:alpha val="5508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a.after-fake/point 025"/>
            <p:cNvSpPr/>
            <p:nvPr/>
          </p:nvSpPr>
          <p:spPr>
            <a:xfrm>
              <a:off x="5940950" y="7484657"/>
              <a:ext cx="20924" cy="20924"/>
            </a:xfrm>
            <a:prstGeom prst="ellipse">
              <a:avLst/>
            </a:prstGeom>
            <a:solidFill>
              <a:srgbClr val="5E8DB5">
                <a:alpha val="7770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a.after-fake/point 026"/>
            <p:cNvSpPr/>
            <p:nvPr/>
          </p:nvSpPr>
          <p:spPr>
            <a:xfrm>
              <a:off x="5939413" y="7525914"/>
              <a:ext cx="28416" cy="28416"/>
            </a:xfrm>
            <a:prstGeom prst="ellipse">
              <a:avLst/>
            </a:prstGeom>
            <a:solidFill>
              <a:srgbClr val="5E8DB5">
                <a:alpha val="7633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a.after-fake/point 027"/>
            <p:cNvSpPr/>
            <p:nvPr/>
          </p:nvSpPr>
          <p:spPr>
            <a:xfrm>
              <a:off x="5982368" y="7631967"/>
              <a:ext cx="16250" cy="16250"/>
            </a:xfrm>
            <a:prstGeom prst="ellipse">
              <a:avLst/>
            </a:prstGeom>
            <a:solidFill>
              <a:srgbClr val="5E8DB5">
                <a:alpha val="8140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a.after-fake/point 028"/>
            <p:cNvSpPr/>
            <p:nvPr/>
          </p:nvSpPr>
          <p:spPr>
            <a:xfrm>
              <a:off x="5975861" y="7530360"/>
              <a:ext cx="17908" cy="17908"/>
            </a:xfrm>
            <a:prstGeom prst="ellipse">
              <a:avLst/>
            </a:prstGeom>
            <a:solidFill>
              <a:srgbClr val="5E8DB5">
                <a:alpha val="7379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a.after-fake/point 029"/>
            <p:cNvSpPr/>
            <p:nvPr/>
          </p:nvSpPr>
          <p:spPr>
            <a:xfrm>
              <a:off x="5976286" y="7473258"/>
              <a:ext cx="25481" cy="25481"/>
            </a:xfrm>
            <a:prstGeom prst="ellipse">
              <a:avLst/>
            </a:prstGeom>
            <a:solidFill>
              <a:srgbClr val="5E8DB5">
                <a:alpha val="6567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a.after-fake/point 030"/>
            <p:cNvSpPr/>
            <p:nvPr/>
          </p:nvSpPr>
          <p:spPr>
            <a:xfrm>
              <a:off x="5780873" y="7552101"/>
              <a:ext cx="18141" cy="18141"/>
            </a:xfrm>
            <a:prstGeom prst="ellipse">
              <a:avLst/>
            </a:prstGeom>
            <a:solidFill>
              <a:srgbClr val="5E8DB5">
                <a:alpha val="7691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a.after-fake/point 031"/>
            <p:cNvSpPr/>
            <p:nvPr/>
          </p:nvSpPr>
          <p:spPr>
            <a:xfrm>
              <a:off x="5892172" y="7557113"/>
              <a:ext cx="23658" cy="23658"/>
            </a:xfrm>
            <a:prstGeom prst="ellipse">
              <a:avLst/>
            </a:prstGeom>
            <a:solidFill>
              <a:srgbClr val="5E8DB5">
                <a:alpha val="6948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a.after-fake/point 032"/>
            <p:cNvSpPr/>
            <p:nvPr/>
          </p:nvSpPr>
          <p:spPr>
            <a:xfrm>
              <a:off x="6161027" y="7565611"/>
              <a:ext cx="25395" cy="25395"/>
            </a:xfrm>
            <a:prstGeom prst="ellipse">
              <a:avLst/>
            </a:prstGeom>
            <a:solidFill>
              <a:srgbClr val="5E8DB5">
                <a:alpha val="6697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a.after-fake/point 033"/>
            <p:cNvSpPr/>
            <p:nvPr/>
          </p:nvSpPr>
          <p:spPr>
            <a:xfrm>
              <a:off x="5976865" y="7390497"/>
              <a:ext cx="15299" cy="15299"/>
            </a:xfrm>
            <a:prstGeom prst="ellipse">
              <a:avLst/>
            </a:prstGeom>
            <a:solidFill>
              <a:srgbClr val="5E8DB5">
                <a:alpha val="5225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a.after-fake/point 034"/>
            <p:cNvSpPr/>
            <p:nvPr/>
          </p:nvSpPr>
          <p:spPr>
            <a:xfrm>
              <a:off x="5818946" y="7522913"/>
              <a:ext cx="24138" cy="24138"/>
            </a:xfrm>
            <a:prstGeom prst="ellipse">
              <a:avLst/>
            </a:prstGeom>
            <a:solidFill>
              <a:srgbClr val="5E8DB5">
                <a:alpha val="5615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a.after-fake/point 035"/>
            <p:cNvSpPr/>
            <p:nvPr/>
          </p:nvSpPr>
          <p:spPr>
            <a:xfrm>
              <a:off x="5986763" y="7575783"/>
              <a:ext cx="28403" cy="28403"/>
            </a:xfrm>
            <a:prstGeom prst="ellipse">
              <a:avLst/>
            </a:prstGeom>
            <a:solidFill>
              <a:srgbClr val="5E8DB5">
                <a:alpha val="5073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a.after-fake/point 036"/>
            <p:cNvSpPr/>
            <p:nvPr/>
          </p:nvSpPr>
          <p:spPr>
            <a:xfrm>
              <a:off x="6057850" y="7489146"/>
              <a:ext cx="19723" cy="19723"/>
            </a:xfrm>
            <a:prstGeom prst="ellipse">
              <a:avLst/>
            </a:prstGeom>
            <a:solidFill>
              <a:srgbClr val="5E8DB5">
                <a:alpha val="5369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a.after-fake/point 037"/>
            <p:cNvSpPr/>
            <p:nvPr/>
          </p:nvSpPr>
          <p:spPr>
            <a:xfrm>
              <a:off x="5828567" y="7553332"/>
              <a:ext cx="15615" cy="15615"/>
            </a:xfrm>
            <a:prstGeom prst="ellipse">
              <a:avLst/>
            </a:prstGeom>
            <a:solidFill>
              <a:srgbClr val="5E8DB5">
                <a:alpha val="6525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a.after-fake/point 038"/>
            <p:cNvSpPr/>
            <p:nvPr/>
          </p:nvSpPr>
          <p:spPr>
            <a:xfrm>
              <a:off x="6150468" y="7426373"/>
              <a:ext cx="24516" cy="24516"/>
            </a:xfrm>
            <a:prstGeom prst="ellipse">
              <a:avLst/>
            </a:prstGeom>
            <a:solidFill>
              <a:srgbClr val="5E8DB5">
                <a:alpha val="6479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a.after-fake/point 039"/>
            <p:cNvSpPr/>
            <p:nvPr/>
          </p:nvSpPr>
          <p:spPr>
            <a:xfrm>
              <a:off x="5944135" y="7499954"/>
              <a:ext cx="24695" cy="24695"/>
            </a:xfrm>
            <a:prstGeom prst="ellipse">
              <a:avLst/>
            </a:prstGeom>
            <a:solidFill>
              <a:srgbClr val="5E8DB5">
                <a:alpha val="7680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a.after-fake/point 040"/>
            <p:cNvSpPr/>
            <p:nvPr/>
          </p:nvSpPr>
          <p:spPr>
            <a:xfrm>
              <a:off x="5984967" y="7581005"/>
              <a:ext cx="20555" cy="20555"/>
            </a:xfrm>
            <a:prstGeom prst="ellipse">
              <a:avLst/>
            </a:prstGeom>
            <a:solidFill>
              <a:srgbClr val="5E8DB5">
                <a:alpha val="8011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a.after-fake/point 041"/>
            <p:cNvSpPr/>
            <p:nvPr/>
          </p:nvSpPr>
          <p:spPr>
            <a:xfrm>
              <a:off x="5861023" y="7484440"/>
              <a:ext cx="26091" cy="26091"/>
            </a:xfrm>
            <a:prstGeom prst="ellipse">
              <a:avLst/>
            </a:prstGeom>
            <a:solidFill>
              <a:srgbClr val="5E8DB5">
                <a:alpha val="684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a.after-fake/point 042"/>
            <p:cNvSpPr/>
            <p:nvPr/>
          </p:nvSpPr>
          <p:spPr>
            <a:xfrm>
              <a:off x="5946247" y="7446000"/>
              <a:ext cx="19500" cy="19500"/>
            </a:xfrm>
            <a:prstGeom prst="ellipse">
              <a:avLst/>
            </a:prstGeom>
            <a:solidFill>
              <a:srgbClr val="5E8DB5">
                <a:alpha val="6270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a.after-fake/point 043"/>
            <p:cNvSpPr/>
            <p:nvPr/>
          </p:nvSpPr>
          <p:spPr>
            <a:xfrm>
              <a:off x="6015328" y="7635004"/>
              <a:ext cx="23858" cy="23858"/>
            </a:xfrm>
            <a:prstGeom prst="ellipse">
              <a:avLst/>
            </a:prstGeom>
            <a:solidFill>
              <a:srgbClr val="5E8DB5">
                <a:alpha val="64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a.after-fake/point 044"/>
            <p:cNvSpPr/>
            <p:nvPr/>
          </p:nvSpPr>
          <p:spPr>
            <a:xfrm>
              <a:off x="5799829" y="7441708"/>
              <a:ext cx="28041" cy="28041"/>
            </a:xfrm>
            <a:prstGeom prst="ellipse">
              <a:avLst/>
            </a:prstGeom>
            <a:solidFill>
              <a:srgbClr val="5E8DB5">
                <a:alpha val="5514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a.after-fake/point 045"/>
            <p:cNvSpPr/>
            <p:nvPr/>
          </p:nvSpPr>
          <p:spPr>
            <a:xfrm>
              <a:off x="6097207" y="7610986"/>
              <a:ext cx="27799" cy="27799"/>
            </a:xfrm>
            <a:prstGeom prst="ellipse">
              <a:avLst/>
            </a:prstGeom>
            <a:solidFill>
              <a:srgbClr val="5E8DB5">
                <a:alpha val="7750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a.after-fake/point 046"/>
            <p:cNvSpPr/>
            <p:nvPr/>
          </p:nvSpPr>
          <p:spPr>
            <a:xfrm>
              <a:off x="5675758" y="7467549"/>
              <a:ext cx="27002" cy="27002"/>
            </a:xfrm>
            <a:prstGeom prst="ellipse">
              <a:avLst/>
            </a:prstGeom>
            <a:solidFill>
              <a:srgbClr val="5E8DB5">
                <a:alpha val="5352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a.after-fake/point 047"/>
            <p:cNvSpPr/>
            <p:nvPr/>
          </p:nvSpPr>
          <p:spPr>
            <a:xfrm>
              <a:off x="5863781" y="7383968"/>
              <a:ext cx="18631" cy="18631"/>
            </a:xfrm>
            <a:prstGeom prst="ellipse">
              <a:avLst/>
            </a:prstGeom>
            <a:solidFill>
              <a:srgbClr val="5E8DB5">
                <a:alpha val="8077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1" name="a.change"/>
          <p:cNvGrpSpPr/>
          <p:nvPr/>
        </p:nvGrpSpPr>
        <p:grpSpPr>
          <a:xfrm>
            <a:off x="3662679" y="7084060"/>
            <a:ext cx="1600200" cy="788670"/>
            <a:chOff x="3662679" y="7084060"/>
            <a:chExt cx="1600200" cy="788670"/>
          </a:xfrm>
        </p:grpSpPr>
        <p:sp>
          <p:nvSpPr>
            <p:cNvPr id="342" name="a.change/title"/>
            <p:cNvSpPr txBox="1"/>
            <p:nvPr/>
          </p:nvSpPr>
          <p:spPr>
            <a:xfrm>
              <a:off x="3822700" y="7084060"/>
              <a:ext cx="1280160" cy="3086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8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Update </a:t>
              </a:r>
              <a:r>
                <a:rPr sz="148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θ, α</a:t>
              </a:r>
            </a:p>
          </p:txBody>
        </p:sp>
        <p:sp>
          <p:nvSpPr>
            <p:cNvPr id="343" name="a.change/arrow"/>
            <p:cNvSpPr/>
            <p:nvPr/>
          </p:nvSpPr>
          <p:spPr>
            <a:xfrm>
              <a:off x="3914140" y="7506970"/>
              <a:ext cx="1074419" cy="127"/>
            </a:xfrm>
            <a:custGeom>
              <a:avLst/>
              <a:gdLst/>
              <a:ahLst/>
              <a:cxnLst/>
              <a:rect l="0" t="0" r="r" b="b"/>
              <a:pathLst>
                <a:path w="84600" h="10">
                  <a:moveTo>
                    <a:pt x="0" y="0"/>
                  </a:moveTo>
                  <a:lnTo>
                    <a:pt x="84600" y="0"/>
                  </a:lnTo>
                </a:path>
              </a:pathLst>
            </a:custGeom>
            <a:noFill/>
            <a:ln w="19431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a.change/arrow head"/>
            <p:cNvSpPr/>
            <p:nvPr/>
          </p:nvSpPr>
          <p:spPr>
            <a:xfrm>
              <a:off x="4919980" y="7476108"/>
              <a:ext cx="68579" cy="61722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a.change/action"/>
            <p:cNvSpPr txBox="1"/>
            <p:nvPr/>
          </p:nvSpPr>
          <p:spPr>
            <a:xfrm>
              <a:off x="3662679" y="7564120"/>
              <a:ext cx="1600200" cy="3086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68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Match endpoints</a:t>
              </a:r>
            </a:p>
          </p:txBody>
        </p:sp>
      </p:grpSp>
      <p:grpSp>
        <p:nvGrpSpPr>
          <p:cNvPr id="346" name="a.caption"/>
          <p:cNvGrpSpPr/>
          <p:nvPr/>
        </p:nvGrpSpPr>
        <p:grpSpPr>
          <a:xfrm>
            <a:off x="1708150" y="8124190"/>
            <a:ext cx="5600700" cy="354330"/>
            <a:chOff x="1708150" y="8124190"/>
            <a:chExt cx="5600700" cy="354330"/>
          </a:xfrm>
        </p:grpSpPr>
        <p:sp>
          <p:nvSpPr>
            <p:cNvPr id="347" name="a.caption/title"/>
            <p:cNvSpPr txBox="1"/>
            <p:nvPr/>
          </p:nvSpPr>
          <p:spPr>
            <a:xfrm>
              <a:off x="1708150" y="8124190"/>
              <a:ext cx="5600700" cy="3543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10" b="1" i="0">
                  <a:solidFill>
                    <a:srgbClr val="000000"/>
                  </a:solidFill>
                  <a:latin typeface="Liberation Sans"/>
                  <a:ea typeface="Liberation Sans"/>
                  <a:cs typeface="Liberation Sans"/>
                </a:rPr>
                <a:t>(a) Guidance update</a:t>
              </a:r>
            </a:p>
          </p:txBody>
        </p:sp>
      </p:grpSp>
      <p:grpSp>
        <p:nvGrpSpPr>
          <p:cNvPr id="348" name="b.sampler"/>
          <p:cNvGrpSpPr/>
          <p:nvPr/>
        </p:nvGrpSpPr>
        <p:grpSpPr>
          <a:xfrm>
            <a:off x="9251950" y="294640"/>
            <a:ext cx="3897630" cy="2343150"/>
            <a:chOff x="9251950" y="294640"/>
            <a:chExt cx="3897630" cy="2343150"/>
          </a:xfrm>
        </p:grpSpPr>
        <p:sp>
          <p:nvSpPr>
            <p:cNvPr id="349" name="b.sampler/container"/>
            <p:cNvSpPr/>
            <p:nvPr/>
          </p:nvSpPr>
          <p:spPr>
            <a:xfrm>
              <a:off x="9251950" y="294640"/>
              <a:ext cx="3897630" cy="2343150"/>
            </a:xfrm>
            <a:custGeom>
              <a:avLst/>
              <a:gdLst/>
              <a:ahLst/>
              <a:cxnLst/>
              <a:rect l="0" t="0" r="r" b="b"/>
              <a:pathLst>
                <a:path w="306900" h="184500">
                  <a:moveTo>
                    <a:pt x="9000" y="0"/>
                  </a:moveTo>
                  <a:lnTo>
                    <a:pt x="297900" y="0"/>
                  </a:lnTo>
                  <a:cubicBezTo>
                    <a:pt x="302871" y="0"/>
                    <a:pt x="306900" y="4029"/>
                    <a:pt x="306900" y="9000"/>
                  </a:cubicBezTo>
                  <a:lnTo>
                    <a:pt x="306900" y="175500"/>
                  </a:lnTo>
                  <a:cubicBezTo>
                    <a:pt x="306900" y="180471"/>
                    <a:pt x="302871" y="184500"/>
                    <a:pt x="297900" y="184500"/>
                  </a:cubicBezTo>
                  <a:lnTo>
                    <a:pt x="9000" y="184500"/>
                  </a:lnTo>
                  <a:cubicBezTo>
                    <a:pt x="4029" y="184500"/>
                    <a:pt x="0" y="180471"/>
                    <a:pt x="0" y="175500"/>
                  </a:cubicBezTo>
                  <a:lnTo>
                    <a:pt x="0" y="9000"/>
                  </a:lnTo>
                  <a:cubicBezTo>
                    <a:pt x="0" y="4029"/>
                    <a:pt x="4029" y="0"/>
                    <a:pt x="9000" y="0"/>
                  </a:cubicBezTo>
                  <a:close/>
                </a:path>
              </a:pathLst>
            </a:custGeom>
            <a:solidFill>
              <a:srgbClr val="FBFCFD"/>
            </a:solidFill>
            <a:ln w="12573">
              <a:solidFill>
                <a:srgbClr val="E2E7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b.sampler/title"/>
            <p:cNvSpPr txBox="1"/>
            <p:nvPr/>
          </p:nvSpPr>
          <p:spPr>
            <a:xfrm>
              <a:off x="9343390" y="340360"/>
              <a:ext cx="371475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93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Full-trajectory sampler</a:t>
              </a:r>
            </a:p>
          </p:txBody>
        </p:sp>
      </p:grpSp>
      <p:grpSp>
        <p:nvGrpSpPr>
          <p:cNvPr id="351" name="b.strong"/>
          <p:cNvGrpSpPr/>
          <p:nvPr/>
        </p:nvGrpSpPr>
        <p:grpSpPr>
          <a:xfrm>
            <a:off x="9354820" y="672650"/>
            <a:ext cx="1177290" cy="947870"/>
            <a:chOff x="9354820" y="672650"/>
            <a:chExt cx="1177290" cy="947870"/>
          </a:xfrm>
        </p:grpSpPr>
        <p:sp>
          <p:nvSpPr>
            <p:cNvPr id="352" name="b.strong/box"/>
            <p:cNvSpPr/>
            <p:nvPr/>
          </p:nvSpPr>
          <p:spPr>
            <a:xfrm>
              <a:off x="9411970" y="740410"/>
              <a:ext cx="1120140" cy="880110"/>
            </a:xfrm>
            <a:custGeom>
              <a:avLst/>
              <a:gdLst/>
              <a:ahLst/>
              <a:cxnLst/>
              <a:rect l="0" t="0" r="r" b="b"/>
              <a:pathLst>
                <a:path w="88200" h="69300">
                  <a:moveTo>
                    <a:pt x="7200" y="0"/>
                  </a:moveTo>
                  <a:lnTo>
                    <a:pt x="81000" y="0"/>
                  </a:lnTo>
                  <a:cubicBezTo>
                    <a:pt x="84976" y="0"/>
                    <a:pt x="88200" y="3224"/>
                    <a:pt x="88200" y="7200"/>
                  </a:cubicBezTo>
                  <a:lnTo>
                    <a:pt x="88200" y="62100"/>
                  </a:lnTo>
                  <a:cubicBezTo>
                    <a:pt x="88200" y="66076"/>
                    <a:pt x="84976" y="69300"/>
                    <a:pt x="81000" y="69300"/>
                  </a:cubicBezTo>
                  <a:lnTo>
                    <a:pt x="7200" y="69300"/>
                  </a:lnTo>
                  <a:cubicBezTo>
                    <a:pt x="3224" y="69300"/>
                    <a:pt x="0" y="66076"/>
                    <a:pt x="0" y="621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EAF0F5"/>
            </a:solidFill>
            <a:ln w="8001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b.strong/network spine"/>
            <p:cNvSpPr/>
            <p:nvPr/>
          </p:nvSpPr>
          <p:spPr>
            <a:xfrm>
              <a:off x="9560560" y="1077595"/>
              <a:ext cx="822959" cy="127"/>
            </a:xfrm>
            <a:custGeom>
              <a:avLst/>
              <a:gdLst/>
              <a:ahLst/>
              <a:cxnLst/>
              <a:rect l="0" t="0" r="r" b="b"/>
              <a:pathLst>
                <a:path w="64800" h="10">
                  <a:moveTo>
                    <a:pt x="0" y="0"/>
                  </a:moveTo>
                  <a:lnTo>
                    <a:pt x="64800" y="0"/>
                  </a:lnTo>
                </a:path>
              </a:pathLst>
            </a:custGeom>
            <a:noFill/>
            <a:ln w="971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b.strong/network block 0"/>
            <p:cNvSpPr/>
            <p:nvPr/>
          </p:nvSpPr>
          <p:spPr>
            <a:xfrm>
              <a:off x="9669190" y="944721"/>
              <a:ext cx="111922" cy="265747"/>
            </a:xfrm>
            <a:custGeom>
              <a:avLst/>
              <a:gdLst/>
              <a:ahLst/>
              <a:cxnLst/>
              <a:rect l="0" t="0" r="r" b="b"/>
              <a:pathLst>
                <a:path w="8813" h="20925">
                  <a:moveTo>
                    <a:pt x="720" y="0"/>
                  </a:moveTo>
                  <a:lnTo>
                    <a:pt x="8093" y="0"/>
                  </a:lnTo>
                  <a:cubicBezTo>
                    <a:pt x="8490" y="0"/>
                    <a:pt x="8813" y="322"/>
                    <a:pt x="8813" y="720"/>
                  </a:cubicBezTo>
                  <a:lnTo>
                    <a:pt x="8813" y="20205"/>
                  </a:lnTo>
                  <a:cubicBezTo>
                    <a:pt x="8813" y="20603"/>
                    <a:pt x="8490" y="20925"/>
                    <a:pt x="8093" y="20925"/>
                  </a:cubicBezTo>
                  <a:lnTo>
                    <a:pt x="720" y="20925"/>
                  </a:lnTo>
                  <a:cubicBezTo>
                    <a:pt x="322" y="20925"/>
                    <a:pt x="0" y="20603"/>
                    <a:pt x="0" y="20205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b.strong/network block 1"/>
            <p:cNvSpPr/>
            <p:nvPr/>
          </p:nvSpPr>
          <p:spPr>
            <a:xfrm>
              <a:off x="9833782" y="900430"/>
              <a:ext cx="111922" cy="354329"/>
            </a:xfrm>
            <a:custGeom>
              <a:avLst/>
              <a:gdLst/>
              <a:ahLst/>
              <a:cxnLst/>
              <a:rect l="0" t="0" r="r" b="b"/>
              <a:pathLst>
                <a:path w="8813" h="27900">
                  <a:moveTo>
                    <a:pt x="720" y="0"/>
                  </a:moveTo>
                  <a:lnTo>
                    <a:pt x="8093" y="0"/>
                  </a:lnTo>
                  <a:cubicBezTo>
                    <a:pt x="8490" y="0"/>
                    <a:pt x="8813" y="322"/>
                    <a:pt x="8813" y="720"/>
                  </a:cubicBezTo>
                  <a:lnTo>
                    <a:pt x="8813" y="27180"/>
                  </a:lnTo>
                  <a:cubicBezTo>
                    <a:pt x="8813" y="27578"/>
                    <a:pt x="8490" y="27900"/>
                    <a:pt x="8093" y="27900"/>
                  </a:cubicBezTo>
                  <a:lnTo>
                    <a:pt x="720" y="27900"/>
                  </a:lnTo>
                  <a:cubicBezTo>
                    <a:pt x="322" y="27900"/>
                    <a:pt x="0" y="27578"/>
                    <a:pt x="0" y="2718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b.strong/network block 2"/>
            <p:cNvSpPr/>
            <p:nvPr/>
          </p:nvSpPr>
          <p:spPr>
            <a:xfrm>
              <a:off x="9998374" y="900430"/>
              <a:ext cx="111922" cy="354329"/>
            </a:xfrm>
            <a:custGeom>
              <a:avLst/>
              <a:gdLst/>
              <a:ahLst/>
              <a:cxnLst/>
              <a:rect l="0" t="0" r="r" b="b"/>
              <a:pathLst>
                <a:path w="8813" h="27900">
                  <a:moveTo>
                    <a:pt x="720" y="0"/>
                  </a:moveTo>
                  <a:lnTo>
                    <a:pt x="8093" y="0"/>
                  </a:lnTo>
                  <a:cubicBezTo>
                    <a:pt x="8490" y="0"/>
                    <a:pt x="8813" y="322"/>
                    <a:pt x="8813" y="720"/>
                  </a:cubicBezTo>
                  <a:lnTo>
                    <a:pt x="8813" y="27180"/>
                  </a:lnTo>
                  <a:cubicBezTo>
                    <a:pt x="8813" y="27578"/>
                    <a:pt x="8490" y="27900"/>
                    <a:pt x="8093" y="27900"/>
                  </a:cubicBezTo>
                  <a:lnTo>
                    <a:pt x="720" y="27900"/>
                  </a:lnTo>
                  <a:cubicBezTo>
                    <a:pt x="322" y="27900"/>
                    <a:pt x="0" y="27578"/>
                    <a:pt x="0" y="2718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b.strong/network block 3"/>
            <p:cNvSpPr/>
            <p:nvPr/>
          </p:nvSpPr>
          <p:spPr>
            <a:xfrm>
              <a:off x="10162966" y="944721"/>
              <a:ext cx="111922" cy="265747"/>
            </a:xfrm>
            <a:custGeom>
              <a:avLst/>
              <a:gdLst/>
              <a:ahLst/>
              <a:cxnLst/>
              <a:rect l="0" t="0" r="r" b="b"/>
              <a:pathLst>
                <a:path w="8813" h="20925">
                  <a:moveTo>
                    <a:pt x="720" y="0"/>
                  </a:moveTo>
                  <a:lnTo>
                    <a:pt x="8093" y="0"/>
                  </a:lnTo>
                  <a:cubicBezTo>
                    <a:pt x="8490" y="0"/>
                    <a:pt x="8813" y="322"/>
                    <a:pt x="8813" y="720"/>
                  </a:cubicBezTo>
                  <a:lnTo>
                    <a:pt x="8813" y="20205"/>
                  </a:lnTo>
                  <a:cubicBezTo>
                    <a:pt x="8813" y="20603"/>
                    <a:pt x="8490" y="20925"/>
                    <a:pt x="8093" y="20925"/>
                  </a:cubicBezTo>
                  <a:lnTo>
                    <a:pt x="720" y="20925"/>
                  </a:lnTo>
                  <a:cubicBezTo>
                    <a:pt x="322" y="20925"/>
                    <a:pt x="0" y="20603"/>
                    <a:pt x="0" y="20205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b.strong/label"/>
            <p:cNvSpPr txBox="1"/>
            <p:nvPr/>
          </p:nvSpPr>
          <p:spPr>
            <a:xfrm>
              <a:off x="9446260" y="1369060"/>
              <a:ext cx="1051560" cy="2171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2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Strong S</a:t>
              </a:r>
            </a:p>
          </p:txBody>
        </p:sp>
        <p:sp>
          <p:nvSpPr>
            <p:cNvPr id="359" name="b.strong/frozen/white outline"/>
            <p:cNvSpPr/>
            <p:nvPr/>
          </p:nvSpPr>
          <p:spPr>
            <a:xfrm>
              <a:off x="9354820" y="67265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b.strong/frozen/blue crystal"/>
            <p:cNvSpPr/>
            <p:nvPr/>
          </p:nvSpPr>
          <p:spPr>
            <a:xfrm>
              <a:off x="9354820" y="67265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1" name="b.weak"/>
          <p:cNvGrpSpPr/>
          <p:nvPr/>
        </p:nvGrpSpPr>
        <p:grpSpPr>
          <a:xfrm>
            <a:off x="10612120" y="672650"/>
            <a:ext cx="1154429" cy="947870"/>
            <a:chOff x="10612120" y="672650"/>
            <a:chExt cx="1154429" cy="947870"/>
          </a:xfrm>
        </p:grpSpPr>
        <p:sp>
          <p:nvSpPr>
            <p:cNvPr id="362" name="b.weak/box"/>
            <p:cNvSpPr/>
            <p:nvPr/>
          </p:nvSpPr>
          <p:spPr>
            <a:xfrm>
              <a:off x="10669270" y="740410"/>
              <a:ext cx="1097279" cy="880110"/>
            </a:xfrm>
            <a:custGeom>
              <a:avLst/>
              <a:gdLst/>
              <a:ahLst/>
              <a:cxnLst/>
              <a:rect l="0" t="0" r="r" b="b"/>
              <a:pathLst>
                <a:path w="86400" h="69300">
                  <a:moveTo>
                    <a:pt x="7200" y="0"/>
                  </a:moveTo>
                  <a:lnTo>
                    <a:pt x="79200" y="0"/>
                  </a:lnTo>
                  <a:cubicBezTo>
                    <a:pt x="83176" y="0"/>
                    <a:pt x="86400" y="3224"/>
                    <a:pt x="86400" y="7200"/>
                  </a:cubicBezTo>
                  <a:lnTo>
                    <a:pt x="86400" y="62100"/>
                  </a:lnTo>
                  <a:cubicBezTo>
                    <a:pt x="86400" y="66076"/>
                    <a:pt x="83176" y="69300"/>
                    <a:pt x="79200" y="69300"/>
                  </a:cubicBezTo>
                  <a:lnTo>
                    <a:pt x="7200" y="69300"/>
                  </a:lnTo>
                  <a:cubicBezTo>
                    <a:pt x="3224" y="69300"/>
                    <a:pt x="0" y="66076"/>
                    <a:pt x="0" y="621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EAF0F5"/>
            </a:solidFill>
            <a:ln w="8001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b.weak/network spine"/>
            <p:cNvSpPr/>
            <p:nvPr/>
          </p:nvSpPr>
          <p:spPr>
            <a:xfrm>
              <a:off x="10915015" y="1077595"/>
              <a:ext cx="605789" cy="127"/>
            </a:xfrm>
            <a:custGeom>
              <a:avLst/>
              <a:gdLst/>
              <a:ahLst/>
              <a:cxnLst/>
              <a:rect l="0" t="0" r="r" b="b"/>
              <a:pathLst>
                <a:path w="47700" h="10">
                  <a:moveTo>
                    <a:pt x="0" y="0"/>
                  </a:moveTo>
                  <a:lnTo>
                    <a:pt x="47700" y="0"/>
                  </a:lnTo>
                </a:path>
              </a:pathLst>
            </a:custGeom>
            <a:noFill/>
            <a:ln w="971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b.weak/network block 0"/>
            <p:cNvSpPr/>
            <p:nvPr/>
          </p:nvSpPr>
          <p:spPr>
            <a:xfrm>
              <a:off x="11014970" y="944721"/>
              <a:ext cx="102984" cy="265747"/>
            </a:xfrm>
            <a:custGeom>
              <a:avLst/>
              <a:gdLst/>
              <a:ahLst/>
              <a:cxnLst/>
              <a:rect l="0" t="0" r="r" b="b"/>
              <a:pathLst>
                <a:path w="8109" h="20925">
                  <a:moveTo>
                    <a:pt x="720" y="0"/>
                  </a:moveTo>
                  <a:lnTo>
                    <a:pt x="7389" y="0"/>
                  </a:lnTo>
                  <a:cubicBezTo>
                    <a:pt x="7787" y="0"/>
                    <a:pt x="8109" y="322"/>
                    <a:pt x="8109" y="720"/>
                  </a:cubicBezTo>
                  <a:lnTo>
                    <a:pt x="8109" y="20205"/>
                  </a:lnTo>
                  <a:cubicBezTo>
                    <a:pt x="8109" y="20603"/>
                    <a:pt x="7787" y="20925"/>
                    <a:pt x="7389" y="20925"/>
                  </a:cubicBezTo>
                  <a:lnTo>
                    <a:pt x="720" y="20925"/>
                  </a:lnTo>
                  <a:cubicBezTo>
                    <a:pt x="322" y="20925"/>
                    <a:pt x="0" y="20603"/>
                    <a:pt x="0" y="20205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b.weak/network block 1"/>
            <p:cNvSpPr/>
            <p:nvPr/>
          </p:nvSpPr>
          <p:spPr>
            <a:xfrm>
              <a:off x="11166417" y="900430"/>
              <a:ext cx="102984" cy="354329"/>
            </a:xfrm>
            <a:custGeom>
              <a:avLst/>
              <a:gdLst/>
              <a:ahLst/>
              <a:cxnLst/>
              <a:rect l="0" t="0" r="r" b="b"/>
              <a:pathLst>
                <a:path w="8109" h="27900">
                  <a:moveTo>
                    <a:pt x="720" y="0"/>
                  </a:moveTo>
                  <a:lnTo>
                    <a:pt x="7389" y="0"/>
                  </a:lnTo>
                  <a:cubicBezTo>
                    <a:pt x="7787" y="0"/>
                    <a:pt x="8109" y="322"/>
                    <a:pt x="8109" y="720"/>
                  </a:cubicBezTo>
                  <a:lnTo>
                    <a:pt x="8109" y="27180"/>
                  </a:lnTo>
                  <a:cubicBezTo>
                    <a:pt x="8109" y="27578"/>
                    <a:pt x="7787" y="27900"/>
                    <a:pt x="7389" y="27900"/>
                  </a:cubicBezTo>
                  <a:lnTo>
                    <a:pt x="720" y="27900"/>
                  </a:lnTo>
                  <a:cubicBezTo>
                    <a:pt x="322" y="27900"/>
                    <a:pt x="0" y="27578"/>
                    <a:pt x="0" y="2718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b.weak/network block 2"/>
            <p:cNvSpPr/>
            <p:nvPr/>
          </p:nvSpPr>
          <p:spPr>
            <a:xfrm>
              <a:off x="11317865" y="944721"/>
              <a:ext cx="102984" cy="265747"/>
            </a:xfrm>
            <a:custGeom>
              <a:avLst/>
              <a:gdLst/>
              <a:ahLst/>
              <a:cxnLst/>
              <a:rect l="0" t="0" r="r" b="b"/>
              <a:pathLst>
                <a:path w="8109" h="20925">
                  <a:moveTo>
                    <a:pt x="720" y="0"/>
                  </a:moveTo>
                  <a:lnTo>
                    <a:pt x="7389" y="0"/>
                  </a:lnTo>
                  <a:cubicBezTo>
                    <a:pt x="7787" y="0"/>
                    <a:pt x="8109" y="322"/>
                    <a:pt x="8109" y="720"/>
                  </a:cubicBezTo>
                  <a:lnTo>
                    <a:pt x="8109" y="20205"/>
                  </a:lnTo>
                  <a:cubicBezTo>
                    <a:pt x="8109" y="20603"/>
                    <a:pt x="7787" y="20925"/>
                    <a:pt x="7389" y="20925"/>
                  </a:cubicBezTo>
                  <a:lnTo>
                    <a:pt x="720" y="20925"/>
                  </a:lnTo>
                  <a:cubicBezTo>
                    <a:pt x="322" y="20925"/>
                    <a:pt x="0" y="20603"/>
                    <a:pt x="0" y="20205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b.weak/label"/>
            <p:cNvSpPr txBox="1"/>
            <p:nvPr/>
          </p:nvSpPr>
          <p:spPr>
            <a:xfrm>
              <a:off x="10703560" y="1369060"/>
              <a:ext cx="1028700" cy="2171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2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Weak W</a:t>
              </a:r>
              <a:r>
                <a:rPr sz="122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</a:p>
          </p:txBody>
        </p:sp>
        <p:sp>
          <p:nvSpPr>
            <p:cNvPr id="368" name="b.weak/frozen/white outline"/>
            <p:cNvSpPr/>
            <p:nvPr/>
          </p:nvSpPr>
          <p:spPr>
            <a:xfrm>
              <a:off x="10612120" y="67265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b.weak/frozen/blue crystal"/>
            <p:cNvSpPr/>
            <p:nvPr/>
          </p:nvSpPr>
          <p:spPr>
            <a:xfrm>
              <a:off x="10612120" y="67265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0" name="b.scale"/>
          <p:cNvGrpSpPr/>
          <p:nvPr/>
        </p:nvGrpSpPr>
        <p:grpSpPr>
          <a:xfrm>
            <a:off x="11846560" y="672650"/>
            <a:ext cx="1154429" cy="947870"/>
            <a:chOff x="11846560" y="672650"/>
            <a:chExt cx="1154429" cy="947870"/>
          </a:xfrm>
        </p:grpSpPr>
        <p:sp>
          <p:nvSpPr>
            <p:cNvPr id="371" name="b.scale/box"/>
            <p:cNvSpPr/>
            <p:nvPr/>
          </p:nvSpPr>
          <p:spPr>
            <a:xfrm>
              <a:off x="11903710" y="740410"/>
              <a:ext cx="1097279" cy="880110"/>
            </a:xfrm>
            <a:custGeom>
              <a:avLst/>
              <a:gdLst/>
              <a:ahLst/>
              <a:cxnLst/>
              <a:rect l="0" t="0" r="r" b="b"/>
              <a:pathLst>
                <a:path w="86400" h="69300">
                  <a:moveTo>
                    <a:pt x="7200" y="0"/>
                  </a:moveTo>
                  <a:lnTo>
                    <a:pt x="79200" y="0"/>
                  </a:lnTo>
                  <a:cubicBezTo>
                    <a:pt x="83176" y="0"/>
                    <a:pt x="86400" y="3224"/>
                    <a:pt x="86400" y="7200"/>
                  </a:cubicBezTo>
                  <a:lnTo>
                    <a:pt x="86400" y="62100"/>
                  </a:lnTo>
                  <a:cubicBezTo>
                    <a:pt x="86400" y="66076"/>
                    <a:pt x="83176" y="69300"/>
                    <a:pt x="79200" y="69300"/>
                  </a:cubicBezTo>
                  <a:lnTo>
                    <a:pt x="7200" y="69300"/>
                  </a:lnTo>
                  <a:cubicBezTo>
                    <a:pt x="3224" y="69300"/>
                    <a:pt x="0" y="66076"/>
                    <a:pt x="0" y="621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EAF0F5"/>
            </a:solidFill>
            <a:ln w="8001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b.scale/time axis"/>
            <p:cNvSpPr/>
            <p:nvPr/>
          </p:nvSpPr>
          <p:spPr>
            <a:xfrm>
              <a:off x="12098020" y="1163320"/>
              <a:ext cx="765809" cy="127"/>
            </a:xfrm>
            <a:custGeom>
              <a:avLst/>
              <a:gdLst/>
              <a:ahLst/>
              <a:cxnLst/>
              <a:rect l="0" t="0" r="r" b="b"/>
              <a:pathLst>
                <a:path w="60300" h="10">
                  <a:moveTo>
                    <a:pt x="0" y="0"/>
                  </a:moveTo>
                  <a:lnTo>
                    <a:pt x="60300" y="0"/>
                  </a:lnTo>
                </a:path>
              </a:pathLst>
            </a:custGeom>
            <a:noFill/>
            <a:ln w="7429">
              <a:solidFill>
                <a:srgbClr val="91A0A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b.scale/value axis"/>
            <p:cNvSpPr/>
            <p:nvPr/>
          </p:nvSpPr>
          <p:spPr>
            <a:xfrm>
              <a:off x="12098020" y="854710"/>
              <a:ext cx="127" cy="445769"/>
            </a:xfrm>
            <a:custGeom>
              <a:avLst/>
              <a:gdLst/>
              <a:ahLst/>
              <a:cxnLst/>
              <a:rect l="0" t="0" r="r" b="b"/>
              <a:pathLst>
                <a:path w="10" h="35100">
                  <a:moveTo>
                    <a:pt x="0" y="0"/>
                  </a:moveTo>
                  <a:lnTo>
                    <a:pt x="0" y="35100"/>
                  </a:lnTo>
                </a:path>
              </a:pathLst>
            </a:custGeom>
            <a:noFill/>
            <a:ln w="7429">
              <a:solidFill>
                <a:srgbClr val="91A0A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b.scale/signed schedule"/>
            <p:cNvSpPr/>
            <p:nvPr/>
          </p:nvSpPr>
          <p:spPr>
            <a:xfrm>
              <a:off x="12120880" y="946150"/>
              <a:ext cx="697230" cy="297180"/>
            </a:xfrm>
            <a:custGeom>
              <a:avLst/>
              <a:gdLst/>
              <a:ahLst/>
              <a:cxnLst/>
              <a:rect l="0" t="0" r="r" b="b"/>
              <a:pathLst>
                <a:path w="54900" h="23400">
                  <a:moveTo>
                    <a:pt x="0" y="11700"/>
                  </a:moveTo>
                  <a:lnTo>
                    <a:pt x="10800" y="1170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8100"/>
                  </a:lnTo>
                  <a:lnTo>
                    <a:pt x="32400" y="8100"/>
                  </a:lnTo>
                  <a:lnTo>
                    <a:pt x="32400" y="23400"/>
                  </a:lnTo>
                  <a:lnTo>
                    <a:pt x="43200" y="23400"/>
                  </a:lnTo>
                  <a:lnTo>
                    <a:pt x="43200" y="12600"/>
                  </a:lnTo>
                  <a:lnTo>
                    <a:pt x="54900" y="12600"/>
                  </a:lnTo>
                </a:path>
              </a:pathLst>
            </a:custGeom>
            <a:noFill/>
            <a:ln w="18859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b.scale/label"/>
            <p:cNvSpPr txBox="1"/>
            <p:nvPr/>
          </p:nvSpPr>
          <p:spPr>
            <a:xfrm>
              <a:off x="11938000" y="1369060"/>
              <a:ext cx="1028700" cy="2171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2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Scale a</a:t>
              </a:r>
              <a:r>
                <a:rPr sz="122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</a:p>
          </p:txBody>
        </p:sp>
        <p:sp>
          <p:nvSpPr>
            <p:cNvPr id="376" name="b.scale/frozen/white outline"/>
            <p:cNvSpPr/>
            <p:nvPr/>
          </p:nvSpPr>
          <p:spPr>
            <a:xfrm>
              <a:off x="11846560" y="67265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b.scale/frozen/blue crystal"/>
            <p:cNvSpPr/>
            <p:nvPr/>
          </p:nvSpPr>
          <p:spPr>
            <a:xfrm>
              <a:off x="11846560" y="67265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8" name="b.merge"/>
          <p:cNvGrpSpPr/>
          <p:nvPr/>
        </p:nvGrpSpPr>
        <p:grpSpPr>
          <a:xfrm>
            <a:off x="9972040" y="1620520"/>
            <a:ext cx="2480437" cy="240030"/>
            <a:chOff x="9972040" y="1620520"/>
            <a:chExt cx="2480437" cy="240030"/>
          </a:xfrm>
        </p:grpSpPr>
        <p:sp>
          <p:nvSpPr>
            <p:cNvPr id="379" name="b.merge/228"/>
            <p:cNvSpPr/>
            <p:nvPr/>
          </p:nvSpPr>
          <p:spPr>
            <a:xfrm>
              <a:off x="9972040" y="1620520"/>
              <a:ext cx="127" cy="148590"/>
            </a:xfrm>
            <a:custGeom>
              <a:avLst/>
              <a:gdLst/>
              <a:ahLst/>
              <a:cxnLst/>
              <a:rect l="0" t="0" r="r" b="b"/>
              <a:pathLst>
                <a:path w="10" h="11700">
                  <a:moveTo>
                    <a:pt x="0" y="0"/>
                  </a:moveTo>
                  <a:lnTo>
                    <a:pt x="0" y="1170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b.merge/337"/>
            <p:cNvSpPr/>
            <p:nvPr/>
          </p:nvSpPr>
          <p:spPr>
            <a:xfrm>
              <a:off x="11217910" y="1620520"/>
              <a:ext cx="127" cy="148590"/>
            </a:xfrm>
            <a:custGeom>
              <a:avLst/>
              <a:gdLst/>
              <a:ahLst/>
              <a:cxnLst/>
              <a:rect l="0" t="0" r="r" b="b"/>
              <a:pathLst>
                <a:path w="10" h="11700">
                  <a:moveTo>
                    <a:pt x="0" y="0"/>
                  </a:moveTo>
                  <a:lnTo>
                    <a:pt x="0" y="1170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b.merge/445"/>
            <p:cNvSpPr/>
            <p:nvPr/>
          </p:nvSpPr>
          <p:spPr>
            <a:xfrm>
              <a:off x="12452350" y="1620520"/>
              <a:ext cx="127" cy="148590"/>
            </a:xfrm>
            <a:custGeom>
              <a:avLst/>
              <a:gdLst/>
              <a:ahLst/>
              <a:cxnLst/>
              <a:rect l="0" t="0" r="r" b="b"/>
              <a:pathLst>
                <a:path w="10" h="11700">
                  <a:moveTo>
                    <a:pt x="0" y="0"/>
                  </a:moveTo>
                  <a:lnTo>
                    <a:pt x="0" y="1170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b.merge/bus"/>
            <p:cNvSpPr/>
            <p:nvPr/>
          </p:nvSpPr>
          <p:spPr>
            <a:xfrm>
              <a:off x="9972040" y="1769110"/>
              <a:ext cx="2480309" cy="127"/>
            </a:xfrm>
            <a:custGeom>
              <a:avLst/>
              <a:gdLst/>
              <a:ahLst/>
              <a:cxnLst/>
              <a:rect l="0" t="0" r="r" b="b"/>
              <a:pathLst>
                <a:path w="195300" h="10">
                  <a:moveTo>
                    <a:pt x="0" y="0"/>
                  </a:moveTo>
                  <a:lnTo>
                    <a:pt x="195300" y="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b.merge/output"/>
            <p:cNvSpPr/>
            <p:nvPr/>
          </p:nvSpPr>
          <p:spPr>
            <a:xfrm>
              <a:off x="11217910" y="1769110"/>
              <a:ext cx="127" cy="91439"/>
            </a:xfrm>
            <a:custGeom>
              <a:avLst/>
              <a:gdLst/>
              <a:ahLst/>
              <a:cxnLst/>
              <a:rect l="0" t="0" r="r" b="b"/>
              <a:pathLst>
                <a:path w="10" h="7200">
                  <a:moveTo>
                    <a:pt x="0" y="0"/>
                  </a:moveTo>
                  <a:lnTo>
                    <a:pt x="0" y="7200"/>
                  </a:lnTo>
                </a:path>
              </a:pathLst>
            </a:custGeom>
            <a:noFill/>
            <a:ln w="13144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b.merge/output head"/>
            <p:cNvSpPr/>
            <p:nvPr/>
          </p:nvSpPr>
          <p:spPr>
            <a:xfrm>
              <a:off x="11187049" y="1791970"/>
              <a:ext cx="61722" cy="68580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b.sampler"/>
          <p:cNvGrpSpPr/>
          <p:nvPr/>
        </p:nvGrpSpPr>
        <p:grpSpPr>
          <a:xfrm>
            <a:off x="9423400" y="1860550"/>
            <a:ext cx="3566160" cy="640080"/>
            <a:chOff x="9423400" y="1860550"/>
            <a:chExt cx="3566160" cy="640080"/>
          </a:xfrm>
        </p:grpSpPr>
        <p:sp>
          <p:nvSpPr>
            <p:cNvPr id="386" name="b.sampler/guided prediction"/>
            <p:cNvSpPr txBox="1"/>
            <p:nvPr/>
          </p:nvSpPr>
          <p:spPr>
            <a:xfrm>
              <a:off x="9423400" y="1860550"/>
              <a:ext cx="3566160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9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S + a</a:t>
              </a:r>
              <a:r>
                <a:rPr sz="149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  <a:r>
                <a:rPr sz="149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(t)(S − W</a:t>
              </a:r>
              <a:r>
                <a:rPr sz="1494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  <a:r>
                <a:rPr sz="1494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)</a:t>
              </a:r>
            </a:p>
          </p:txBody>
        </p:sp>
        <p:sp>
          <p:nvSpPr>
            <p:cNvPr id="387" name="b.sampler/noise state"/>
            <p:cNvSpPr txBox="1"/>
            <p:nvPr/>
          </p:nvSpPr>
          <p:spPr>
            <a:xfrm>
              <a:off x="9537700" y="2226310"/>
              <a:ext cx="36576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77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z</a:t>
              </a:r>
            </a:p>
          </p:txBody>
        </p:sp>
        <p:sp>
          <p:nvSpPr>
            <p:cNvPr id="388" name="b.sampler/middle state"/>
            <p:cNvSpPr txBox="1"/>
            <p:nvPr/>
          </p:nvSpPr>
          <p:spPr>
            <a:xfrm>
              <a:off x="10955020" y="2226310"/>
              <a:ext cx="48006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77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377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t</a:t>
              </a:r>
            </a:p>
          </p:txBody>
        </p:sp>
        <p:sp>
          <p:nvSpPr>
            <p:cNvPr id="389" name="b.sampler/final state"/>
            <p:cNvSpPr txBox="1"/>
            <p:nvPr/>
          </p:nvSpPr>
          <p:spPr>
            <a:xfrm>
              <a:off x="12212320" y="2226310"/>
              <a:ext cx="51435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77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377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</a:p>
          </p:txBody>
        </p:sp>
      </p:grpSp>
      <p:grpSp>
        <p:nvGrpSpPr>
          <p:cNvPr id="390" name="b.trajectory"/>
          <p:cNvGrpSpPr/>
          <p:nvPr/>
        </p:nvGrpSpPr>
        <p:grpSpPr>
          <a:xfrm>
            <a:off x="9937750" y="2332609"/>
            <a:ext cx="2217420" cy="61721"/>
            <a:chOff x="9937750" y="2332609"/>
            <a:chExt cx="2217420" cy="61721"/>
          </a:xfrm>
        </p:grpSpPr>
        <p:sp>
          <p:nvSpPr>
            <p:cNvPr id="391" name="b.trajectory/early"/>
            <p:cNvSpPr/>
            <p:nvPr/>
          </p:nvSpPr>
          <p:spPr>
            <a:xfrm>
              <a:off x="9937750" y="2363470"/>
              <a:ext cx="948690" cy="127"/>
            </a:xfrm>
            <a:custGeom>
              <a:avLst/>
              <a:gdLst/>
              <a:ahLst/>
              <a:cxnLst/>
              <a:rect l="0" t="0" r="r" b="b"/>
              <a:pathLst>
                <a:path w="74700" h="10">
                  <a:moveTo>
                    <a:pt x="0" y="0"/>
                  </a:moveTo>
                  <a:lnTo>
                    <a:pt x="74700" y="0"/>
                  </a:lnTo>
                </a:path>
              </a:pathLst>
            </a:custGeom>
            <a:noFill/>
            <a:ln w="14859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b.trajectory/early head"/>
            <p:cNvSpPr/>
            <p:nvPr/>
          </p:nvSpPr>
          <p:spPr>
            <a:xfrm>
              <a:off x="10817860" y="2332609"/>
              <a:ext cx="68579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b.trajectory/late"/>
            <p:cNvSpPr/>
            <p:nvPr/>
          </p:nvSpPr>
          <p:spPr>
            <a:xfrm>
              <a:off x="11492230" y="2363470"/>
              <a:ext cx="662940" cy="127"/>
            </a:xfrm>
            <a:custGeom>
              <a:avLst/>
              <a:gdLst/>
              <a:ahLst/>
              <a:cxnLst/>
              <a:rect l="0" t="0" r="r" b="b"/>
              <a:pathLst>
                <a:path w="52200" h="10">
                  <a:moveTo>
                    <a:pt x="0" y="0"/>
                  </a:moveTo>
                  <a:lnTo>
                    <a:pt x="52200" y="0"/>
                  </a:lnTo>
                </a:path>
              </a:pathLst>
            </a:custGeom>
            <a:noFill/>
            <a:ln w="14859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b.trajectory/late head"/>
            <p:cNvSpPr/>
            <p:nvPr/>
          </p:nvSpPr>
          <p:spPr>
            <a:xfrm>
              <a:off x="12086590" y="2332609"/>
              <a:ext cx="68579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5" name="b.noise"/>
          <p:cNvGrpSpPr/>
          <p:nvPr/>
        </p:nvGrpSpPr>
        <p:grpSpPr>
          <a:xfrm>
            <a:off x="8017510" y="728980"/>
            <a:ext cx="937260" cy="754380"/>
            <a:chOff x="8017510" y="728980"/>
            <a:chExt cx="937260" cy="754380"/>
          </a:xfrm>
        </p:grpSpPr>
        <p:pic>
          <p:nvPicPr>
            <p:cNvPr id="396" name="b.noise/texture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20380" y="728980"/>
              <a:ext cx="731520" cy="434340"/>
            </a:xfrm>
            <a:prstGeom prst="rect">
              <a:avLst/>
            </a:prstGeom>
          </p:spPr>
        </p:pic>
        <p:sp>
          <p:nvSpPr>
            <p:cNvPr id="397" name="b.noise/label"/>
            <p:cNvSpPr txBox="1"/>
            <p:nvPr/>
          </p:nvSpPr>
          <p:spPr>
            <a:xfrm>
              <a:off x="8017510" y="1209040"/>
              <a:ext cx="93726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68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Noise z</a:t>
              </a:r>
            </a:p>
          </p:txBody>
        </p:sp>
      </p:grpSp>
      <p:grpSp>
        <p:nvGrpSpPr>
          <p:cNvPr id="398" name="b.input"/>
          <p:cNvGrpSpPr/>
          <p:nvPr/>
        </p:nvGrpSpPr>
        <p:grpSpPr>
          <a:xfrm>
            <a:off x="8086090" y="926719"/>
            <a:ext cx="1165860" cy="1551051"/>
            <a:chOff x="8086090" y="926719"/>
            <a:chExt cx="1165860" cy="1551051"/>
          </a:xfrm>
        </p:grpSpPr>
        <p:sp>
          <p:nvSpPr>
            <p:cNvPr id="399" name="b.input/noise"/>
            <p:cNvSpPr/>
            <p:nvPr/>
          </p:nvSpPr>
          <p:spPr>
            <a:xfrm>
              <a:off x="8863330" y="957580"/>
              <a:ext cx="388620" cy="127"/>
            </a:xfrm>
            <a:custGeom>
              <a:avLst/>
              <a:gdLst/>
              <a:ahLst/>
              <a:cxnLst/>
              <a:rect l="0" t="0" r="r" b="b"/>
              <a:pathLst>
                <a:path w="30600" h="10">
                  <a:moveTo>
                    <a:pt x="0" y="0"/>
                  </a:moveTo>
                  <a:lnTo>
                    <a:pt x="30600" y="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b.input/noise head"/>
            <p:cNvSpPr/>
            <p:nvPr/>
          </p:nvSpPr>
          <p:spPr>
            <a:xfrm>
              <a:off x="9183370" y="926719"/>
              <a:ext cx="68579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b.input/class"/>
            <p:cNvSpPr txBox="1"/>
            <p:nvPr/>
          </p:nvSpPr>
          <p:spPr>
            <a:xfrm>
              <a:off x="8086090" y="2192020"/>
              <a:ext cx="834390" cy="2857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68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Class c</a:t>
              </a:r>
            </a:p>
          </p:txBody>
        </p:sp>
        <p:sp>
          <p:nvSpPr>
            <p:cNvPr id="402" name="b.input/class edge"/>
            <p:cNvSpPr/>
            <p:nvPr/>
          </p:nvSpPr>
          <p:spPr>
            <a:xfrm>
              <a:off x="8931910" y="2363470"/>
              <a:ext cx="320039" cy="127"/>
            </a:xfrm>
            <a:custGeom>
              <a:avLst/>
              <a:gdLst/>
              <a:ahLst/>
              <a:cxnLst/>
              <a:rect l="0" t="0" r="r" b="b"/>
              <a:pathLst>
                <a:path w="25200" h="10">
                  <a:moveTo>
                    <a:pt x="0" y="0"/>
                  </a:moveTo>
                  <a:lnTo>
                    <a:pt x="25200" y="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b.input/class edge head"/>
            <p:cNvSpPr/>
            <p:nvPr/>
          </p:nvSpPr>
          <p:spPr>
            <a:xfrm>
              <a:off x="9183370" y="2332609"/>
              <a:ext cx="68579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4" name="b.output"/>
          <p:cNvGrpSpPr/>
          <p:nvPr/>
        </p:nvGrpSpPr>
        <p:grpSpPr>
          <a:xfrm>
            <a:off x="12444349" y="2512060"/>
            <a:ext cx="61722" cy="354330"/>
            <a:chOff x="12444349" y="2512060"/>
            <a:chExt cx="61722" cy="354330"/>
          </a:xfrm>
        </p:grpSpPr>
        <p:sp>
          <p:nvSpPr>
            <p:cNvPr id="405" name="b.output/endpoint"/>
            <p:cNvSpPr/>
            <p:nvPr/>
          </p:nvSpPr>
          <p:spPr>
            <a:xfrm>
              <a:off x="12475210" y="2512060"/>
              <a:ext cx="127" cy="354330"/>
            </a:xfrm>
            <a:custGeom>
              <a:avLst/>
              <a:gdLst/>
              <a:ahLst/>
              <a:cxnLst/>
              <a:rect l="0" t="0" r="r" b="b"/>
              <a:pathLst>
                <a:path w="10" h="27900">
                  <a:moveTo>
                    <a:pt x="0" y="0"/>
                  </a:moveTo>
                  <a:lnTo>
                    <a:pt x="0" y="2790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b.output/endpoint head"/>
            <p:cNvSpPr/>
            <p:nvPr/>
          </p:nvSpPr>
          <p:spPr>
            <a:xfrm>
              <a:off x="12444349" y="2797810"/>
              <a:ext cx="61722" cy="68580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7" name="b.decode"/>
          <p:cNvGrpSpPr/>
          <p:nvPr/>
        </p:nvGrpSpPr>
        <p:grpSpPr>
          <a:xfrm>
            <a:off x="11732260" y="2798630"/>
            <a:ext cx="1417320" cy="422089"/>
            <a:chOff x="11732260" y="2798630"/>
            <a:chExt cx="1417320" cy="422089"/>
          </a:xfrm>
        </p:grpSpPr>
        <p:sp>
          <p:nvSpPr>
            <p:cNvPr id="408" name="b.decode/box"/>
            <p:cNvSpPr/>
            <p:nvPr/>
          </p:nvSpPr>
          <p:spPr>
            <a:xfrm>
              <a:off x="11789410" y="2866390"/>
              <a:ext cx="1360170" cy="354329"/>
            </a:xfrm>
            <a:custGeom>
              <a:avLst/>
              <a:gdLst/>
              <a:ahLst/>
              <a:cxnLst/>
              <a:rect l="0" t="0" r="r" b="b"/>
              <a:pathLst>
                <a:path w="107100" h="27900">
                  <a:moveTo>
                    <a:pt x="7200" y="0"/>
                  </a:moveTo>
                  <a:lnTo>
                    <a:pt x="99900" y="0"/>
                  </a:lnTo>
                  <a:cubicBezTo>
                    <a:pt x="103876" y="0"/>
                    <a:pt x="107100" y="3224"/>
                    <a:pt x="107100" y="7200"/>
                  </a:cubicBezTo>
                  <a:lnTo>
                    <a:pt x="107100" y="20700"/>
                  </a:lnTo>
                  <a:cubicBezTo>
                    <a:pt x="107100" y="24676"/>
                    <a:pt x="103876" y="27900"/>
                    <a:pt x="99900" y="27900"/>
                  </a:cubicBezTo>
                  <a:lnTo>
                    <a:pt x="7200" y="27900"/>
                  </a:lnTo>
                  <a:cubicBezTo>
                    <a:pt x="3224" y="27900"/>
                    <a:pt x="0" y="24676"/>
                    <a:pt x="0" y="207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EAF0F5"/>
            </a:solidFill>
            <a:ln w="8001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b.decode/label"/>
            <p:cNvSpPr txBox="1"/>
            <p:nvPr/>
          </p:nvSpPr>
          <p:spPr>
            <a:xfrm>
              <a:off x="11835130" y="2889250"/>
              <a:ext cx="1268730" cy="3086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0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VAE decode</a:t>
              </a:r>
            </a:p>
          </p:txBody>
        </p:sp>
        <p:sp>
          <p:nvSpPr>
            <p:cNvPr id="410" name="b.decode/frozen/white outline"/>
            <p:cNvSpPr/>
            <p:nvPr/>
          </p:nvSpPr>
          <p:spPr>
            <a:xfrm>
              <a:off x="11732260" y="279863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b.decode/frozen/blue crystal"/>
            <p:cNvSpPr/>
            <p:nvPr/>
          </p:nvSpPr>
          <p:spPr>
            <a:xfrm>
              <a:off x="11732260" y="2798630"/>
              <a:ext cx="182879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2" name="b.output"/>
          <p:cNvGrpSpPr/>
          <p:nvPr/>
        </p:nvGrpSpPr>
        <p:grpSpPr>
          <a:xfrm>
            <a:off x="12444349" y="3220720"/>
            <a:ext cx="61722" cy="182880"/>
            <a:chOff x="12444349" y="3220720"/>
            <a:chExt cx="61722" cy="182880"/>
          </a:xfrm>
        </p:grpSpPr>
        <p:sp>
          <p:nvSpPr>
            <p:cNvPr id="413" name="b.output/rgb"/>
            <p:cNvSpPr/>
            <p:nvPr/>
          </p:nvSpPr>
          <p:spPr>
            <a:xfrm>
              <a:off x="12475210" y="3220720"/>
              <a:ext cx="127" cy="182880"/>
            </a:xfrm>
            <a:custGeom>
              <a:avLst/>
              <a:gdLst/>
              <a:ahLst/>
              <a:cxnLst/>
              <a:rect l="0" t="0" r="r" b="b"/>
              <a:pathLst>
                <a:path w="10" h="14400">
                  <a:moveTo>
                    <a:pt x="0" y="0"/>
                  </a:moveTo>
                  <a:lnTo>
                    <a:pt x="0" y="1440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b.output/rgb head"/>
            <p:cNvSpPr/>
            <p:nvPr/>
          </p:nvSpPr>
          <p:spPr>
            <a:xfrm>
              <a:off x="12444349" y="3335020"/>
              <a:ext cx="61722" cy="68579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5" name="b.real"/>
          <p:cNvGrpSpPr/>
          <p:nvPr/>
        </p:nvGrpSpPr>
        <p:grpSpPr>
          <a:xfrm>
            <a:off x="8383270" y="3403600"/>
            <a:ext cx="1531620" cy="617220"/>
            <a:chOff x="8383270" y="3403600"/>
            <a:chExt cx="1531620" cy="617220"/>
          </a:xfrm>
        </p:grpSpPr>
        <p:sp>
          <p:nvSpPr>
            <p:cNvPr id="416" name="b.real/box"/>
            <p:cNvSpPr/>
            <p:nvPr/>
          </p:nvSpPr>
          <p:spPr>
            <a:xfrm>
              <a:off x="8383270" y="3403600"/>
              <a:ext cx="1531620" cy="617220"/>
            </a:xfrm>
            <a:custGeom>
              <a:avLst/>
              <a:gdLst/>
              <a:ahLst/>
              <a:cxnLst/>
              <a:rect l="0" t="0" r="r" b="b"/>
              <a:pathLst>
                <a:path w="120600" h="48600">
                  <a:moveTo>
                    <a:pt x="7200" y="0"/>
                  </a:moveTo>
                  <a:lnTo>
                    <a:pt x="113400" y="0"/>
                  </a:lnTo>
                  <a:cubicBezTo>
                    <a:pt x="117376" y="0"/>
                    <a:pt x="120600" y="3224"/>
                    <a:pt x="120600" y="7200"/>
                  </a:cubicBezTo>
                  <a:lnTo>
                    <a:pt x="120600" y="41400"/>
                  </a:lnTo>
                  <a:cubicBezTo>
                    <a:pt x="120600" y="45376"/>
                    <a:pt x="117376" y="48600"/>
                    <a:pt x="113400" y="48600"/>
                  </a:cubicBezTo>
                  <a:lnTo>
                    <a:pt x="7200" y="48600"/>
                  </a:lnTo>
                  <a:cubicBezTo>
                    <a:pt x="3224" y="48600"/>
                    <a:pt x="0" y="45376"/>
                    <a:pt x="0" y="414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FFFFFF"/>
            </a:solidFill>
            <a:ln w="1714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b.real/sample 0"/>
            <p:cNvSpPr/>
            <p:nvPr/>
          </p:nvSpPr>
          <p:spPr>
            <a:xfrm>
              <a:off x="853186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b.real/sample 1"/>
            <p:cNvSpPr/>
            <p:nvPr/>
          </p:nvSpPr>
          <p:spPr>
            <a:xfrm>
              <a:off x="880618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b.real/sample 2"/>
            <p:cNvSpPr/>
            <p:nvPr/>
          </p:nvSpPr>
          <p:spPr>
            <a:xfrm>
              <a:off x="908050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b.real/sample 3"/>
            <p:cNvSpPr/>
            <p:nvPr/>
          </p:nvSpPr>
          <p:spPr>
            <a:xfrm>
              <a:off x="935482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b.real/sample 4"/>
            <p:cNvSpPr/>
            <p:nvPr/>
          </p:nvSpPr>
          <p:spPr>
            <a:xfrm>
              <a:off x="9629140" y="3529330"/>
              <a:ext cx="137160" cy="13716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b.real/label"/>
            <p:cNvSpPr txBox="1"/>
            <p:nvPr/>
          </p:nvSpPr>
          <p:spPr>
            <a:xfrm>
              <a:off x="8406130" y="3746500"/>
              <a:ext cx="1485900" cy="2400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87" b="0" i="0">
                  <a:solidFill>
                    <a:srgbClr val="C56C60"/>
                  </a:solidFill>
                  <a:latin typeface="Liberation Sans"/>
                  <a:ea typeface="Liberation Sans"/>
                  <a:cs typeface="Liberation Sans"/>
                </a:rPr>
                <a:t>Real x</a:t>
              </a:r>
              <a:r>
                <a:rPr sz="1287" b="0" i="0" baseline="-25000">
                  <a:solidFill>
                    <a:srgbClr val="C56C60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</a:p>
          </p:txBody>
        </p:sp>
      </p:grpSp>
      <p:grpSp>
        <p:nvGrpSpPr>
          <p:cNvPr id="423" name="b.fake"/>
          <p:cNvGrpSpPr/>
          <p:nvPr/>
        </p:nvGrpSpPr>
        <p:grpSpPr>
          <a:xfrm>
            <a:off x="11629390" y="3403600"/>
            <a:ext cx="1531620" cy="617220"/>
            <a:chOff x="11629390" y="3403600"/>
            <a:chExt cx="1531620" cy="617220"/>
          </a:xfrm>
        </p:grpSpPr>
        <p:sp>
          <p:nvSpPr>
            <p:cNvPr id="424" name="b.fake/box"/>
            <p:cNvSpPr/>
            <p:nvPr/>
          </p:nvSpPr>
          <p:spPr>
            <a:xfrm>
              <a:off x="11629390" y="3403600"/>
              <a:ext cx="1531620" cy="617220"/>
            </a:xfrm>
            <a:custGeom>
              <a:avLst/>
              <a:gdLst/>
              <a:ahLst/>
              <a:cxnLst/>
              <a:rect l="0" t="0" r="r" b="b"/>
              <a:pathLst>
                <a:path w="120600" h="48600">
                  <a:moveTo>
                    <a:pt x="7200" y="0"/>
                  </a:moveTo>
                  <a:lnTo>
                    <a:pt x="113400" y="0"/>
                  </a:lnTo>
                  <a:cubicBezTo>
                    <a:pt x="117376" y="0"/>
                    <a:pt x="120600" y="3224"/>
                    <a:pt x="120600" y="7200"/>
                  </a:cubicBezTo>
                  <a:lnTo>
                    <a:pt x="120600" y="41400"/>
                  </a:lnTo>
                  <a:cubicBezTo>
                    <a:pt x="120600" y="45376"/>
                    <a:pt x="117376" y="48600"/>
                    <a:pt x="113400" y="48600"/>
                  </a:cubicBezTo>
                  <a:lnTo>
                    <a:pt x="7200" y="48600"/>
                  </a:lnTo>
                  <a:cubicBezTo>
                    <a:pt x="3224" y="48600"/>
                    <a:pt x="0" y="45376"/>
                    <a:pt x="0" y="414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FFFFFF"/>
            </a:solidFill>
            <a:ln w="1714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b.fake/sample 0"/>
            <p:cNvSpPr/>
            <p:nvPr/>
          </p:nvSpPr>
          <p:spPr>
            <a:xfrm>
              <a:off x="1177798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b.fake/sample 1"/>
            <p:cNvSpPr/>
            <p:nvPr/>
          </p:nvSpPr>
          <p:spPr>
            <a:xfrm>
              <a:off x="1205230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b.fake/sample 2"/>
            <p:cNvSpPr/>
            <p:nvPr/>
          </p:nvSpPr>
          <p:spPr>
            <a:xfrm>
              <a:off x="1232662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b.fake/sample 3"/>
            <p:cNvSpPr/>
            <p:nvPr/>
          </p:nvSpPr>
          <p:spPr>
            <a:xfrm>
              <a:off x="1260094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b.fake/sample 4"/>
            <p:cNvSpPr/>
            <p:nvPr/>
          </p:nvSpPr>
          <p:spPr>
            <a:xfrm>
              <a:off x="12875260" y="3529330"/>
              <a:ext cx="137160" cy="13716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b.fake/label"/>
            <p:cNvSpPr txBox="1"/>
            <p:nvPr/>
          </p:nvSpPr>
          <p:spPr>
            <a:xfrm>
              <a:off x="11652250" y="3746500"/>
              <a:ext cx="1485900" cy="2400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87" b="0" i="0">
                  <a:solidFill>
                    <a:srgbClr val="5E8DB5"/>
                  </a:solidFill>
                  <a:latin typeface="Liberation Sans"/>
                  <a:ea typeface="Liberation Sans"/>
                  <a:cs typeface="Liberation Sans"/>
                </a:rPr>
                <a:t>Fake x</a:t>
              </a:r>
              <a:r>
                <a:rPr sz="1287" b="0" i="0" baseline="-25000">
                  <a:solidFill>
                    <a:srgbClr val="5E8DB5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</a:p>
          </p:txBody>
        </p:sp>
      </p:grpSp>
      <p:grpSp>
        <p:nvGrpSpPr>
          <p:cNvPr id="431" name="b.inputs"/>
          <p:cNvGrpSpPr/>
          <p:nvPr/>
        </p:nvGrpSpPr>
        <p:grpSpPr>
          <a:xfrm>
            <a:off x="9149080" y="4020820"/>
            <a:ext cx="3246119" cy="365760"/>
            <a:chOff x="9149080" y="4020820"/>
            <a:chExt cx="3246119" cy="365760"/>
          </a:xfrm>
        </p:grpSpPr>
        <p:sp>
          <p:nvSpPr>
            <p:cNvPr id="432" name="b.inputs/real"/>
            <p:cNvSpPr/>
            <p:nvPr/>
          </p:nvSpPr>
          <p:spPr>
            <a:xfrm>
              <a:off x="9149080" y="4020820"/>
              <a:ext cx="2663190" cy="194310"/>
            </a:xfrm>
            <a:custGeom>
              <a:avLst/>
              <a:gdLst/>
              <a:ahLst/>
              <a:cxnLst/>
              <a:rect l="0" t="0" r="r" b="b"/>
              <a:pathLst>
                <a:path w="209700" h="15300">
                  <a:moveTo>
                    <a:pt x="0" y="0"/>
                  </a:moveTo>
                  <a:lnTo>
                    <a:pt x="0" y="15300"/>
                  </a:lnTo>
                  <a:lnTo>
                    <a:pt x="209700" y="15300"/>
                  </a:lnTo>
                </a:path>
              </a:pathLst>
            </a:custGeom>
            <a:noFill/>
            <a:ln w="16002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b.inputs/fake"/>
            <p:cNvSpPr/>
            <p:nvPr/>
          </p:nvSpPr>
          <p:spPr>
            <a:xfrm>
              <a:off x="11812270" y="4020820"/>
              <a:ext cx="582929" cy="365760"/>
            </a:xfrm>
            <a:custGeom>
              <a:avLst/>
              <a:gdLst/>
              <a:ahLst/>
              <a:cxnLst/>
              <a:rect l="0" t="0" r="r" b="b"/>
              <a:pathLst>
                <a:path w="45900" h="28800">
                  <a:moveTo>
                    <a:pt x="45900" y="0"/>
                  </a:moveTo>
                  <a:lnTo>
                    <a:pt x="45900" y="15300"/>
                  </a:lnTo>
                  <a:lnTo>
                    <a:pt x="0" y="15300"/>
                  </a:lnTo>
                  <a:lnTo>
                    <a:pt x="0" y="28800"/>
                  </a:lnTo>
                </a:path>
              </a:pathLst>
            </a:custGeom>
            <a:noFill/>
            <a:ln w="16002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b.inputs/fake head"/>
            <p:cNvSpPr/>
            <p:nvPr/>
          </p:nvSpPr>
          <p:spPr>
            <a:xfrm>
              <a:off x="11781409" y="4318000"/>
              <a:ext cx="61722" cy="68580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5" name="b.detach"/>
          <p:cNvGrpSpPr/>
          <p:nvPr/>
        </p:nvGrpSpPr>
        <p:grpSpPr>
          <a:xfrm>
            <a:off x="12326620" y="3986530"/>
            <a:ext cx="891540" cy="251460"/>
            <a:chOff x="12326620" y="3986530"/>
            <a:chExt cx="891540" cy="251460"/>
          </a:xfrm>
        </p:grpSpPr>
        <p:sp>
          <p:nvSpPr>
            <p:cNvPr id="436" name="b.detach/gate"/>
            <p:cNvSpPr/>
            <p:nvPr/>
          </p:nvSpPr>
          <p:spPr>
            <a:xfrm>
              <a:off x="12326620" y="4123690"/>
              <a:ext cx="137159" cy="127"/>
            </a:xfrm>
            <a:custGeom>
              <a:avLst/>
              <a:gdLst/>
              <a:ahLst/>
              <a:cxnLst/>
              <a:rect l="0" t="0" r="r" b="b"/>
              <a:pathLst>
                <a:path w="10800" h="10">
                  <a:moveTo>
                    <a:pt x="0" y="0"/>
                  </a:moveTo>
                  <a:lnTo>
                    <a:pt x="10800" y="0"/>
                  </a:lnTo>
                </a:path>
              </a:pathLst>
            </a:custGeom>
            <a:noFill/>
            <a:ln w="26288">
              <a:solidFill>
                <a:srgbClr val="B864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b.detach/label"/>
            <p:cNvSpPr txBox="1"/>
            <p:nvPr/>
          </p:nvSpPr>
          <p:spPr>
            <a:xfrm>
              <a:off x="12498070" y="3986530"/>
              <a:ext cx="720090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035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stop grad.</a:t>
              </a:r>
            </a:p>
          </p:txBody>
        </p:sp>
      </p:grpSp>
      <p:grpSp>
        <p:nvGrpSpPr>
          <p:cNvPr id="438" name="b.features"/>
          <p:cNvGrpSpPr/>
          <p:nvPr/>
        </p:nvGrpSpPr>
        <p:grpSpPr>
          <a:xfrm>
            <a:off x="10463530" y="4318820"/>
            <a:ext cx="2640330" cy="845000"/>
            <a:chOff x="10463530" y="4318820"/>
            <a:chExt cx="2640330" cy="845000"/>
          </a:xfrm>
        </p:grpSpPr>
        <p:sp>
          <p:nvSpPr>
            <p:cNvPr id="439" name="b.features/box"/>
            <p:cNvSpPr/>
            <p:nvPr/>
          </p:nvSpPr>
          <p:spPr>
            <a:xfrm>
              <a:off x="10520680" y="4386580"/>
              <a:ext cx="2583180" cy="514350"/>
            </a:xfrm>
            <a:custGeom>
              <a:avLst/>
              <a:gdLst/>
              <a:ahLst/>
              <a:cxnLst/>
              <a:rect l="0" t="0" r="r" b="b"/>
              <a:pathLst>
                <a:path w="203400" h="40500">
                  <a:moveTo>
                    <a:pt x="7200" y="0"/>
                  </a:moveTo>
                  <a:lnTo>
                    <a:pt x="196200" y="0"/>
                  </a:lnTo>
                  <a:cubicBezTo>
                    <a:pt x="200176" y="0"/>
                    <a:pt x="203400" y="3224"/>
                    <a:pt x="203400" y="7200"/>
                  </a:cubicBezTo>
                  <a:lnTo>
                    <a:pt x="203400" y="33300"/>
                  </a:lnTo>
                  <a:cubicBezTo>
                    <a:pt x="203400" y="37276"/>
                    <a:pt x="200176" y="40500"/>
                    <a:pt x="196200" y="40500"/>
                  </a:cubicBezTo>
                  <a:lnTo>
                    <a:pt x="7200" y="40500"/>
                  </a:lnTo>
                  <a:cubicBezTo>
                    <a:pt x="3224" y="40500"/>
                    <a:pt x="0" y="37276"/>
                    <a:pt x="0" y="333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EAF0F5"/>
            </a:solidFill>
            <a:ln w="8001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b.features/label"/>
            <p:cNvSpPr txBox="1"/>
            <p:nvPr/>
          </p:nvSpPr>
          <p:spPr>
            <a:xfrm>
              <a:off x="10566400" y="4409440"/>
              <a:ext cx="2491740" cy="4686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7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/>
              </a:r>
            </a:p>
          </p:txBody>
        </p:sp>
        <p:sp>
          <p:nvSpPr>
            <p:cNvPr id="441" name="b.features/frozen/white outline"/>
            <p:cNvSpPr/>
            <p:nvPr/>
          </p:nvSpPr>
          <p:spPr>
            <a:xfrm>
              <a:off x="10463530" y="4318820"/>
              <a:ext cx="182880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b.features/frozen/blue crystal"/>
            <p:cNvSpPr/>
            <p:nvPr/>
          </p:nvSpPr>
          <p:spPr>
            <a:xfrm>
              <a:off x="10463530" y="4318820"/>
              <a:ext cx="182880" cy="158378"/>
            </a:xfrm>
            <a:custGeom>
              <a:avLst/>
              <a:gdLst/>
              <a:ahLst/>
              <a:cxnLst/>
              <a:rect l="0" t="0" r="r" b="b"/>
              <a:pathLst>
                <a:path w="14400" h="12471">
                  <a:moveTo>
                    <a:pt x="7200" y="6235"/>
                  </a:moveTo>
                  <a:lnTo>
                    <a:pt x="14400" y="6235"/>
                  </a:lnTo>
                  <a:moveTo>
                    <a:pt x="11016" y="6235"/>
                  </a:moveTo>
                  <a:lnTo>
                    <a:pt x="9360" y="4579"/>
                  </a:lnTo>
                  <a:moveTo>
                    <a:pt x="11016" y="6235"/>
                  </a:moveTo>
                  <a:lnTo>
                    <a:pt x="9360" y="7891"/>
                  </a:lnTo>
                  <a:moveTo>
                    <a:pt x="12672" y="6235"/>
                  </a:moveTo>
                  <a:lnTo>
                    <a:pt x="11016" y="4579"/>
                  </a:lnTo>
                  <a:moveTo>
                    <a:pt x="12672" y="6235"/>
                  </a:moveTo>
                  <a:lnTo>
                    <a:pt x="11016" y="7891"/>
                  </a:lnTo>
                  <a:moveTo>
                    <a:pt x="7200" y="6235"/>
                  </a:moveTo>
                  <a:lnTo>
                    <a:pt x="10800" y="12471"/>
                  </a:lnTo>
                  <a:moveTo>
                    <a:pt x="9108" y="9540"/>
                  </a:moveTo>
                  <a:lnTo>
                    <a:pt x="9714" y="7278"/>
                  </a:lnTo>
                  <a:moveTo>
                    <a:pt x="9108" y="9540"/>
                  </a:moveTo>
                  <a:lnTo>
                    <a:pt x="6846" y="8934"/>
                  </a:lnTo>
                  <a:moveTo>
                    <a:pt x="9936" y="10974"/>
                  </a:moveTo>
                  <a:lnTo>
                    <a:pt x="10542" y="8712"/>
                  </a:lnTo>
                  <a:moveTo>
                    <a:pt x="9936" y="10974"/>
                  </a:moveTo>
                  <a:lnTo>
                    <a:pt x="7674" y="10368"/>
                  </a:lnTo>
                  <a:moveTo>
                    <a:pt x="7200" y="6235"/>
                  </a:moveTo>
                  <a:lnTo>
                    <a:pt x="3600" y="12471"/>
                  </a:lnTo>
                  <a:moveTo>
                    <a:pt x="5292" y="9540"/>
                  </a:moveTo>
                  <a:lnTo>
                    <a:pt x="7554" y="8934"/>
                  </a:lnTo>
                  <a:moveTo>
                    <a:pt x="5292" y="9540"/>
                  </a:moveTo>
                  <a:lnTo>
                    <a:pt x="4686" y="7278"/>
                  </a:lnTo>
                  <a:moveTo>
                    <a:pt x="4464" y="10974"/>
                  </a:moveTo>
                  <a:lnTo>
                    <a:pt x="6726" y="10368"/>
                  </a:lnTo>
                  <a:moveTo>
                    <a:pt x="4464" y="10974"/>
                  </a:moveTo>
                  <a:lnTo>
                    <a:pt x="3858" y="8712"/>
                  </a:lnTo>
                  <a:moveTo>
                    <a:pt x="7200" y="6235"/>
                  </a:moveTo>
                  <a:lnTo>
                    <a:pt x="0" y="6235"/>
                  </a:lnTo>
                  <a:moveTo>
                    <a:pt x="3384" y="6235"/>
                  </a:moveTo>
                  <a:lnTo>
                    <a:pt x="5040" y="7891"/>
                  </a:lnTo>
                  <a:moveTo>
                    <a:pt x="3384" y="6235"/>
                  </a:moveTo>
                  <a:lnTo>
                    <a:pt x="5040" y="4579"/>
                  </a:lnTo>
                  <a:moveTo>
                    <a:pt x="1728" y="6235"/>
                  </a:moveTo>
                  <a:lnTo>
                    <a:pt x="3384" y="7891"/>
                  </a:lnTo>
                  <a:moveTo>
                    <a:pt x="1728" y="6235"/>
                  </a:moveTo>
                  <a:lnTo>
                    <a:pt x="3384" y="4579"/>
                  </a:lnTo>
                  <a:moveTo>
                    <a:pt x="7200" y="6235"/>
                  </a:moveTo>
                  <a:lnTo>
                    <a:pt x="3600" y="0"/>
                  </a:lnTo>
                  <a:moveTo>
                    <a:pt x="5292" y="2931"/>
                  </a:moveTo>
                  <a:lnTo>
                    <a:pt x="4686" y="5193"/>
                  </a:lnTo>
                  <a:moveTo>
                    <a:pt x="5292" y="2931"/>
                  </a:moveTo>
                  <a:lnTo>
                    <a:pt x="7554" y="3537"/>
                  </a:lnTo>
                  <a:moveTo>
                    <a:pt x="4464" y="1496"/>
                  </a:moveTo>
                  <a:lnTo>
                    <a:pt x="3858" y="3759"/>
                  </a:lnTo>
                  <a:moveTo>
                    <a:pt x="4464" y="1496"/>
                  </a:moveTo>
                  <a:lnTo>
                    <a:pt x="6726" y="2103"/>
                  </a:lnTo>
                  <a:moveTo>
                    <a:pt x="7200" y="6235"/>
                  </a:moveTo>
                  <a:lnTo>
                    <a:pt x="10800" y="0"/>
                  </a:lnTo>
                  <a:moveTo>
                    <a:pt x="9108" y="2931"/>
                  </a:moveTo>
                  <a:lnTo>
                    <a:pt x="6846" y="3537"/>
                  </a:lnTo>
                  <a:moveTo>
                    <a:pt x="9108" y="2931"/>
                  </a:moveTo>
                  <a:lnTo>
                    <a:pt x="9714" y="5193"/>
                  </a:lnTo>
                  <a:moveTo>
                    <a:pt x="9936" y="1496"/>
                  </a:moveTo>
                  <a:lnTo>
                    <a:pt x="7674" y="2103"/>
                  </a:lnTo>
                  <a:moveTo>
                    <a:pt x="9936" y="1496"/>
                  </a:moveTo>
                  <a:lnTo>
                    <a:pt x="10542" y="3759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b.features/feature plane 0"/>
            <p:cNvSpPr/>
            <p:nvPr/>
          </p:nvSpPr>
          <p:spPr>
            <a:xfrm>
              <a:off x="10657840" y="4466590"/>
              <a:ext cx="262889" cy="262890"/>
            </a:xfrm>
            <a:custGeom>
              <a:avLst/>
              <a:gdLst/>
              <a:ahLst/>
              <a:cxnLst/>
              <a:rect l="0" t="0" r="r" b="b"/>
              <a:pathLst>
                <a:path w="20700" h="20700">
                  <a:moveTo>
                    <a:pt x="1800" y="0"/>
                  </a:moveTo>
                  <a:lnTo>
                    <a:pt x="18900" y="0"/>
                  </a:lnTo>
                  <a:cubicBezTo>
                    <a:pt x="19894" y="0"/>
                    <a:pt x="20700" y="806"/>
                    <a:pt x="20700" y="1800"/>
                  </a:cubicBezTo>
                  <a:lnTo>
                    <a:pt x="20700" y="18900"/>
                  </a:lnTo>
                  <a:cubicBezTo>
                    <a:pt x="20700" y="19894"/>
                    <a:pt x="19894" y="20700"/>
                    <a:pt x="18900" y="20700"/>
                  </a:cubicBezTo>
                  <a:lnTo>
                    <a:pt x="1800" y="20700"/>
                  </a:lnTo>
                  <a:cubicBezTo>
                    <a:pt x="806" y="20700"/>
                    <a:pt x="0" y="19894"/>
                    <a:pt x="0" y="18900"/>
                  </a:cubicBezTo>
                  <a:lnTo>
                    <a:pt x="0" y="1800"/>
                  </a:lnTo>
                  <a:cubicBezTo>
                    <a:pt x="0" y="806"/>
                    <a:pt x="806" y="0"/>
                    <a:pt x="1800" y="0"/>
                  </a:cubicBezTo>
                  <a:close/>
                </a:path>
              </a:pathLst>
            </a:custGeom>
            <a:solidFill>
              <a:srgbClr val="E8F0F7"/>
            </a:solidFill>
            <a:ln w="9715">
              <a:solidFill>
                <a:srgbClr val="7894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b.features/feature plane 1"/>
            <p:cNvSpPr/>
            <p:nvPr/>
          </p:nvSpPr>
          <p:spPr>
            <a:xfrm>
              <a:off x="10749280" y="4512310"/>
              <a:ext cx="262890" cy="262889"/>
            </a:xfrm>
            <a:custGeom>
              <a:avLst/>
              <a:gdLst/>
              <a:ahLst/>
              <a:cxnLst/>
              <a:rect l="0" t="0" r="r" b="b"/>
              <a:pathLst>
                <a:path w="20700" h="20700">
                  <a:moveTo>
                    <a:pt x="1800" y="0"/>
                  </a:moveTo>
                  <a:lnTo>
                    <a:pt x="18900" y="0"/>
                  </a:lnTo>
                  <a:cubicBezTo>
                    <a:pt x="19894" y="0"/>
                    <a:pt x="20700" y="806"/>
                    <a:pt x="20700" y="1800"/>
                  </a:cubicBezTo>
                  <a:lnTo>
                    <a:pt x="20700" y="18900"/>
                  </a:lnTo>
                  <a:cubicBezTo>
                    <a:pt x="20700" y="19894"/>
                    <a:pt x="19894" y="20700"/>
                    <a:pt x="18900" y="20700"/>
                  </a:cubicBezTo>
                  <a:lnTo>
                    <a:pt x="1800" y="20700"/>
                  </a:lnTo>
                  <a:cubicBezTo>
                    <a:pt x="806" y="20700"/>
                    <a:pt x="0" y="19894"/>
                    <a:pt x="0" y="18900"/>
                  </a:cubicBezTo>
                  <a:lnTo>
                    <a:pt x="0" y="1800"/>
                  </a:lnTo>
                  <a:cubicBezTo>
                    <a:pt x="0" y="806"/>
                    <a:pt x="806" y="0"/>
                    <a:pt x="1800" y="0"/>
                  </a:cubicBezTo>
                  <a:close/>
                </a:path>
              </a:pathLst>
            </a:custGeom>
            <a:solidFill>
              <a:srgbClr val="DCE7F1"/>
            </a:solidFill>
            <a:ln w="9715">
              <a:solidFill>
                <a:srgbClr val="7894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b.features/feature plane 2"/>
            <p:cNvSpPr/>
            <p:nvPr/>
          </p:nvSpPr>
          <p:spPr>
            <a:xfrm>
              <a:off x="10840720" y="4558030"/>
              <a:ext cx="262890" cy="262889"/>
            </a:xfrm>
            <a:custGeom>
              <a:avLst/>
              <a:gdLst/>
              <a:ahLst/>
              <a:cxnLst/>
              <a:rect l="0" t="0" r="r" b="b"/>
              <a:pathLst>
                <a:path w="20700" h="20700">
                  <a:moveTo>
                    <a:pt x="1800" y="0"/>
                  </a:moveTo>
                  <a:lnTo>
                    <a:pt x="18900" y="0"/>
                  </a:lnTo>
                  <a:cubicBezTo>
                    <a:pt x="19894" y="0"/>
                    <a:pt x="20700" y="806"/>
                    <a:pt x="20700" y="1800"/>
                  </a:cubicBezTo>
                  <a:lnTo>
                    <a:pt x="20700" y="18900"/>
                  </a:lnTo>
                  <a:cubicBezTo>
                    <a:pt x="20700" y="19894"/>
                    <a:pt x="19894" y="20700"/>
                    <a:pt x="18900" y="20700"/>
                  </a:cubicBezTo>
                  <a:lnTo>
                    <a:pt x="1800" y="20700"/>
                  </a:lnTo>
                  <a:cubicBezTo>
                    <a:pt x="806" y="20700"/>
                    <a:pt x="0" y="19894"/>
                    <a:pt x="0" y="18900"/>
                  </a:cubicBezTo>
                  <a:lnTo>
                    <a:pt x="0" y="1800"/>
                  </a:lnTo>
                  <a:cubicBezTo>
                    <a:pt x="0" y="806"/>
                    <a:pt x="806" y="0"/>
                    <a:pt x="1800" y="0"/>
                  </a:cubicBezTo>
                  <a:close/>
                </a:path>
              </a:pathLst>
            </a:custGeom>
            <a:solidFill>
              <a:srgbClr val="F8FBFE"/>
            </a:solidFill>
            <a:ln w="9715">
              <a:solidFill>
                <a:srgbClr val="7894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b.features/name"/>
            <p:cNvSpPr txBox="1"/>
            <p:nvPr/>
          </p:nvSpPr>
          <p:spPr>
            <a:xfrm>
              <a:off x="11286490" y="4432300"/>
              <a:ext cx="1725930" cy="4229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8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Inception φ</a:t>
              </a:r>
            </a:p>
          </p:txBody>
        </p:sp>
        <p:sp>
          <p:nvSpPr>
            <p:cNvPr id="447" name="b.features/output"/>
            <p:cNvSpPr/>
            <p:nvPr/>
          </p:nvSpPr>
          <p:spPr>
            <a:xfrm>
              <a:off x="11812270" y="4900930"/>
              <a:ext cx="127" cy="262889"/>
            </a:xfrm>
            <a:custGeom>
              <a:avLst/>
              <a:gdLst/>
              <a:ahLst/>
              <a:cxnLst/>
              <a:rect l="0" t="0" r="r" b="b"/>
              <a:pathLst>
                <a:path w="10" h="20700">
                  <a:moveTo>
                    <a:pt x="0" y="0"/>
                  </a:moveTo>
                  <a:lnTo>
                    <a:pt x="0" y="20700"/>
                  </a:lnTo>
                </a:path>
              </a:pathLst>
            </a:custGeom>
            <a:noFill/>
            <a:ln w="1714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b.features/output head"/>
            <p:cNvSpPr/>
            <p:nvPr/>
          </p:nvSpPr>
          <p:spPr>
            <a:xfrm>
              <a:off x="11781409" y="5095240"/>
              <a:ext cx="61722" cy="68580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9" name="b.classifier"/>
          <p:cNvGrpSpPr/>
          <p:nvPr/>
        </p:nvGrpSpPr>
        <p:grpSpPr>
          <a:xfrm>
            <a:off x="10475417" y="5075809"/>
            <a:ext cx="2628443" cy="579500"/>
            <a:chOff x="10475417" y="5075809"/>
            <a:chExt cx="2628443" cy="579500"/>
          </a:xfrm>
        </p:grpSpPr>
        <p:sp>
          <p:nvSpPr>
            <p:cNvPr id="450" name="b.classifier/box"/>
            <p:cNvSpPr/>
            <p:nvPr/>
          </p:nvSpPr>
          <p:spPr>
            <a:xfrm>
              <a:off x="10520680" y="5163820"/>
              <a:ext cx="2583180" cy="491489"/>
            </a:xfrm>
            <a:custGeom>
              <a:avLst/>
              <a:gdLst/>
              <a:ahLst/>
              <a:cxnLst/>
              <a:rect l="0" t="0" r="r" b="b"/>
              <a:pathLst>
                <a:path w="203400" h="38700">
                  <a:moveTo>
                    <a:pt x="7200" y="0"/>
                  </a:moveTo>
                  <a:lnTo>
                    <a:pt x="196200" y="0"/>
                  </a:lnTo>
                  <a:cubicBezTo>
                    <a:pt x="200176" y="0"/>
                    <a:pt x="203400" y="3224"/>
                    <a:pt x="203400" y="7200"/>
                  </a:cubicBezTo>
                  <a:lnTo>
                    <a:pt x="203400" y="31500"/>
                  </a:lnTo>
                  <a:cubicBezTo>
                    <a:pt x="203400" y="35476"/>
                    <a:pt x="200176" y="38700"/>
                    <a:pt x="196200" y="38700"/>
                  </a:cubicBezTo>
                  <a:lnTo>
                    <a:pt x="7200" y="38700"/>
                  </a:lnTo>
                  <a:cubicBezTo>
                    <a:pt x="3224" y="38700"/>
                    <a:pt x="0" y="35476"/>
                    <a:pt x="0" y="31500"/>
                  </a:cubicBezTo>
                  <a:lnTo>
                    <a:pt x="0" y="7200"/>
                  </a:lnTo>
                  <a:cubicBezTo>
                    <a:pt x="0" y="3224"/>
                    <a:pt x="3224" y="0"/>
                    <a:pt x="7200" y="0"/>
                  </a:cubicBezTo>
                  <a:close/>
                </a:path>
              </a:pathLst>
            </a:custGeom>
            <a:solidFill>
              <a:srgbClr val="F6E8D8"/>
            </a:solidFill>
            <a:ln w="8001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b.classifier/label"/>
            <p:cNvSpPr txBox="1"/>
            <p:nvPr/>
          </p:nvSpPr>
          <p:spPr>
            <a:xfrm>
              <a:off x="10566400" y="5186680"/>
              <a:ext cx="2491740" cy="4457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2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/>
              </a:r>
            </a:p>
          </p:txBody>
        </p:sp>
        <p:sp>
          <p:nvSpPr>
            <p:cNvPr id="452" name="b.classifier/trainable/red"/>
            <p:cNvSpPr/>
            <p:nvPr/>
          </p:nvSpPr>
          <p:spPr>
            <a:xfrm>
              <a:off x="10475417" y="5075809"/>
              <a:ext cx="178993" cy="185623"/>
            </a:xfrm>
            <a:custGeom>
              <a:avLst/>
              <a:gdLst/>
              <a:ahLst/>
              <a:cxnLst/>
              <a:rect l="0" t="0" r="r" b="b"/>
              <a:pathLst>
                <a:path w="14094" h="14616">
                  <a:moveTo>
                    <a:pt x="6264" y="14094"/>
                  </a:moveTo>
                  <a:cubicBezTo>
                    <a:pt x="0" y="12006"/>
                    <a:pt x="2088" y="6786"/>
                    <a:pt x="3654" y="5220"/>
                  </a:cubicBezTo>
                  <a:cubicBezTo>
                    <a:pt x="3132" y="8352"/>
                    <a:pt x="5742" y="8874"/>
                    <a:pt x="5220" y="5742"/>
                  </a:cubicBezTo>
                  <a:cubicBezTo>
                    <a:pt x="4176" y="3654"/>
                    <a:pt x="7830" y="2610"/>
                    <a:pt x="6264" y="0"/>
                  </a:cubicBezTo>
                  <a:cubicBezTo>
                    <a:pt x="12006" y="2610"/>
                    <a:pt x="9396" y="6264"/>
                    <a:pt x="10962" y="4698"/>
                  </a:cubicBezTo>
                  <a:cubicBezTo>
                    <a:pt x="14094" y="8352"/>
                    <a:pt x="12528" y="13050"/>
                    <a:pt x="8874" y="14094"/>
                  </a:cubicBezTo>
                  <a:cubicBezTo>
                    <a:pt x="7830" y="14616"/>
                    <a:pt x="6786" y="14616"/>
                    <a:pt x="6264" y="14094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b.classifier/trainable/gold"/>
            <p:cNvSpPr/>
            <p:nvPr/>
          </p:nvSpPr>
          <p:spPr>
            <a:xfrm>
              <a:off x="10528452" y="5161991"/>
              <a:ext cx="79552" cy="86182"/>
            </a:xfrm>
            <a:custGeom>
              <a:avLst/>
              <a:gdLst/>
              <a:ahLst/>
              <a:cxnLst/>
              <a:rect l="0" t="0" r="r" b="b"/>
              <a:pathLst>
                <a:path w="6264" h="6786">
                  <a:moveTo>
                    <a:pt x="2610" y="6786"/>
                  </a:moveTo>
                  <a:cubicBezTo>
                    <a:pt x="0" y="5742"/>
                    <a:pt x="0" y="2610"/>
                    <a:pt x="1566" y="1044"/>
                  </a:cubicBezTo>
                  <a:cubicBezTo>
                    <a:pt x="1566" y="3654"/>
                    <a:pt x="3654" y="3654"/>
                    <a:pt x="3132" y="0"/>
                  </a:cubicBezTo>
                  <a:cubicBezTo>
                    <a:pt x="6264" y="2088"/>
                    <a:pt x="6264" y="5742"/>
                    <a:pt x="3654" y="6786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b.classifier/network spine"/>
            <p:cNvSpPr/>
            <p:nvPr/>
          </p:nvSpPr>
          <p:spPr>
            <a:xfrm>
              <a:off x="10680700" y="5403850"/>
              <a:ext cx="491490" cy="127"/>
            </a:xfrm>
            <a:custGeom>
              <a:avLst/>
              <a:gdLst/>
              <a:ahLst/>
              <a:cxnLst/>
              <a:rect l="0" t="0" r="r" b="b"/>
              <a:pathLst>
                <a:path w="38700" h="10">
                  <a:moveTo>
                    <a:pt x="0" y="0"/>
                  </a:moveTo>
                  <a:lnTo>
                    <a:pt x="38700" y="0"/>
                  </a:lnTo>
                </a:path>
              </a:pathLst>
            </a:custGeom>
            <a:noFill/>
            <a:ln w="9715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b.classifier/network block 0"/>
            <p:cNvSpPr/>
            <p:nvPr/>
          </p:nvSpPr>
          <p:spPr>
            <a:xfrm>
              <a:off x="10761795" y="5309552"/>
              <a:ext cx="83553" cy="188595"/>
            </a:xfrm>
            <a:custGeom>
              <a:avLst/>
              <a:gdLst/>
              <a:ahLst/>
              <a:cxnLst/>
              <a:rect l="0" t="0" r="r" b="b"/>
              <a:pathLst>
                <a:path w="6579" h="14850">
                  <a:moveTo>
                    <a:pt x="720" y="0"/>
                  </a:moveTo>
                  <a:lnTo>
                    <a:pt x="5859" y="0"/>
                  </a:lnTo>
                  <a:cubicBezTo>
                    <a:pt x="6257" y="0"/>
                    <a:pt x="6579" y="322"/>
                    <a:pt x="6579" y="720"/>
                  </a:cubicBezTo>
                  <a:lnTo>
                    <a:pt x="6579" y="14130"/>
                  </a:lnTo>
                  <a:cubicBezTo>
                    <a:pt x="6579" y="14528"/>
                    <a:pt x="6257" y="14850"/>
                    <a:pt x="5859" y="14850"/>
                  </a:cubicBezTo>
                  <a:lnTo>
                    <a:pt x="720" y="14850"/>
                  </a:lnTo>
                  <a:cubicBezTo>
                    <a:pt x="322" y="14850"/>
                    <a:pt x="0" y="14528"/>
                    <a:pt x="0" y="1413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b.classifier/network block 1"/>
            <p:cNvSpPr/>
            <p:nvPr/>
          </p:nvSpPr>
          <p:spPr>
            <a:xfrm>
              <a:off x="10884668" y="5278120"/>
              <a:ext cx="83553" cy="251460"/>
            </a:xfrm>
            <a:custGeom>
              <a:avLst/>
              <a:gdLst/>
              <a:ahLst/>
              <a:cxnLst/>
              <a:rect l="0" t="0" r="r" b="b"/>
              <a:pathLst>
                <a:path w="6579" h="19800">
                  <a:moveTo>
                    <a:pt x="720" y="0"/>
                  </a:moveTo>
                  <a:lnTo>
                    <a:pt x="5859" y="0"/>
                  </a:lnTo>
                  <a:cubicBezTo>
                    <a:pt x="6257" y="0"/>
                    <a:pt x="6579" y="322"/>
                    <a:pt x="6579" y="720"/>
                  </a:cubicBezTo>
                  <a:lnTo>
                    <a:pt x="6579" y="19080"/>
                  </a:lnTo>
                  <a:cubicBezTo>
                    <a:pt x="6579" y="19478"/>
                    <a:pt x="6257" y="19800"/>
                    <a:pt x="5859" y="19800"/>
                  </a:cubicBezTo>
                  <a:lnTo>
                    <a:pt x="720" y="19800"/>
                  </a:lnTo>
                  <a:cubicBezTo>
                    <a:pt x="322" y="19800"/>
                    <a:pt x="0" y="19478"/>
                    <a:pt x="0" y="1908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b.classifier/network block 2"/>
            <p:cNvSpPr/>
            <p:nvPr/>
          </p:nvSpPr>
          <p:spPr>
            <a:xfrm>
              <a:off x="11007540" y="5309552"/>
              <a:ext cx="83553" cy="188595"/>
            </a:xfrm>
            <a:custGeom>
              <a:avLst/>
              <a:gdLst/>
              <a:ahLst/>
              <a:cxnLst/>
              <a:rect l="0" t="0" r="r" b="b"/>
              <a:pathLst>
                <a:path w="6579" h="14850">
                  <a:moveTo>
                    <a:pt x="720" y="0"/>
                  </a:moveTo>
                  <a:lnTo>
                    <a:pt x="5859" y="0"/>
                  </a:lnTo>
                  <a:cubicBezTo>
                    <a:pt x="6257" y="0"/>
                    <a:pt x="6579" y="322"/>
                    <a:pt x="6579" y="720"/>
                  </a:cubicBezTo>
                  <a:lnTo>
                    <a:pt x="6579" y="14130"/>
                  </a:lnTo>
                  <a:cubicBezTo>
                    <a:pt x="6579" y="14528"/>
                    <a:pt x="6257" y="14850"/>
                    <a:pt x="5859" y="14850"/>
                  </a:cubicBezTo>
                  <a:lnTo>
                    <a:pt x="720" y="14850"/>
                  </a:lnTo>
                  <a:cubicBezTo>
                    <a:pt x="322" y="14850"/>
                    <a:pt x="0" y="14528"/>
                    <a:pt x="0" y="14130"/>
                  </a:cubicBezTo>
                  <a:lnTo>
                    <a:pt x="0" y="720"/>
                  </a:lnTo>
                  <a:cubicBezTo>
                    <a:pt x="0" y="322"/>
                    <a:pt x="322" y="0"/>
                    <a:pt x="72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b.classifier/name"/>
            <p:cNvSpPr txBox="1"/>
            <p:nvPr/>
          </p:nvSpPr>
          <p:spPr>
            <a:xfrm>
              <a:off x="11286490" y="5209540"/>
              <a:ext cx="1748790" cy="400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40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Classifier D</a:t>
              </a:r>
              <a:r>
                <a:rPr sz="1440" b="0" i="0" baseline="-2500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</a:p>
          </p:txBody>
        </p:sp>
      </p:grpSp>
      <p:grpSp>
        <p:nvGrpSpPr>
          <p:cNvPr id="459" name="b.condition"/>
          <p:cNvGrpSpPr/>
          <p:nvPr/>
        </p:nvGrpSpPr>
        <p:grpSpPr>
          <a:xfrm>
            <a:off x="10097770" y="5152390"/>
            <a:ext cx="422909" cy="293750"/>
            <a:chOff x="10097770" y="5152390"/>
            <a:chExt cx="422909" cy="293750"/>
          </a:xfrm>
        </p:grpSpPr>
        <p:sp>
          <p:nvSpPr>
            <p:cNvPr id="460" name="b.condition/class"/>
            <p:cNvSpPr txBox="1"/>
            <p:nvPr/>
          </p:nvSpPr>
          <p:spPr>
            <a:xfrm>
              <a:off x="10097770" y="5152390"/>
              <a:ext cx="308610" cy="2400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42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c</a:t>
              </a:r>
            </a:p>
          </p:txBody>
        </p:sp>
        <p:sp>
          <p:nvSpPr>
            <p:cNvPr id="461" name="b.condition/edge"/>
            <p:cNvSpPr/>
            <p:nvPr/>
          </p:nvSpPr>
          <p:spPr>
            <a:xfrm>
              <a:off x="10097770" y="5415280"/>
              <a:ext cx="422909" cy="127"/>
            </a:xfrm>
            <a:custGeom>
              <a:avLst/>
              <a:gdLst/>
              <a:ahLst/>
              <a:cxnLst/>
              <a:rect l="0" t="0" r="r" b="b"/>
              <a:pathLst>
                <a:path w="33300" h="10">
                  <a:moveTo>
                    <a:pt x="0" y="0"/>
                  </a:moveTo>
                  <a:lnTo>
                    <a:pt x="33300" y="0"/>
                  </a:lnTo>
                </a:path>
              </a:pathLst>
            </a:custGeom>
            <a:noFill/>
            <a:ln w="13716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b.condition/edge head"/>
            <p:cNvSpPr/>
            <p:nvPr/>
          </p:nvSpPr>
          <p:spPr>
            <a:xfrm>
              <a:off x="10452100" y="5384419"/>
              <a:ext cx="68579" cy="61721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3" name="b.loss"/>
          <p:cNvGrpSpPr/>
          <p:nvPr/>
        </p:nvGrpSpPr>
        <p:grpSpPr>
          <a:xfrm>
            <a:off x="10638409" y="5655310"/>
            <a:ext cx="1173861" cy="342900"/>
            <a:chOff x="10638409" y="5655310"/>
            <a:chExt cx="1173861" cy="342900"/>
          </a:xfrm>
        </p:grpSpPr>
        <p:sp>
          <p:nvSpPr>
            <p:cNvPr id="464" name="b.loss/classifier edge"/>
            <p:cNvSpPr/>
            <p:nvPr/>
          </p:nvSpPr>
          <p:spPr>
            <a:xfrm>
              <a:off x="10669270" y="5655310"/>
              <a:ext cx="1143000" cy="342900"/>
            </a:xfrm>
            <a:custGeom>
              <a:avLst/>
              <a:gdLst/>
              <a:ahLst/>
              <a:cxnLst/>
              <a:rect l="0" t="0" r="r" b="b"/>
              <a:pathLst>
                <a:path w="90000" h="27000">
                  <a:moveTo>
                    <a:pt x="90000" y="0"/>
                  </a:moveTo>
                  <a:lnTo>
                    <a:pt x="90000" y="13500"/>
                  </a:lnTo>
                  <a:lnTo>
                    <a:pt x="0" y="13500"/>
                  </a:lnTo>
                  <a:lnTo>
                    <a:pt x="0" y="27000"/>
                  </a:lnTo>
                </a:path>
              </a:pathLst>
            </a:custGeom>
            <a:noFill/>
            <a:ln w="16002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b.loss/classifier edge head"/>
            <p:cNvSpPr/>
            <p:nvPr/>
          </p:nvSpPr>
          <p:spPr>
            <a:xfrm>
              <a:off x="10638409" y="5929630"/>
              <a:ext cx="61722" cy="68579"/>
            </a:xfrm>
            <a:custGeom>
              <a:avLst/>
              <a:gdLst/>
              <a:ahLst/>
              <a:cxnLst/>
              <a:rect l="0" t="0" r="r" b="b"/>
              <a:pathLst>
                <a:path w="4860" h="5400">
                  <a:moveTo>
                    <a:pt x="2430" y="5400"/>
                  </a:moveTo>
                  <a:lnTo>
                    <a:pt x="4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6" name="b.objective"/>
          <p:cNvGrpSpPr/>
          <p:nvPr/>
        </p:nvGrpSpPr>
        <p:grpSpPr>
          <a:xfrm>
            <a:off x="8211820" y="5998210"/>
            <a:ext cx="5029200" cy="891540"/>
            <a:chOff x="8211820" y="5998210"/>
            <a:chExt cx="5029200" cy="891540"/>
          </a:xfrm>
        </p:grpSpPr>
        <p:sp>
          <p:nvSpPr>
            <p:cNvPr id="467" name="b.objective/box"/>
            <p:cNvSpPr/>
            <p:nvPr/>
          </p:nvSpPr>
          <p:spPr>
            <a:xfrm>
              <a:off x="8246110" y="5998210"/>
              <a:ext cx="4892039" cy="617219"/>
            </a:xfrm>
            <a:custGeom>
              <a:avLst/>
              <a:gdLst/>
              <a:ahLst/>
              <a:cxnLst/>
              <a:rect l="0" t="0" r="r" b="b"/>
              <a:pathLst>
                <a:path w="385200" h="48600">
                  <a:moveTo>
                    <a:pt x="6300" y="0"/>
                  </a:moveTo>
                  <a:lnTo>
                    <a:pt x="378900" y="0"/>
                  </a:lnTo>
                  <a:cubicBezTo>
                    <a:pt x="382379" y="0"/>
                    <a:pt x="385200" y="2821"/>
                    <a:pt x="385200" y="6300"/>
                  </a:cubicBezTo>
                  <a:lnTo>
                    <a:pt x="385200" y="42300"/>
                  </a:lnTo>
                  <a:cubicBezTo>
                    <a:pt x="385200" y="45779"/>
                    <a:pt x="382379" y="48600"/>
                    <a:pt x="378900" y="48600"/>
                  </a:cubicBezTo>
                  <a:lnTo>
                    <a:pt x="6300" y="48600"/>
                  </a:lnTo>
                  <a:cubicBezTo>
                    <a:pt x="2821" y="48600"/>
                    <a:pt x="0" y="45779"/>
                    <a:pt x="0" y="42300"/>
                  </a:cubicBezTo>
                  <a:lnTo>
                    <a:pt x="0" y="6300"/>
                  </a:lnTo>
                  <a:cubicBezTo>
                    <a:pt x="0" y="2821"/>
                    <a:pt x="2821" y="0"/>
                    <a:pt x="6300" y="0"/>
                  </a:cubicBezTo>
                  <a:close/>
                </a:path>
              </a:pathLst>
            </a:custGeom>
            <a:solidFill>
              <a:srgbClr val="FCF7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b.objective/formula"/>
            <p:cNvSpPr txBox="1"/>
            <p:nvPr/>
          </p:nvSpPr>
          <p:spPr>
            <a:xfrm>
              <a:off x="8314690" y="5998210"/>
              <a:ext cx="4754880" cy="3086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58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min</a:t>
              </a:r>
              <a:r>
                <a:rPr sz="1458" b="0" i="0" baseline="-2500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  <a:r>
                <a:rPr sz="1458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  E[softplus(−d</a:t>
              </a:r>
              <a:r>
                <a:rPr sz="1458" b="0" i="0" baseline="-2500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458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)]</a:t>
              </a:r>
            </a:p>
          </p:txBody>
        </p:sp>
        <p:sp>
          <p:nvSpPr>
            <p:cNvPr id="469" name="b.objective/formula continuation"/>
            <p:cNvSpPr txBox="1"/>
            <p:nvPr/>
          </p:nvSpPr>
          <p:spPr>
            <a:xfrm>
              <a:off x="8314690" y="6295390"/>
              <a:ext cx="4754880" cy="3086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58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+ E[softplus(d</a:t>
              </a:r>
              <a:r>
                <a:rPr sz="1458" b="0" i="0" baseline="-2500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  <a:r>
                <a:rPr sz="1458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)] + (γ/2) R</a:t>
              </a:r>
              <a:r>
                <a:rPr sz="1458" b="0" i="0" baseline="-2500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</a:p>
          </p:txBody>
        </p:sp>
        <p:sp>
          <p:nvSpPr>
            <p:cNvPr id="470" name="b.objective/note"/>
            <p:cNvSpPr txBox="1"/>
            <p:nvPr/>
          </p:nvSpPr>
          <p:spPr>
            <a:xfrm>
              <a:off x="8211820" y="6649720"/>
              <a:ext cx="5029200" cy="2400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24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224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  <a:r>
                <a:rPr sz="1224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: gradient penalty on real features</a:t>
              </a:r>
            </a:p>
          </p:txBody>
        </p:sp>
      </p:grpSp>
      <p:grpSp>
        <p:nvGrpSpPr>
          <p:cNvPr id="471" name="b.before-real"/>
          <p:cNvGrpSpPr/>
          <p:nvPr/>
        </p:nvGrpSpPr>
        <p:grpSpPr>
          <a:xfrm>
            <a:off x="8325548" y="7050341"/>
            <a:ext cx="709803" cy="524637"/>
            <a:chOff x="8325548" y="7050341"/>
            <a:chExt cx="709803" cy="524637"/>
          </a:xfrm>
        </p:grpSpPr>
        <p:sp>
          <p:nvSpPr>
            <p:cNvPr id="472" name="b.before-real/contour 1.35"/>
            <p:cNvSpPr/>
            <p:nvPr/>
          </p:nvSpPr>
          <p:spPr>
            <a:xfrm>
              <a:off x="8325548" y="7050341"/>
              <a:ext cx="709803" cy="524637"/>
            </a:xfrm>
            <a:prstGeom prst="ellipse">
              <a:avLst/>
            </a:prstGeom>
            <a:solidFill>
              <a:srgbClr val="C56C60">
                <a:alpha val="4500"/>
              </a:srgbClr>
            </a:solidFill>
            <a:ln w="4000">
              <a:solidFill>
                <a:srgbClr val="C56C60">
                  <a:alpha val="45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b.before-real/contour 1.05"/>
            <p:cNvSpPr/>
            <p:nvPr/>
          </p:nvSpPr>
          <p:spPr>
            <a:xfrm>
              <a:off x="8404415" y="7108634"/>
              <a:ext cx="552069" cy="408051"/>
            </a:xfrm>
            <a:prstGeom prst="ellipse">
              <a:avLst/>
            </a:prstGeom>
            <a:solidFill>
              <a:srgbClr val="C56C60">
                <a:alpha val="7000"/>
              </a:srgbClr>
            </a:solidFill>
            <a:ln w="4000">
              <a:solidFill>
                <a:srgbClr val="C56C60">
                  <a:alpha val="7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4" name="b.before-real/contour 0.75"/>
            <p:cNvSpPr/>
            <p:nvPr/>
          </p:nvSpPr>
          <p:spPr>
            <a:xfrm>
              <a:off x="8483282" y="7166927"/>
              <a:ext cx="394335" cy="291465"/>
            </a:xfrm>
            <a:prstGeom prst="ellipse">
              <a:avLst/>
            </a:prstGeom>
            <a:solidFill>
              <a:srgbClr val="C56C60">
                <a:alpha val="10000"/>
              </a:srgbClr>
            </a:solidFill>
            <a:ln w="4000">
              <a:solidFill>
                <a:srgbClr val="C56C60">
                  <a:alpha val="10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b.before-real/point 000"/>
            <p:cNvSpPr/>
            <p:nvPr/>
          </p:nvSpPr>
          <p:spPr>
            <a:xfrm>
              <a:off x="8599904" y="7267144"/>
              <a:ext cx="14879" cy="14879"/>
            </a:xfrm>
            <a:prstGeom prst="ellipse">
              <a:avLst/>
            </a:prstGeom>
            <a:solidFill>
              <a:srgbClr val="C56C60">
                <a:alpha val="6316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b.before-real/point 001"/>
            <p:cNvSpPr/>
            <p:nvPr/>
          </p:nvSpPr>
          <p:spPr>
            <a:xfrm>
              <a:off x="8714332" y="7233634"/>
              <a:ext cx="22811" cy="22811"/>
            </a:xfrm>
            <a:prstGeom prst="ellipse">
              <a:avLst/>
            </a:prstGeom>
            <a:solidFill>
              <a:srgbClr val="C56C60">
                <a:alpha val="5614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b.before-real/point 002"/>
            <p:cNvSpPr/>
            <p:nvPr/>
          </p:nvSpPr>
          <p:spPr>
            <a:xfrm>
              <a:off x="8588320" y="7334529"/>
              <a:ext cx="16759" cy="16759"/>
            </a:xfrm>
            <a:prstGeom prst="ellipse">
              <a:avLst/>
            </a:prstGeom>
            <a:solidFill>
              <a:srgbClr val="C56C60">
                <a:alpha val="5936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8" name="b.before-real/point 003"/>
            <p:cNvSpPr/>
            <p:nvPr/>
          </p:nvSpPr>
          <p:spPr>
            <a:xfrm>
              <a:off x="8832127" y="7382684"/>
              <a:ext cx="21755" cy="21755"/>
            </a:xfrm>
            <a:prstGeom prst="ellipse">
              <a:avLst/>
            </a:prstGeom>
            <a:solidFill>
              <a:srgbClr val="C56C60">
                <a:alpha val="695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b.before-real/point 004"/>
            <p:cNvSpPr/>
            <p:nvPr/>
          </p:nvSpPr>
          <p:spPr>
            <a:xfrm>
              <a:off x="8691547" y="7194163"/>
              <a:ext cx="18929" cy="18929"/>
            </a:xfrm>
            <a:prstGeom prst="ellipse">
              <a:avLst/>
            </a:prstGeom>
            <a:solidFill>
              <a:srgbClr val="C56C60">
                <a:alpha val="8368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0" name="b.before-real/point 005"/>
            <p:cNvSpPr/>
            <p:nvPr/>
          </p:nvSpPr>
          <p:spPr>
            <a:xfrm>
              <a:off x="8442434" y="7240392"/>
              <a:ext cx="18624" cy="18624"/>
            </a:xfrm>
            <a:prstGeom prst="ellipse">
              <a:avLst/>
            </a:prstGeom>
            <a:solidFill>
              <a:srgbClr val="C56C60">
                <a:alpha val="633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1" name="b.before-real/point 006"/>
            <p:cNvSpPr/>
            <p:nvPr/>
          </p:nvSpPr>
          <p:spPr>
            <a:xfrm>
              <a:off x="8829391" y="7353534"/>
              <a:ext cx="23420" cy="23420"/>
            </a:xfrm>
            <a:prstGeom prst="ellipse">
              <a:avLst/>
            </a:prstGeom>
            <a:solidFill>
              <a:srgbClr val="C56C60">
                <a:alpha val="8074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b.before-real/point 007"/>
            <p:cNvSpPr/>
            <p:nvPr/>
          </p:nvSpPr>
          <p:spPr>
            <a:xfrm>
              <a:off x="8512574" y="7413272"/>
              <a:ext cx="25165" cy="25165"/>
            </a:xfrm>
            <a:prstGeom prst="ellipse">
              <a:avLst/>
            </a:prstGeom>
            <a:solidFill>
              <a:srgbClr val="C56C60">
                <a:alpha val="809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3" name="b.before-real/point 008"/>
            <p:cNvSpPr/>
            <p:nvPr/>
          </p:nvSpPr>
          <p:spPr>
            <a:xfrm>
              <a:off x="8843257" y="7327505"/>
              <a:ext cx="27948" cy="27948"/>
            </a:xfrm>
            <a:prstGeom prst="ellipse">
              <a:avLst/>
            </a:prstGeom>
            <a:solidFill>
              <a:srgbClr val="C56C60">
                <a:alpha val="778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4" name="b.before-real/point 009"/>
            <p:cNvSpPr/>
            <p:nvPr/>
          </p:nvSpPr>
          <p:spPr>
            <a:xfrm>
              <a:off x="8544384" y="7337602"/>
              <a:ext cx="18577" cy="18577"/>
            </a:xfrm>
            <a:prstGeom prst="ellipse">
              <a:avLst/>
            </a:prstGeom>
            <a:solidFill>
              <a:srgbClr val="C56C60">
                <a:alpha val="574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b.before-real/point 010"/>
            <p:cNvSpPr/>
            <p:nvPr/>
          </p:nvSpPr>
          <p:spPr>
            <a:xfrm>
              <a:off x="8775766" y="7234892"/>
              <a:ext cx="26874" cy="26874"/>
            </a:xfrm>
            <a:prstGeom prst="ellipse">
              <a:avLst/>
            </a:prstGeom>
            <a:solidFill>
              <a:srgbClr val="C56C60">
                <a:alpha val="5904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6" name="b.before-real/point 011"/>
            <p:cNvSpPr/>
            <p:nvPr/>
          </p:nvSpPr>
          <p:spPr>
            <a:xfrm>
              <a:off x="8520340" y="7376393"/>
              <a:ext cx="16787" cy="16787"/>
            </a:xfrm>
            <a:prstGeom prst="ellipse">
              <a:avLst/>
            </a:prstGeom>
            <a:solidFill>
              <a:srgbClr val="C56C60">
                <a:alpha val="697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b.before-real/point 012"/>
            <p:cNvSpPr/>
            <p:nvPr/>
          </p:nvSpPr>
          <p:spPr>
            <a:xfrm>
              <a:off x="8598808" y="7315133"/>
              <a:ext cx="25185" cy="25185"/>
            </a:xfrm>
            <a:prstGeom prst="ellipse">
              <a:avLst/>
            </a:prstGeom>
            <a:solidFill>
              <a:srgbClr val="C56C60">
                <a:alpha val="750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b.before-real/point 013"/>
            <p:cNvSpPr/>
            <p:nvPr/>
          </p:nvSpPr>
          <p:spPr>
            <a:xfrm>
              <a:off x="8531635" y="7369138"/>
              <a:ext cx="28264" cy="28264"/>
            </a:xfrm>
            <a:prstGeom prst="ellipse">
              <a:avLst/>
            </a:prstGeom>
            <a:solidFill>
              <a:srgbClr val="C56C60">
                <a:alpha val="5341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b.before-real/point 014"/>
            <p:cNvSpPr/>
            <p:nvPr/>
          </p:nvSpPr>
          <p:spPr>
            <a:xfrm>
              <a:off x="8746874" y="7301008"/>
              <a:ext cx="20773" cy="20773"/>
            </a:xfrm>
            <a:prstGeom prst="ellipse">
              <a:avLst/>
            </a:prstGeom>
            <a:solidFill>
              <a:srgbClr val="C56C60">
                <a:alpha val="5793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0" name="b.before-real/point 015"/>
            <p:cNvSpPr/>
            <p:nvPr/>
          </p:nvSpPr>
          <p:spPr>
            <a:xfrm>
              <a:off x="8791022" y="7334427"/>
              <a:ext cx="16487" cy="16487"/>
            </a:xfrm>
            <a:prstGeom prst="ellipse">
              <a:avLst/>
            </a:prstGeom>
            <a:solidFill>
              <a:srgbClr val="C56C60">
                <a:alpha val="7270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b.before-real/point 016"/>
            <p:cNvSpPr/>
            <p:nvPr/>
          </p:nvSpPr>
          <p:spPr>
            <a:xfrm>
              <a:off x="8835883" y="7252076"/>
              <a:ext cx="17275" cy="17275"/>
            </a:xfrm>
            <a:prstGeom prst="ellipse">
              <a:avLst/>
            </a:prstGeom>
            <a:solidFill>
              <a:srgbClr val="C56C60">
                <a:alpha val="573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b.before-real/point 017"/>
            <p:cNvSpPr/>
            <p:nvPr/>
          </p:nvSpPr>
          <p:spPr>
            <a:xfrm>
              <a:off x="8741048" y="7231577"/>
              <a:ext cx="28493" cy="28493"/>
            </a:xfrm>
            <a:prstGeom prst="ellipse">
              <a:avLst/>
            </a:prstGeom>
            <a:solidFill>
              <a:srgbClr val="C56C60">
                <a:alpha val="6377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b.before-real/point 018"/>
            <p:cNvSpPr/>
            <p:nvPr/>
          </p:nvSpPr>
          <p:spPr>
            <a:xfrm>
              <a:off x="8584784" y="7271303"/>
              <a:ext cx="16064" cy="16064"/>
            </a:xfrm>
            <a:prstGeom prst="ellipse">
              <a:avLst/>
            </a:prstGeom>
            <a:solidFill>
              <a:srgbClr val="C56C60">
                <a:alpha val="6874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b.before-real/point 019"/>
            <p:cNvSpPr/>
            <p:nvPr/>
          </p:nvSpPr>
          <p:spPr>
            <a:xfrm>
              <a:off x="8571444" y="7292560"/>
              <a:ext cx="28473" cy="28473"/>
            </a:xfrm>
            <a:prstGeom prst="ellipse">
              <a:avLst/>
            </a:prstGeom>
            <a:solidFill>
              <a:srgbClr val="C56C60">
                <a:alpha val="769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b.before-real/point 020"/>
            <p:cNvSpPr/>
            <p:nvPr/>
          </p:nvSpPr>
          <p:spPr>
            <a:xfrm>
              <a:off x="8676238" y="7311315"/>
              <a:ext cx="16094" cy="16094"/>
            </a:xfrm>
            <a:prstGeom prst="ellipse">
              <a:avLst/>
            </a:prstGeom>
            <a:solidFill>
              <a:srgbClr val="C56C60">
                <a:alpha val="5575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b.before-real/point 021"/>
            <p:cNvSpPr/>
            <p:nvPr/>
          </p:nvSpPr>
          <p:spPr>
            <a:xfrm>
              <a:off x="8692225" y="7317295"/>
              <a:ext cx="25553" cy="25553"/>
            </a:xfrm>
            <a:prstGeom prst="ellipse">
              <a:avLst/>
            </a:prstGeom>
            <a:solidFill>
              <a:srgbClr val="C56C60">
                <a:alpha val="6173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b.before-real/point 022"/>
            <p:cNvSpPr/>
            <p:nvPr/>
          </p:nvSpPr>
          <p:spPr>
            <a:xfrm>
              <a:off x="8607278" y="7357421"/>
              <a:ext cx="20995" cy="20995"/>
            </a:xfrm>
            <a:prstGeom prst="ellipse">
              <a:avLst/>
            </a:prstGeom>
            <a:solidFill>
              <a:srgbClr val="C56C60">
                <a:alpha val="629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b.before-real/point 023"/>
            <p:cNvSpPr/>
            <p:nvPr/>
          </p:nvSpPr>
          <p:spPr>
            <a:xfrm>
              <a:off x="8545054" y="7291410"/>
              <a:ext cx="18876" cy="18876"/>
            </a:xfrm>
            <a:prstGeom prst="ellipse">
              <a:avLst/>
            </a:prstGeom>
            <a:solidFill>
              <a:srgbClr val="C56C60">
                <a:alpha val="6914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b.before-real/point 024"/>
            <p:cNvSpPr/>
            <p:nvPr/>
          </p:nvSpPr>
          <p:spPr>
            <a:xfrm>
              <a:off x="8708036" y="7343311"/>
              <a:ext cx="19373" cy="19373"/>
            </a:xfrm>
            <a:prstGeom prst="ellipse">
              <a:avLst/>
            </a:prstGeom>
            <a:solidFill>
              <a:srgbClr val="C56C60">
                <a:alpha val="628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b.before-real/point 025"/>
            <p:cNvSpPr/>
            <p:nvPr/>
          </p:nvSpPr>
          <p:spPr>
            <a:xfrm>
              <a:off x="8626196" y="7380767"/>
              <a:ext cx="24349" cy="24349"/>
            </a:xfrm>
            <a:prstGeom prst="ellipse">
              <a:avLst/>
            </a:prstGeom>
            <a:solidFill>
              <a:srgbClr val="C56C60">
                <a:alpha val="7201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b.before-real/point 026"/>
            <p:cNvSpPr/>
            <p:nvPr/>
          </p:nvSpPr>
          <p:spPr>
            <a:xfrm>
              <a:off x="8680435" y="7310148"/>
              <a:ext cx="17448" cy="17448"/>
            </a:xfrm>
            <a:prstGeom prst="ellipse">
              <a:avLst/>
            </a:prstGeom>
            <a:solidFill>
              <a:srgbClr val="C56C60">
                <a:alpha val="5689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b.before-real/point 027"/>
            <p:cNvSpPr/>
            <p:nvPr/>
          </p:nvSpPr>
          <p:spPr>
            <a:xfrm>
              <a:off x="8723357" y="7175238"/>
              <a:ext cx="17442" cy="17442"/>
            </a:xfrm>
            <a:prstGeom prst="ellipse">
              <a:avLst/>
            </a:prstGeom>
            <a:solidFill>
              <a:srgbClr val="C56C60">
                <a:alpha val="8054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b.before-real/point 028"/>
            <p:cNvSpPr/>
            <p:nvPr/>
          </p:nvSpPr>
          <p:spPr>
            <a:xfrm>
              <a:off x="8763585" y="7224142"/>
              <a:ext cx="22632" cy="22632"/>
            </a:xfrm>
            <a:prstGeom prst="ellipse">
              <a:avLst/>
            </a:prstGeom>
            <a:solidFill>
              <a:srgbClr val="C56C60">
                <a:alpha val="628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b.before-real/point 029"/>
            <p:cNvSpPr/>
            <p:nvPr/>
          </p:nvSpPr>
          <p:spPr>
            <a:xfrm>
              <a:off x="8613999" y="7265291"/>
              <a:ext cx="19661" cy="19661"/>
            </a:xfrm>
            <a:prstGeom prst="ellipse">
              <a:avLst/>
            </a:prstGeom>
            <a:solidFill>
              <a:srgbClr val="C56C60">
                <a:alpha val="7574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b.before-real/point 030"/>
            <p:cNvSpPr/>
            <p:nvPr/>
          </p:nvSpPr>
          <p:spPr>
            <a:xfrm>
              <a:off x="8671512" y="7464920"/>
              <a:ext cx="19216" cy="19216"/>
            </a:xfrm>
            <a:prstGeom prst="ellipse">
              <a:avLst/>
            </a:prstGeom>
            <a:solidFill>
              <a:srgbClr val="C56C60">
                <a:alpha val="5408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6" name="b.before-real/point 031"/>
            <p:cNvSpPr/>
            <p:nvPr/>
          </p:nvSpPr>
          <p:spPr>
            <a:xfrm>
              <a:off x="8610071" y="7266327"/>
              <a:ext cx="20592" cy="20592"/>
            </a:xfrm>
            <a:prstGeom prst="ellipse">
              <a:avLst/>
            </a:prstGeom>
            <a:solidFill>
              <a:srgbClr val="C56C60">
                <a:alpha val="7098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b.before-real/point 032"/>
            <p:cNvSpPr/>
            <p:nvPr/>
          </p:nvSpPr>
          <p:spPr>
            <a:xfrm>
              <a:off x="8689424" y="7345156"/>
              <a:ext cx="24094" cy="24094"/>
            </a:xfrm>
            <a:prstGeom prst="ellipse">
              <a:avLst/>
            </a:prstGeom>
            <a:solidFill>
              <a:srgbClr val="C56C60">
                <a:alpha val="847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8" name="b.before-real/point 033"/>
            <p:cNvSpPr/>
            <p:nvPr/>
          </p:nvSpPr>
          <p:spPr>
            <a:xfrm>
              <a:off x="8710276" y="7322766"/>
              <a:ext cx="16527" cy="16527"/>
            </a:xfrm>
            <a:prstGeom prst="ellipse">
              <a:avLst/>
            </a:prstGeom>
            <a:solidFill>
              <a:srgbClr val="C56C60">
                <a:alpha val="539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b.before-real/point 034"/>
            <p:cNvSpPr/>
            <p:nvPr/>
          </p:nvSpPr>
          <p:spPr>
            <a:xfrm>
              <a:off x="8798967" y="7333136"/>
              <a:ext cx="21831" cy="21831"/>
            </a:xfrm>
            <a:prstGeom prst="ellipse">
              <a:avLst/>
            </a:prstGeom>
            <a:solidFill>
              <a:srgbClr val="C56C60">
                <a:alpha val="604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b.before-real/point 035"/>
            <p:cNvSpPr/>
            <p:nvPr/>
          </p:nvSpPr>
          <p:spPr>
            <a:xfrm>
              <a:off x="8601927" y="7357507"/>
              <a:ext cx="19465" cy="19465"/>
            </a:xfrm>
            <a:prstGeom prst="ellipse">
              <a:avLst/>
            </a:prstGeom>
            <a:solidFill>
              <a:srgbClr val="C56C60">
                <a:alpha val="7860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1" name="b.before-real/point 036"/>
            <p:cNvSpPr/>
            <p:nvPr/>
          </p:nvSpPr>
          <p:spPr>
            <a:xfrm>
              <a:off x="8743238" y="7344256"/>
              <a:ext cx="21175" cy="21175"/>
            </a:xfrm>
            <a:prstGeom prst="ellipse">
              <a:avLst/>
            </a:prstGeom>
            <a:solidFill>
              <a:srgbClr val="C56C60">
                <a:alpha val="5437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b.before-real/point 037"/>
            <p:cNvSpPr/>
            <p:nvPr/>
          </p:nvSpPr>
          <p:spPr>
            <a:xfrm>
              <a:off x="8609352" y="7320613"/>
              <a:ext cx="24386" cy="24386"/>
            </a:xfrm>
            <a:prstGeom prst="ellipse">
              <a:avLst/>
            </a:prstGeom>
            <a:solidFill>
              <a:srgbClr val="C56C60">
                <a:alpha val="5366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b.before-real/point 038"/>
            <p:cNvSpPr/>
            <p:nvPr/>
          </p:nvSpPr>
          <p:spPr>
            <a:xfrm>
              <a:off x="8688089" y="7341862"/>
              <a:ext cx="15913" cy="15913"/>
            </a:xfrm>
            <a:prstGeom prst="ellipse">
              <a:avLst/>
            </a:prstGeom>
            <a:solidFill>
              <a:srgbClr val="C56C60">
                <a:alpha val="7222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4" name="b.before-real/point 039"/>
            <p:cNvSpPr/>
            <p:nvPr/>
          </p:nvSpPr>
          <p:spPr>
            <a:xfrm>
              <a:off x="8711353" y="7434716"/>
              <a:ext cx="21648" cy="21648"/>
            </a:xfrm>
            <a:prstGeom prst="ellipse">
              <a:avLst/>
            </a:prstGeom>
            <a:solidFill>
              <a:srgbClr val="C56C60">
                <a:alpha val="505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5" name="b.before-real/point 040"/>
            <p:cNvSpPr/>
            <p:nvPr/>
          </p:nvSpPr>
          <p:spPr>
            <a:xfrm>
              <a:off x="8537911" y="7467980"/>
              <a:ext cx="25685" cy="25685"/>
            </a:xfrm>
            <a:prstGeom prst="ellipse">
              <a:avLst/>
            </a:prstGeom>
            <a:solidFill>
              <a:srgbClr val="C56C60">
                <a:alpha val="849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6" name="b.before-real/point 041"/>
            <p:cNvSpPr/>
            <p:nvPr/>
          </p:nvSpPr>
          <p:spPr>
            <a:xfrm>
              <a:off x="8702107" y="7333318"/>
              <a:ext cx="16638" cy="16638"/>
            </a:xfrm>
            <a:prstGeom prst="ellipse">
              <a:avLst/>
            </a:prstGeom>
            <a:solidFill>
              <a:srgbClr val="C56C60">
                <a:alpha val="7657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b.before-real/point 042"/>
            <p:cNvSpPr/>
            <p:nvPr/>
          </p:nvSpPr>
          <p:spPr>
            <a:xfrm>
              <a:off x="8703802" y="7282594"/>
              <a:ext cx="16014" cy="16014"/>
            </a:xfrm>
            <a:prstGeom prst="ellipse">
              <a:avLst/>
            </a:prstGeom>
            <a:solidFill>
              <a:srgbClr val="C56C60">
                <a:alpha val="6922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8" name="b.before-real/point 043"/>
            <p:cNvSpPr/>
            <p:nvPr/>
          </p:nvSpPr>
          <p:spPr>
            <a:xfrm>
              <a:off x="8651438" y="7372641"/>
              <a:ext cx="20625" cy="20625"/>
            </a:xfrm>
            <a:prstGeom prst="ellipse">
              <a:avLst/>
            </a:prstGeom>
            <a:solidFill>
              <a:srgbClr val="C56C60">
                <a:alpha val="8665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b.before-real/point 044"/>
            <p:cNvSpPr/>
            <p:nvPr/>
          </p:nvSpPr>
          <p:spPr>
            <a:xfrm>
              <a:off x="8678944" y="7421513"/>
              <a:ext cx="17561" cy="17561"/>
            </a:xfrm>
            <a:prstGeom prst="ellipse">
              <a:avLst/>
            </a:prstGeom>
            <a:solidFill>
              <a:srgbClr val="C56C60">
                <a:alpha val="7091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b.before-real/point 045"/>
            <p:cNvSpPr/>
            <p:nvPr/>
          </p:nvSpPr>
          <p:spPr>
            <a:xfrm>
              <a:off x="8638592" y="7301551"/>
              <a:ext cx="27819" cy="27819"/>
            </a:xfrm>
            <a:prstGeom prst="ellipse">
              <a:avLst/>
            </a:prstGeom>
            <a:solidFill>
              <a:srgbClr val="C56C60">
                <a:alpha val="756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1" name="b.before-real/point 046"/>
            <p:cNvSpPr/>
            <p:nvPr/>
          </p:nvSpPr>
          <p:spPr>
            <a:xfrm>
              <a:off x="8455898" y="7220024"/>
              <a:ext cx="23489" cy="23489"/>
            </a:xfrm>
            <a:prstGeom prst="ellipse">
              <a:avLst/>
            </a:prstGeom>
            <a:solidFill>
              <a:srgbClr val="C56C60">
                <a:alpha val="533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b.before-real/point 047"/>
            <p:cNvSpPr/>
            <p:nvPr/>
          </p:nvSpPr>
          <p:spPr>
            <a:xfrm>
              <a:off x="8630116" y="7341525"/>
              <a:ext cx="28424" cy="28424"/>
            </a:xfrm>
            <a:prstGeom prst="ellipse">
              <a:avLst/>
            </a:prstGeom>
            <a:solidFill>
              <a:srgbClr val="C56C60">
                <a:alpha val="8498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3" name="b.before-fake"/>
          <p:cNvGrpSpPr/>
          <p:nvPr/>
        </p:nvGrpSpPr>
        <p:grpSpPr>
          <a:xfrm>
            <a:off x="8851328" y="7370381"/>
            <a:ext cx="709803" cy="524637"/>
            <a:chOff x="8851328" y="7370381"/>
            <a:chExt cx="709803" cy="524637"/>
          </a:xfrm>
        </p:grpSpPr>
        <p:sp>
          <p:nvSpPr>
            <p:cNvPr id="524" name="b.before-fake/contour 1.35"/>
            <p:cNvSpPr/>
            <p:nvPr/>
          </p:nvSpPr>
          <p:spPr>
            <a:xfrm>
              <a:off x="8851328" y="7370381"/>
              <a:ext cx="709803" cy="524637"/>
            </a:xfrm>
            <a:prstGeom prst="ellipse">
              <a:avLst/>
            </a:prstGeom>
            <a:solidFill>
              <a:srgbClr val="5E8DB5">
                <a:alpha val="4500"/>
              </a:srgbClr>
            </a:solidFill>
            <a:ln w="4000">
              <a:solidFill>
                <a:srgbClr val="5E8DB5">
                  <a:alpha val="45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b.before-fake/contour 1.05"/>
            <p:cNvSpPr/>
            <p:nvPr/>
          </p:nvSpPr>
          <p:spPr>
            <a:xfrm>
              <a:off x="8930195" y="7428674"/>
              <a:ext cx="552069" cy="408051"/>
            </a:xfrm>
            <a:prstGeom prst="ellipse">
              <a:avLst/>
            </a:prstGeom>
            <a:solidFill>
              <a:srgbClr val="5E8DB5">
                <a:alpha val="7000"/>
              </a:srgbClr>
            </a:solidFill>
            <a:ln w="4000">
              <a:solidFill>
                <a:srgbClr val="5E8DB5">
                  <a:alpha val="7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b.before-fake/contour 0.75"/>
            <p:cNvSpPr/>
            <p:nvPr/>
          </p:nvSpPr>
          <p:spPr>
            <a:xfrm>
              <a:off x="9009062" y="7486967"/>
              <a:ext cx="394335" cy="291465"/>
            </a:xfrm>
            <a:prstGeom prst="ellipse">
              <a:avLst/>
            </a:prstGeom>
            <a:solidFill>
              <a:srgbClr val="5E8DB5">
                <a:alpha val="10000"/>
              </a:srgbClr>
            </a:solidFill>
            <a:ln w="4000">
              <a:solidFill>
                <a:srgbClr val="5E8DB5">
                  <a:alpha val="10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b.before-fake/point 000"/>
            <p:cNvSpPr/>
            <p:nvPr/>
          </p:nvSpPr>
          <p:spPr>
            <a:xfrm>
              <a:off x="9166835" y="7671134"/>
              <a:ext cx="26008" cy="26008"/>
            </a:xfrm>
            <a:prstGeom prst="ellipse">
              <a:avLst/>
            </a:prstGeom>
            <a:solidFill>
              <a:srgbClr val="5E8DB5">
                <a:alpha val="7150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b.before-fake/point 001"/>
            <p:cNvSpPr/>
            <p:nvPr/>
          </p:nvSpPr>
          <p:spPr>
            <a:xfrm>
              <a:off x="9212254" y="7540601"/>
              <a:ext cx="27693" cy="27693"/>
            </a:xfrm>
            <a:prstGeom prst="ellipse">
              <a:avLst/>
            </a:prstGeom>
            <a:solidFill>
              <a:srgbClr val="5E8DB5">
                <a:alpha val="8232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9" name="b.before-fake/point 002"/>
            <p:cNvSpPr/>
            <p:nvPr/>
          </p:nvSpPr>
          <p:spPr>
            <a:xfrm>
              <a:off x="8974137" y="7573122"/>
              <a:ext cx="18766" cy="18766"/>
            </a:xfrm>
            <a:prstGeom prst="ellipse">
              <a:avLst/>
            </a:prstGeom>
            <a:solidFill>
              <a:srgbClr val="5E8DB5">
                <a:alpha val="5806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b.before-fake/point 003"/>
            <p:cNvSpPr/>
            <p:nvPr/>
          </p:nvSpPr>
          <p:spPr>
            <a:xfrm>
              <a:off x="9389306" y="7518461"/>
              <a:ext cx="25701" cy="25701"/>
            </a:xfrm>
            <a:prstGeom prst="ellipse">
              <a:avLst/>
            </a:prstGeom>
            <a:solidFill>
              <a:srgbClr val="5E8DB5">
                <a:alpha val="7756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b.before-fake/point 004"/>
            <p:cNvSpPr/>
            <p:nvPr/>
          </p:nvSpPr>
          <p:spPr>
            <a:xfrm>
              <a:off x="9264312" y="7635074"/>
              <a:ext cx="25465" cy="25465"/>
            </a:xfrm>
            <a:prstGeom prst="ellipse">
              <a:avLst/>
            </a:prstGeom>
            <a:solidFill>
              <a:srgbClr val="5E8DB5">
                <a:alpha val="5023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b.before-fake/point 005"/>
            <p:cNvSpPr/>
            <p:nvPr/>
          </p:nvSpPr>
          <p:spPr>
            <a:xfrm>
              <a:off x="9167729" y="7667383"/>
              <a:ext cx="27662" cy="27662"/>
            </a:xfrm>
            <a:prstGeom prst="ellipse">
              <a:avLst/>
            </a:prstGeom>
            <a:solidFill>
              <a:srgbClr val="5E8DB5">
                <a:alpha val="5831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b.before-fake/point 006"/>
            <p:cNvSpPr/>
            <p:nvPr/>
          </p:nvSpPr>
          <p:spPr>
            <a:xfrm>
              <a:off x="9262798" y="7656028"/>
              <a:ext cx="27520" cy="27520"/>
            </a:xfrm>
            <a:prstGeom prst="ellipse">
              <a:avLst/>
            </a:prstGeom>
            <a:solidFill>
              <a:srgbClr val="5E8DB5">
                <a:alpha val="7266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b.before-fake/point 007"/>
            <p:cNvSpPr/>
            <p:nvPr/>
          </p:nvSpPr>
          <p:spPr>
            <a:xfrm>
              <a:off x="9306812" y="7528477"/>
              <a:ext cx="26742" cy="26742"/>
            </a:xfrm>
            <a:prstGeom prst="ellipse">
              <a:avLst/>
            </a:prstGeom>
            <a:solidFill>
              <a:srgbClr val="5E8DB5">
                <a:alpha val="8785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b.before-fake/point 008"/>
            <p:cNvSpPr/>
            <p:nvPr/>
          </p:nvSpPr>
          <p:spPr>
            <a:xfrm>
              <a:off x="9175802" y="7605294"/>
              <a:ext cx="16165" cy="16165"/>
            </a:xfrm>
            <a:prstGeom prst="ellipse">
              <a:avLst/>
            </a:prstGeom>
            <a:solidFill>
              <a:srgbClr val="5E8DB5">
                <a:alpha val="8416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b.before-fake/point 009"/>
            <p:cNvSpPr/>
            <p:nvPr/>
          </p:nvSpPr>
          <p:spPr>
            <a:xfrm>
              <a:off x="9024379" y="7705811"/>
              <a:ext cx="26678" cy="26678"/>
            </a:xfrm>
            <a:prstGeom prst="ellipse">
              <a:avLst/>
            </a:prstGeom>
            <a:solidFill>
              <a:srgbClr val="5E8DB5">
                <a:alpha val="8419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b.before-fake/point 010"/>
            <p:cNvSpPr/>
            <p:nvPr/>
          </p:nvSpPr>
          <p:spPr>
            <a:xfrm>
              <a:off x="9123951" y="7648118"/>
              <a:ext cx="24347" cy="24347"/>
            </a:xfrm>
            <a:prstGeom prst="ellipse">
              <a:avLst/>
            </a:prstGeom>
            <a:solidFill>
              <a:srgbClr val="5E8DB5">
                <a:alpha val="7564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b.before-fake/point 011"/>
            <p:cNvSpPr/>
            <p:nvPr/>
          </p:nvSpPr>
          <p:spPr>
            <a:xfrm>
              <a:off x="9165881" y="7734443"/>
              <a:ext cx="26872" cy="26872"/>
            </a:xfrm>
            <a:prstGeom prst="ellipse">
              <a:avLst/>
            </a:prstGeom>
            <a:solidFill>
              <a:srgbClr val="5E8DB5">
                <a:alpha val="8191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9" name="b.before-fake/point 012"/>
            <p:cNvSpPr/>
            <p:nvPr/>
          </p:nvSpPr>
          <p:spPr>
            <a:xfrm>
              <a:off x="9253808" y="7697690"/>
              <a:ext cx="24479" cy="24479"/>
            </a:xfrm>
            <a:prstGeom prst="ellipse">
              <a:avLst/>
            </a:prstGeom>
            <a:solidFill>
              <a:srgbClr val="5E8DB5">
                <a:alpha val="7328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0" name="b.before-fake/point 013"/>
            <p:cNvSpPr/>
            <p:nvPr/>
          </p:nvSpPr>
          <p:spPr>
            <a:xfrm>
              <a:off x="9199631" y="7662153"/>
              <a:ext cx="23236" cy="23236"/>
            </a:xfrm>
            <a:prstGeom prst="ellipse">
              <a:avLst/>
            </a:prstGeom>
            <a:solidFill>
              <a:srgbClr val="5E8DB5">
                <a:alpha val="849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1" name="b.before-fake/point 014"/>
            <p:cNvSpPr/>
            <p:nvPr/>
          </p:nvSpPr>
          <p:spPr>
            <a:xfrm>
              <a:off x="9350473" y="7682103"/>
              <a:ext cx="18693" cy="18693"/>
            </a:xfrm>
            <a:prstGeom prst="ellipse">
              <a:avLst/>
            </a:prstGeom>
            <a:solidFill>
              <a:srgbClr val="5E8DB5">
                <a:alpha val="649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2" name="b.before-fake/point 015"/>
            <p:cNvSpPr/>
            <p:nvPr/>
          </p:nvSpPr>
          <p:spPr>
            <a:xfrm>
              <a:off x="9349350" y="7584076"/>
              <a:ext cx="16549" cy="16549"/>
            </a:xfrm>
            <a:prstGeom prst="ellipse">
              <a:avLst/>
            </a:prstGeom>
            <a:solidFill>
              <a:srgbClr val="5E8DB5">
                <a:alpha val="649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3" name="b.before-fake/point 016"/>
            <p:cNvSpPr/>
            <p:nvPr/>
          </p:nvSpPr>
          <p:spPr>
            <a:xfrm>
              <a:off x="9059279" y="7659929"/>
              <a:ext cx="24816" cy="24816"/>
            </a:xfrm>
            <a:prstGeom prst="ellipse">
              <a:avLst/>
            </a:prstGeom>
            <a:solidFill>
              <a:srgbClr val="5E8DB5">
                <a:alpha val="8041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4" name="b.before-fake/point 017"/>
            <p:cNvSpPr/>
            <p:nvPr/>
          </p:nvSpPr>
          <p:spPr>
            <a:xfrm>
              <a:off x="9132631" y="7719864"/>
              <a:ext cx="22352" cy="22352"/>
            </a:xfrm>
            <a:prstGeom prst="ellipse">
              <a:avLst/>
            </a:prstGeom>
            <a:solidFill>
              <a:srgbClr val="5E8DB5">
                <a:alpha val="637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5" name="b.before-fake/point 018"/>
            <p:cNvSpPr/>
            <p:nvPr/>
          </p:nvSpPr>
          <p:spPr>
            <a:xfrm>
              <a:off x="9076493" y="7641827"/>
              <a:ext cx="26527" cy="26527"/>
            </a:xfrm>
            <a:prstGeom prst="ellipse">
              <a:avLst/>
            </a:prstGeom>
            <a:solidFill>
              <a:srgbClr val="5E8DB5">
                <a:alpha val="8297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6" name="b.before-fake/point 019"/>
            <p:cNvSpPr/>
            <p:nvPr/>
          </p:nvSpPr>
          <p:spPr>
            <a:xfrm>
              <a:off x="9154435" y="7696635"/>
              <a:ext cx="24792" cy="24792"/>
            </a:xfrm>
            <a:prstGeom prst="ellipse">
              <a:avLst/>
            </a:prstGeom>
            <a:solidFill>
              <a:srgbClr val="5E8DB5">
                <a:alpha val="6523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7" name="b.before-fake/point 020"/>
            <p:cNvSpPr/>
            <p:nvPr/>
          </p:nvSpPr>
          <p:spPr>
            <a:xfrm>
              <a:off x="9360806" y="7645060"/>
              <a:ext cx="15336" cy="15336"/>
            </a:xfrm>
            <a:prstGeom prst="ellipse">
              <a:avLst/>
            </a:prstGeom>
            <a:solidFill>
              <a:srgbClr val="5E8DB5">
                <a:alpha val="790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8" name="b.before-fake/point 021"/>
            <p:cNvSpPr/>
            <p:nvPr/>
          </p:nvSpPr>
          <p:spPr>
            <a:xfrm>
              <a:off x="9221437" y="7640414"/>
              <a:ext cx="19294" cy="19294"/>
            </a:xfrm>
            <a:prstGeom prst="ellipse">
              <a:avLst/>
            </a:prstGeom>
            <a:solidFill>
              <a:srgbClr val="5E8DB5">
                <a:alpha val="6307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9" name="b.before-fake/point 022"/>
            <p:cNvSpPr/>
            <p:nvPr/>
          </p:nvSpPr>
          <p:spPr>
            <a:xfrm>
              <a:off x="9195590" y="7740378"/>
              <a:ext cx="25647" cy="25647"/>
            </a:xfrm>
            <a:prstGeom prst="ellipse">
              <a:avLst/>
            </a:prstGeom>
            <a:solidFill>
              <a:srgbClr val="5E8DB5">
                <a:alpha val="578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0" name="b.before-fake/point 023"/>
            <p:cNvSpPr/>
            <p:nvPr/>
          </p:nvSpPr>
          <p:spPr>
            <a:xfrm>
              <a:off x="9234319" y="7517123"/>
              <a:ext cx="22809" cy="22809"/>
            </a:xfrm>
            <a:prstGeom prst="ellipse">
              <a:avLst/>
            </a:prstGeom>
            <a:solidFill>
              <a:srgbClr val="5E8DB5">
                <a:alpha val="7765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1" name="b.before-fake/point 024"/>
            <p:cNvSpPr/>
            <p:nvPr/>
          </p:nvSpPr>
          <p:spPr>
            <a:xfrm>
              <a:off x="9251447" y="7539370"/>
              <a:ext cx="15609" cy="15609"/>
            </a:xfrm>
            <a:prstGeom prst="ellipse">
              <a:avLst/>
            </a:prstGeom>
            <a:solidFill>
              <a:srgbClr val="5E8DB5">
                <a:alpha val="7241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2" name="b.before-fake/point 025"/>
            <p:cNvSpPr/>
            <p:nvPr/>
          </p:nvSpPr>
          <p:spPr>
            <a:xfrm>
              <a:off x="9063678" y="7615924"/>
              <a:ext cx="23507" cy="23507"/>
            </a:xfrm>
            <a:prstGeom prst="ellipse">
              <a:avLst/>
            </a:prstGeom>
            <a:solidFill>
              <a:srgbClr val="5E8DB5">
                <a:alpha val="6778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3" name="b.before-fake/point 026"/>
            <p:cNvSpPr/>
            <p:nvPr/>
          </p:nvSpPr>
          <p:spPr>
            <a:xfrm>
              <a:off x="9119650" y="7588516"/>
              <a:ext cx="17885" cy="17885"/>
            </a:xfrm>
            <a:prstGeom prst="ellipse">
              <a:avLst/>
            </a:prstGeom>
            <a:solidFill>
              <a:srgbClr val="5E8DB5">
                <a:alpha val="633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4" name="b.before-fake/point 027"/>
            <p:cNvSpPr/>
            <p:nvPr/>
          </p:nvSpPr>
          <p:spPr>
            <a:xfrm>
              <a:off x="9153633" y="7560202"/>
              <a:ext cx="22379" cy="22379"/>
            </a:xfrm>
            <a:prstGeom prst="ellipse">
              <a:avLst/>
            </a:prstGeom>
            <a:solidFill>
              <a:srgbClr val="5E8DB5">
                <a:alpha val="8378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5" name="b.before-fake/point 028"/>
            <p:cNvSpPr/>
            <p:nvPr/>
          </p:nvSpPr>
          <p:spPr>
            <a:xfrm>
              <a:off x="9146659" y="7640183"/>
              <a:ext cx="18275" cy="18275"/>
            </a:xfrm>
            <a:prstGeom prst="ellipse">
              <a:avLst/>
            </a:prstGeom>
            <a:solidFill>
              <a:srgbClr val="5E8DB5">
                <a:alpha val="7105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6" name="b.before-fake/point 029"/>
            <p:cNvSpPr/>
            <p:nvPr/>
          </p:nvSpPr>
          <p:spPr>
            <a:xfrm>
              <a:off x="9392424" y="7493737"/>
              <a:ext cx="15493" cy="15493"/>
            </a:xfrm>
            <a:prstGeom prst="ellipse">
              <a:avLst/>
            </a:prstGeom>
            <a:solidFill>
              <a:srgbClr val="5E8DB5">
                <a:alpha val="7909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7" name="b.before-fake/point 030"/>
            <p:cNvSpPr/>
            <p:nvPr/>
          </p:nvSpPr>
          <p:spPr>
            <a:xfrm>
              <a:off x="9209780" y="7515406"/>
              <a:ext cx="26952" cy="26952"/>
            </a:xfrm>
            <a:prstGeom prst="ellipse">
              <a:avLst/>
            </a:prstGeom>
            <a:solidFill>
              <a:srgbClr val="5E8DB5">
                <a:alpha val="5395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8" name="b.before-fake/point 031"/>
            <p:cNvSpPr/>
            <p:nvPr/>
          </p:nvSpPr>
          <p:spPr>
            <a:xfrm>
              <a:off x="9154262" y="7537641"/>
              <a:ext cx="15935" cy="15935"/>
            </a:xfrm>
            <a:prstGeom prst="ellipse">
              <a:avLst/>
            </a:prstGeom>
            <a:solidFill>
              <a:srgbClr val="5E8DB5">
                <a:alpha val="8222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9" name="b.before-fake/point 032"/>
            <p:cNvSpPr/>
            <p:nvPr/>
          </p:nvSpPr>
          <p:spPr>
            <a:xfrm>
              <a:off x="9270045" y="7696799"/>
              <a:ext cx="18142" cy="18142"/>
            </a:xfrm>
            <a:prstGeom prst="ellipse">
              <a:avLst/>
            </a:prstGeom>
            <a:solidFill>
              <a:srgbClr val="5E8DB5">
                <a:alpha val="6782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0" name="b.before-fake/point 033"/>
            <p:cNvSpPr/>
            <p:nvPr/>
          </p:nvSpPr>
          <p:spPr>
            <a:xfrm>
              <a:off x="9267869" y="7605989"/>
              <a:ext cx="25681" cy="25681"/>
            </a:xfrm>
            <a:prstGeom prst="ellipse">
              <a:avLst/>
            </a:prstGeom>
            <a:solidFill>
              <a:srgbClr val="5E8DB5">
                <a:alpha val="8547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1" name="b.before-fake/point 034"/>
            <p:cNvSpPr/>
            <p:nvPr/>
          </p:nvSpPr>
          <p:spPr>
            <a:xfrm>
              <a:off x="9213080" y="7563596"/>
              <a:ext cx="21183" cy="21183"/>
            </a:xfrm>
            <a:prstGeom prst="ellipse">
              <a:avLst/>
            </a:prstGeom>
            <a:solidFill>
              <a:srgbClr val="5E8DB5">
                <a:alpha val="6109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2" name="b.before-fake/point 035"/>
            <p:cNvSpPr/>
            <p:nvPr/>
          </p:nvSpPr>
          <p:spPr>
            <a:xfrm>
              <a:off x="9351202" y="7758198"/>
              <a:ext cx="24132" cy="24132"/>
            </a:xfrm>
            <a:prstGeom prst="ellipse">
              <a:avLst/>
            </a:prstGeom>
            <a:solidFill>
              <a:srgbClr val="5E8DB5">
                <a:alpha val="8010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3" name="b.before-fake/point 036"/>
            <p:cNvSpPr/>
            <p:nvPr/>
          </p:nvSpPr>
          <p:spPr>
            <a:xfrm>
              <a:off x="9155035" y="7728584"/>
              <a:ext cx="20689" cy="20689"/>
            </a:xfrm>
            <a:prstGeom prst="ellipse">
              <a:avLst/>
            </a:prstGeom>
            <a:solidFill>
              <a:srgbClr val="5E8DB5">
                <a:alpha val="743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4" name="b.before-fake/point 037"/>
            <p:cNvSpPr/>
            <p:nvPr/>
          </p:nvSpPr>
          <p:spPr>
            <a:xfrm>
              <a:off x="9392609" y="7586843"/>
              <a:ext cx="26157" cy="26157"/>
            </a:xfrm>
            <a:prstGeom prst="ellipse">
              <a:avLst/>
            </a:prstGeom>
            <a:solidFill>
              <a:srgbClr val="5E8DB5">
                <a:alpha val="5199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5" name="b.before-fake/point 038"/>
            <p:cNvSpPr/>
            <p:nvPr/>
          </p:nvSpPr>
          <p:spPr>
            <a:xfrm>
              <a:off x="9126131" y="7649046"/>
              <a:ext cx="17443" cy="17443"/>
            </a:xfrm>
            <a:prstGeom prst="ellipse">
              <a:avLst/>
            </a:prstGeom>
            <a:solidFill>
              <a:srgbClr val="5E8DB5">
                <a:alpha val="829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6" name="b.before-fake/point 039"/>
            <p:cNvSpPr/>
            <p:nvPr/>
          </p:nvSpPr>
          <p:spPr>
            <a:xfrm>
              <a:off x="9077667" y="7535048"/>
              <a:ext cx="27331" cy="27331"/>
            </a:xfrm>
            <a:prstGeom prst="ellipse">
              <a:avLst/>
            </a:prstGeom>
            <a:solidFill>
              <a:srgbClr val="5E8DB5">
                <a:alpha val="5550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7" name="b.before-fake/point 040"/>
            <p:cNvSpPr/>
            <p:nvPr/>
          </p:nvSpPr>
          <p:spPr>
            <a:xfrm>
              <a:off x="9198951" y="7599876"/>
              <a:ext cx="25131" cy="25131"/>
            </a:xfrm>
            <a:prstGeom prst="ellipse">
              <a:avLst/>
            </a:prstGeom>
            <a:solidFill>
              <a:srgbClr val="5E8DB5">
                <a:alpha val="6479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8" name="b.before-fake/point 041"/>
            <p:cNvSpPr/>
            <p:nvPr/>
          </p:nvSpPr>
          <p:spPr>
            <a:xfrm>
              <a:off x="9216568" y="7632161"/>
              <a:ext cx="18156" cy="18156"/>
            </a:xfrm>
            <a:prstGeom prst="ellipse">
              <a:avLst/>
            </a:prstGeom>
            <a:solidFill>
              <a:srgbClr val="5E8DB5">
                <a:alpha val="5026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9" name="b.before-fake/point 042"/>
            <p:cNvSpPr/>
            <p:nvPr/>
          </p:nvSpPr>
          <p:spPr>
            <a:xfrm>
              <a:off x="9239634" y="7668724"/>
              <a:ext cx="28065" cy="28065"/>
            </a:xfrm>
            <a:prstGeom prst="ellipse">
              <a:avLst/>
            </a:prstGeom>
            <a:solidFill>
              <a:srgbClr val="5E8DB5">
                <a:alpha val="7859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0" name="b.before-fake/point 043"/>
            <p:cNvSpPr/>
            <p:nvPr/>
          </p:nvSpPr>
          <p:spPr>
            <a:xfrm>
              <a:off x="9128169" y="7633107"/>
              <a:ext cx="28249" cy="28249"/>
            </a:xfrm>
            <a:prstGeom prst="ellipse">
              <a:avLst/>
            </a:prstGeom>
            <a:solidFill>
              <a:srgbClr val="5E8DB5">
                <a:alpha val="8389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1" name="b.before-fake/point 044"/>
            <p:cNvSpPr/>
            <p:nvPr/>
          </p:nvSpPr>
          <p:spPr>
            <a:xfrm>
              <a:off x="9243069" y="7549249"/>
              <a:ext cx="20449" cy="20449"/>
            </a:xfrm>
            <a:prstGeom prst="ellipse">
              <a:avLst/>
            </a:prstGeom>
            <a:solidFill>
              <a:srgbClr val="5E8DB5">
                <a:alpha val="5701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2" name="b.before-fake/point 045"/>
            <p:cNvSpPr/>
            <p:nvPr/>
          </p:nvSpPr>
          <p:spPr>
            <a:xfrm>
              <a:off x="9012809" y="7710146"/>
              <a:ext cx="22482" cy="22482"/>
            </a:xfrm>
            <a:prstGeom prst="ellipse">
              <a:avLst/>
            </a:prstGeom>
            <a:solidFill>
              <a:srgbClr val="5E8DB5">
                <a:alpha val="6566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3" name="b.before-fake/point 046"/>
            <p:cNvSpPr/>
            <p:nvPr/>
          </p:nvSpPr>
          <p:spPr>
            <a:xfrm>
              <a:off x="9164599" y="7698508"/>
              <a:ext cx="16366" cy="16366"/>
            </a:xfrm>
            <a:prstGeom prst="ellipse">
              <a:avLst/>
            </a:prstGeom>
            <a:solidFill>
              <a:srgbClr val="5E8DB5">
                <a:alpha val="7758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4" name="b.before-fake/point 047"/>
            <p:cNvSpPr/>
            <p:nvPr/>
          </p:nvSpPr>
          <p:spPr>
            <a:xfrm>
              <a:off x="9124558" y="7609357"/>
              <a:ext cx="17502" cy="17502"/>
            </a:xfrm>
            <a:prstGeom prst="ellipse">
              <a:avLst/>
            </a:prstGeom>
            <a:solidFill>
              <a:srgbClr val="5E8DB5">
                <a:alpha val="6747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5" name="b.after-real"/>
          <p:cNvGrpSpPr/>
          <p:nvPr/>
        </p:nvGrpSpPr>
        <p:grpSpPr>
          <a:xfrm>
            <a:off x="11663108" y="7050341"/>
            <a:ext cx="709803" cy="524637"/>
            <a:chOff x="11663108" y="7050341"/>
            <a:chExt cx="709803" cy="524637"/>
          </a:xfrm>
        </p:grpSpPr>
        <p:sp>
          <p:nvSpPr>
            <p:cNvPr id="576" name="b.after-real/contour 1.35"/>
            <p:cNvSpPr/>
            <p:nvPr/>
          </p:nvSpPr>
          <p:spPr>
            <a:xfrm>
              <a:off x="11663108" y="7050341"/>
              <a:ext cx="709803" cy="524637"/>
            </a:xfrm>
            <a:prstGeom prst="ellipse">
              <a:avLst/>
            </a:prstGeom>
            <a:solidFill>
              <a:srgbClr val="C56C60">
                <a:alpha val="4500"/>
              </a:srgbClr>
            </a:solidFill>
            <a:ln w="4000">
              <a:solidFill>
                <a:srgbClr val="C56C60">
                  <a:alpha val="45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7" name="b.after-real/contour 1.05"/>
            <p:cNvSpPr/>
            <p:nvPr/>
          </p:nvSpPr>
          <p:spPr>
            <a:xfrm>
              <a:off x="11741975" y="7108634"/>
              <a:ext cx="552069" cy="408051"/>
            </a:xfrm>
            <a:prstGeom prst="ellipse">
              <a:avLst/>
            </a:prstGeom>
            <a:solidFill>
              <a:srgbClr val="C56C60">
                <a:alpha val="7000"/>
              </a:srgbClr>
            </a:solidFill>
            <a:ln w="4000">
              <a:solidFill>
                <a:srgbClr val="C56C60">
                  <a:alpha val="7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8" name="b.after-real/contour 0.75"/>
            <p:cNvSpPr/>
            <p:nvPr/>
          </p:nvSpPr>
          <p:spPr>
            <a:xfrm>
              <a:off x="11820842" y="7166927"/>
              <a:ext cx="394335" cy="291465"/>
            </a:xfrm>
            <a:prstGeom prst="ellipse">
              <a:avLst/>
            </a:prstGeom>
            <a:solidFill>
              <a:srgbClr val="C56C60">
                <a:alpha val="10000"/>
              </a:srgbClr>
            </a:solidFill>
            <a:ln w="4000">
              <a:solidFill>
                <a:srgbClr val="C56C60">
                  <a:alpha val="10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9" name="b.after-real/point 000"/>
            <p:cNvSpPr/>
            <p:nvPr/>
          </p:nvSpPr>
          <p:spPr>
            <a:xfrm>
              <a:off x="11937464" y="7267144"/>
              <a:ext cx="14879" cy="14879"/>
            </a:xfrm>
            <a:prstGeom prst="ellipse">
              <a:avLst/>
            </a:prstGeom>
            <a:solidFill>
              <a:srgbClr val="C56C60">
                <a:alpha val="6316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0" name="b.after-real/point 001"/>
            <p:cNvSpPr/>
            <p:nvPr/>
          </p:nvSpPr>
          <p:spPr>
            <a:xfrm>
              <a:off x="12051892" y="7233634"/>
              <a:ext cx="22811" cy="22811"/>
            </a:xfrm>
            <a:prstGeom prst="ellipse">
              <a:avLst/>
            </a:prstGeom>
            <a:solidFill>
              <a:srgbClr val="C56C60">
                <a:alpha val="5614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1" name="b.after-real/point 002"/>
            <p:cNvSpPr/>
            <p:nvPr/>
          </p:nvSpPr>
          <p:spPr>
            <a:xfrm>
              <a:off x="11925880" y="7334529"/>
              <a:ext cx="16759" cy="16759"/>
            </a:xfrm>
            <a:prstGeom prst="ellipse">
              <a:avLst/>
            </a:prstGeom>
            <a:solidFill>
              <a:srgbClr val="C56C60">
                <a:alpha val="5936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2" name="b.after-real/point 003"/>
            <p:cNvSpPr/>
            <p:nvPr/>
          </p:nvSpPr>
          <p:spPr>
            <a:xfrm>
              <a:off x="12169687" y="7382684"/>
              <a:ext cx="21755" cy="21755"/>
            </a:xfrm>
            <a:prstGeom prst="ellipse">
              <a:avLst/>
            </a:prstGeom>
            <a:solidFill>
              <a:srgbClr val="C56C60">
                <a:alpha val="695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3" name="b.after-real/point 004"/>
            <p:cNvSpPr/>
            <p:nvPr/>
          </p:nvSpPr>
          <p:spPr>
            <a:xfrm>
              <a:off x="12029107" y="7194163"/>
              <a:ext cx="18929" cy="18929"/>
            </a:xfrm>
            <a:prstGeom prst="ellipse">
              <a:avLst/>
            </a:prstGeom>
            <a:solidFill>
              <a:srgbClr val="C56C60">
                <a:alpha val="8368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4" name="b.after-real/point 005"/>
            <p:cNvSpPr/>
            <p:nvPr/>
          </p:nvSpPr>
          <p:spPr>
            <a:xfrm>
              <a:off x="11779994" y="7240392"/>
              <a:ext cx="18624" cy="18624"/>
            </a:xfrm>
            <a:prstGeom prst="ellipse">
              <a:avLst/>
            </a:prstGeom>
            <a:solidFill>
              <a:srgbClr val="C56C60">
                <a:alpha val="633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5" name="b.after-real/point 006"/>
            <p:cNvSpPr/>
            <p:nvPr/>
          </p:nvSpPr>
          <p:spPr>
            <a:xfrm>
              <a:off x="12166951" y="7353534"/>
              <a:ext cx="23420" cy="23420"/>
            </a:xfrm>
            <a:prstGeom prst="ellipse">
              <a:avLst/>
            </a:prstGeom>
            <a:solidFill>
              <a:srgbClr val="C56C60">
                <a:alpha val="8074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6" name="b.after-real/point 007"/>
            <p:cNvSpPr/>
            <p:nvPr/>
          </p:nvSpPr>
          <p:spPr>
            <a:xfrm>
              <a:off x="11850134" y="7413272"/>
              <a:ext cx="25165" cy="25165"/>
            </a:xfrm>
            <a:prstGeom prst="ellipse">
              <a:avLst/>
            </a:prstGeom>
            <a:solidFill>
              <a:srgbClr val="C56C60">
                <a:alpha val="809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7" name="b.after-real/point 008"/>
            <p:cNvSpPr/>
            <p:nvPr/>
          </p:nvSpPr>
          <p:spPr>
            <a:xfrm>
              <a:off x="12180817" y="7327505"/>
              <a:ext cx="27948" cy="27948"/>
            </a:xfrm>
            <a:prstGeom prst="ellipse">
              <a:avLst/>
            </a:prstGeom>
            <a:solidFill>
              <a:srgbClr val="C56C60">
                <a:alpha val="778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8" name="b.after-real/point 009"/>
            <p:cNvSpPr/>
            <p:nvPr/>
          </p:nvSpPr>
          <p:spPr>
            <a:xfrm>
              <a:off x="11881944" y="7337602"/>
              <a:ext cx="18577" cy="18577"/>
            </a:xfrm>
            <a:prstGeom prst="ellipse">
              <a:avLst/>
            </a:prstGeom>
            <a:solidFill>
              <a:srgbClr val="C56C60">
                <a:alpha val="574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9" name="b.after-real/point 010"/>
            <p:cNvSpPr/>
            <p:nvPr/>
          </p:nvSpPr>
          <p:spPr>
            <a:xfrm>
              <a:off x="12113326" y="7234892"/>
              <a:ext cx="26874" cy="26874"/>
            </a:xfrm>
            <a:prstGeom prst="ellipse">
              <a:avLst/>
            </a:prstGeom>
            <a:solidFill>
              <a:srgbClr val="C56C60">
                <a:alpha val="5904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b.after-real/point 011"/>
            <p:cNvSpPr/>
            <p:nvPr/>
          </p:nvSpPr>
          <p:spPr>
            <a:xfrm>
              <a:off x="11857900" y="7376393"/>
              <a:ext cx="16787" cy="16787"/>
            </a:xfrm>
            <a:prstGeom prst="ellipse">
              <a:avLst/>
            </a:prstGeom>
            <a:solidFill>
              <a:srgbClr val="C56C60">
                <a:alpha val="697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1" name="b.after-real/point 012"/>
            <p:cNvSpPr/>
            <p:nvPr/>
          </p:nvSpPr>
          <p:spPr>
            <a:xfrm>
              <a:off x="11936368" y="7315133"/>
              <a:ext cx="25185" cy="25185"/>
            </a:xfrm>
            <a:prstGeom prst="ellipse">
              <a:avLst/>
            </a:prstGeom>
            <a:solidFill>
              <a:srgbClr val="C56C60">
                <a:alpha val="750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2" name="b.after-real/point 013"/>
            <p:cNvSpPr/>
            <p:nvPr/>
          </p:nvSpPr>
          <p:spPr>
            <a:xfrm>
              <a:off x="11869195" y="7369138"/>
              <a:ext cx="28264" cy="28264"/>
            </a:xfrm>
            <a:prstGeom prst="ellipse">
              <a:avLst/>
            </a:prstGeom>
            <a:solidFill>
              <a:srgbClr val="C56C60">
                <a:alpha val="5341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3" name="b.after-real/point 014"/>
            <p:cNvSpPr/>
            <p:nvPr/>
          </p:nvSpPr>
          <p:spPr>
            <a:xfrm>
              <a:off x="12084434" y="7301008"/>
              <a:ext cx="20773" cy="20773"/>
            </a:xfrm>
            <a:prstGeom prst="ellipse">
              <a:avLst/>
            </a:prstGeom>
            <a:solidFill>
              <a:srgbClr val="C56C60">
                <a:alpha val="5793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4" name="b.after-real/point 015"/>
            <p:cNvSpPr/>
            <p:nvPr/>
          </p:nvSpPr>
          <p:spPr>
            <a:xfrm>
              <a:off x="12128582" y="7334427"/>
              <a:ext cx="16487" cy="16487"/>
            </a:xfrm>
            <a:prstGeom prst="ellipse">
              <a:avLst/>
            </a:prstGeom>
            <a:solidFill>
              <a:srgbClr val="C56C60">
                <a:alpha val="7270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5" name="b.after-real/point 016"/>
            <p:cNvSpPr/>
            <p:nvPr/>
          </p:nvSpPr>
          <p:spPr>
            <a:xfrm>
              <a:off x="12173443" y="7252076"/>
              <a:ext cx="17275" cy="17275"/>
            </a:xfrm>
            <a:prstGeom prst="ellipse">
              <a:avLst/>
            </a:prstGeom>
            <a:solidFill>
              <a:srgbClr val="C56C60">
                <a:alpha val="573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6" name="b.after-real/point 017"/>
            <p:cNvSpPr/>
            <p:nvPr/>
          </p:nvSpPr>
          <p:spPr>
            <a:xfrm>
              <a:off x="12078608" y="7231577"/>
              <a:ext cx="28493" cy="28493"/>
            </a:xfrm>
            <a:prstGeom prst="ellipse">
              <a:avLst/>
            </a:prstGeom>
            <a:solidFill>
              <a:srgbClr val="C56C60">
                <a:alpha val="6377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7" name="b.after-real/point 018"/>
            <p:cNvSpPr/>
            <p:nvPr/>
          </p:nvSpPr>
          <p:spPr>
            <a:xfrm>
              <a:off x="11922344" y="7271303"/>
              <a:ext cx="16064" cy="16064"/>
            </a:xfrm>
            <a:prstGeom prst="ellipse">
              <a:avLst/>
            </a:prstGeom>
            <a:solidFill>
              <a:srgbClr val="C56C60">
                <a:alpha val="6874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8" name="b.after-real/point 019"/>
            <p:cNvSpPr/>
            <p:nvPr/>
          </p:nvSpPr>
          <p:spPr>
            <a:xfrm>
              <a:off x="11909004" y="7292560"/>
              <a:ext cx="28473" cy="28473"/>
            </a:xfrm>
            <a:prstGeom prst="ellipse">
              <a:avLst/>
            </a:prstGeom>
            <a:solidFill>
              <a:srgbClr val="C56C60">
                <a:alpha val="769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9" name="b.after-real/point 020"/>
            <p:cNvSpPr/>
            <p:nvPr/>
          </p:nvSpPr>
          <p:spPr>
            <a:xfrm>
              <a:off x="12013798" y="7311315"/>
              <a:ext cx="16094" cy="16094"/>
            </a:xfrm>
            <a:prstGeom prst="ellipse">
              <a:avLst/>
            </a:prstGeom>
            <a:solidFill>
              <a:srgbClr val="C56C60">
                <a:alpha val="5575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0" name="b.after-real/point 021"/>
            <p:cNvSpPr/>
            <p:nvPr/>
          </p:nvSpPr>
          <p:spPr>
            <a:xfrm>
              <a:off x="12029785" y="7317295"/>
              <a:ext cx="25553" cy="25553"/>
            </a:xfrm>
            <a:prstGeom prst="ellipse">
              <a:avLst/>
            </a:prstGeom>
            <a:solidFill>
              <a:srgbClr val="C56C60">
                <a:alpha val="6173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1" name="b.after-real/point 022"/>
            <p:cNvSpPr/>
            <p:nvPr/>
          </p:nvSpPr>
          <p:spPr>
            <a:xfrm>
              <a:off x="11944838" y="7357421"/>
              <a:ext cx="20995" cy="20995"/>
            </a:xfrm>
            <a:prstGeom prst="ellipse">
              <a:avLst/>
            </a:prstGeom>
            <a:solidFill>
              <a:srgbClr val="C56C60">
                <a:alpha val="629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2" name="b.after-real/point 023"/>
            <p:cNvSpPr/>
            <p:nvPr/>
          </p:nvSpPr>
          <p:spPr>
            <a:xfrm>
              <a:off x="11882614" y="7291410"/>
              <a:ext cx="18876" cy="18876"/>
            </a:xfrm>
            <a:prstGeom prst="ellipse">
              <a:avLst/>
            </a:prstGeom>
            <a:solidFill>
              <a:srgbClr val="C56C60">
                <a:alpha val="6914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3" name="b.after-real/point 024"/>
            <p:cNvSpPr/>
            <p:nvPr/>
          </p:nvSpPr>
          <p:spPr>
            <a:xfrm>
              <a:off x="12045596" y="7343311"/>
              <a:ext cx="19373" cy="19373"/>
            </a:xfrm>
            <a:prstGeom prst="ellipse">
              <a:avLst/>
            </a:prstGeom>
            <a:solidFill>
              <a:srgbClr val="C56C60">
                <a:alpha val="6286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4" name="b.after-real/point 025"/>
            <p:cNvSpPr/>
            <p:nvPr/>
          </p:nvSpPr>
          <p:spPr>
            <a:xfrm>
              <a:off x="11963756" y="7380767"/>
              <a:ext cx="24349" cy="24349"/>
            </a:xfrm>
            <a:prstGeom prst="ellipse">
              <a:avLst/>
            </a:prstGeom>
            <a:solidFill>
              <a:srgbClr val="C56C60">
                <a:alpha val="7201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5" name="b.after-real/point 026"/>
            <p:cNvSpPr/>
            <p:nvPr/>
          </p:nvSpPr>
          <p:spPr>
            <a:xfrm>
              <a:off x="12017995" y="7310148"/>
              <a:ext cx="17448" cy="17448"/>
            </a:xfrm>
            <a:prstGeom prst="ellipse">
              <a:avLst/>
            </a:prstGeom>
            <a:solidFill>
              <a:srgbClr val="C56C60">
                <a:alpha val="5689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6" name="b.after-real/point 027"/>
            <p:cNvSpPr/>
            <p:nvPr/>
          </p:nvSpPr>
          <p:spPr>
            <a:xfrm>
              <a:off x="12060917" y="7175238"/>
              <a:ext cx="17442" cy="17442"/>
            </a:xfrm>
            <a:prstGeom prst="ellipse">
              <a:avLst/>
            </a:prstGeom>
            <a:solidFill>
              <a:srgbClr val="C56C60">
                <a:alpha val="8054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7" name="b.after-real/point 028"/>
            <p:cNvSpPr/>
            <p:nvPr/>
          </p:nvSpPr>
          <p:spPr>
            <a:xfrm>
              <a:off x="12101145" y="7224142"/>
              <a:ext cx="22632" cy="22632"/>
            </a:xfrm>
            <a:prstGeom prst="ellipse">
              <a:avLst/>
            </a:prstGeom>
            <a:solidFill>
              <a:srgbClr val="C56C60">
                <a:alpha val="628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8" name="b.after-real/point 029"/>
            <p:cNvSpPr/>
            <p:nvPr/>
          </p:nvSpPr>
          <p:spPr>
            <a:xfrm>
              <a:off x="11951559" y="7265291"/>
              <a:ext cx="19661" cy="19661"/>
            </a:xfrm>
            <a:prstGeom prst="ellipse">
              <a:avLst/>
            </a:prstGeom>
            <a:solidFill>
              <a:srgbClr val="C56C60">
                <a:alpha val="7574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9" name="b.after-real/point 030"/>
            <p:cNvSpPr/>
            <p:nvPr/>
          </p:nvSpPr>
          <p:spPr>
            <a:xfrm>
              <a:off x="12009072" y="7464920"/>
              <a:ext cx="19216" cy="19216"/>
            </a:xfrm>
            <a:prstGeom prst="ellipse">
              <a:avLst/>
            </a:prstGeom>
            <a:solidFill>
              <a:srgbClr val="C56C60">
                <a:alpha val="5408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0" name="b.after-real/point 031"/>
            <p:cNvSpPr/>
            <p:nvPr/>
          </p:nvSpPr>
          <p:spPr>
            <a:xfrm>
              <a:off x="11947631" y="7266327"/>
              <a:ext cx="20592" cy="20592"/>
            </a:xfrm>
            <a:prstGeom prst="ellipse">
              <a:avLst/>
            </a:prstGeom>
            <a:solidFill>
              <a:srgbClr val="C56C60">
                <a:alpha val="7098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1" name="b.after-real/point 032"/>
            <p:cNvSpPr/>
            <p:nvPr/>
          </p:nvSpPr>
          <p:spPr>
            <a:xfrm>
              <a:off x="12026984" y="7345156"/>
              <a:ext cx="24094" cy="24094"/>
            </a:xfrm>
            <a:prstGeom prst="ellipse">
              <a:avLst/>
            </a:prstGeom>
            <a:solidFill>
              <a:srgbClr val="C56C60">
                <a:alpha val="847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2" name="b.after-real/point 033"/>
            <p:cNvSpPr/>
            <p:nvPr/>
          </p:nvSpPr>
          <p:spPr>
            <a:xfrm>
              <a:off x="12047836" y="7322766"/>
              <a:ext cx="16527" cy="16527"/>
            </a:xfrm>
            <a:prstGeom prst="ellipse">
              <a:avLst/>
            </a:prstGeom>
            <a:solidFill>
              <a:srgbClr val="C56C60">
                <a:alpha val="539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3" name="b.after-real/point 034"/>
            <p:cNvSpPr/>
            <p:nvPr/>
          </p:nvSpPr>
          <p:spPr>
            <a:xfrm>
              <a:off x="12136527" y="7333136"/>
              <a:ext cx="21831" cy="21831"/>
            </a:xfrm>
            <a:prstGeom prst="ellipse">
              <a:avLst/>
            </a:prstGeom>
            <a:solidFill>
              <a:srgbClr val="C56C60">
                <a:alpha val="604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4" name="b.after-real/point 035"/>
            <p:cNvSpPr/>
            <p:nvPr/>
          </p:nvSpPr>
          <p:spPr>
            <a:xfrm>
              <a:off x="11939487" y="7357507"/>
              <a:ext cx="19465" cy="19465"/>
            </a:xfrm>
            <a:prstGeom prst="ellipse">
              <a:avLst/>
            </a:prstGeom>
            <a:solidFill>
              <a:srgbClr val="C56C60">
                <a:alpha val="7860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5" name="b.after-real/point 036"/>
            <p:cNvSpPr/>
            <p:nvPr/>
          </p:nvSpPr>
          <p:spPr>
            <a:xfrm>
              <a:off x="12080798" y="7344256"/>
              <a:ext cx="21175" cy="21175"/>
            </a:xfrm>
            <a:prstGeom prst="ellipse">
              <a:avLst/>
            </a:prstGeom>
            <a:solidFill>
              <a:srgbClr val="C56C60">
                <a:alpha val="5437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6" name="b.after-real/point 037"/>
            <p:cNvSpPr/>
            <p:nvPr/>
          </p:nvSpPr>
          <p:spPr>
            <a:xfrm>
              <a:off x="11946912" y="7320613"/>
              <a:ext cx="24386" cy="24386"/>
            </a:xfrm>
            <a:prstGeom prst="ellipse">
              <a:avLst/>
            </a:prstGeom>
            <a:solidFill>
              <a:srgbClr val="C56C60">
                <a:alpha val="5366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7" name="b.after-real/point 038"/>
            <p:cNvSpPr/>
            <p:nvPr/>
          </p:nvSpPr>
          <p:spPr>
            <a:xfrm>
              <a:off x="12025649" y="7341862"/>
              <a:ext cx="15913" cy="15913"/>
            </a:xfrm>
            <a:prstGeom prst="ellipse">
              <a:avLst/>
            </a:prstGeom>
            <a:solidFill>
              <a:srgbClr val="C56C60">
                <a:alpha val="7222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8" name="b.after-real/point 039"/>
            <p:cNvSpPr/>
            <p:nvPr/>
          </p:nvSpPr>
          <p:spPr>
            <a:xfrm>
              <a:off x="12048913" y="7434716"/>
              <a:ext cx="21648" cy="21648"/>
            </a:xfrm>
            <a:prstGeom prst="ellipse">
              <a:avLst/>
            </a:prstGeom>
            <a:solidFill>
              <a:srgbClr val="C56C60">
                <a:alpha val="505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9" name="b.after-real/point 040"/>
            <p:cNvSpPr/>
            <p:nvPr/>
          </p:nvSpPr>
          <p:spPr>
            <a:xfrm>
              <a:off x="11875471" y="7467980"/>
              <a:ext cx="25685" cy="25685"/>
            </a:xfrm>
            <a:prstGeom prst="ellipse">
              <a:avLst/>
            </a:prstGeom>
            <a:solidFill>
              <a:srgbClr val="C56C60">
                <a:alpha val="8491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0" name="b.after-real/point 041"/>
            <p:cNvSpPr/>
            <p:nvPr/>
          </p:nvSpPr>
          <p:spPr>
            <a:xfrm>
              <a:off x="12039667" y="7333318"/>
              <a:ext cx="16638" cy="16638"/>
            </a:xfrm>
            <a:prstGeom prst="ellipse">
              <a:avLst/>
            </a:prstGeom>
            <a:solidFill>
              <a:srgbClr val="C56C60">
                <a:alpha val="7657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1" name="b.after-real/point 042"/>
            <p:cNvSpPr/>
            <p:nvPr/>
          </p:nvSpPr>
          <p:spPr>
            <a:xfrm>
              <a:off x="12041362" y="7282594"/>
              <a:ext cx="16014" cy="16014"/>
            </a:xfrm>
            <a:prstGeom prst="ellipse">
              <a:avLst/>
            </a:prstGeom>
            <a:solidFill>
              <a:srgbClr val="C56C60">
                <a:alpha val="6922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2" name="b.after-real/point 043"/>
            <p:cNvSpPr/>
            <p:nvPr/>
          </p:nvSpPr>
          <p:spPr>
            <a:xfrm>
              <a:off x="11988998" y="7372641"/>
              <a:ext cx="20625" cy="20625"/>
            </a:xfrm>
            <a:prstGeom prst="ellipse">
              <a:avLst/>
            </a:prstGeom>
            <a:solidFill>
              <a:srgbClr val="C56C60">
                <a:alpha val="8665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3" name="b.after-real/point 044"/>
            <p:cNvSpPr/>
            <p:nvPr/>
          </p:nvSpPr>
          <p:spPr>
            <a:xfrm>
              <a:off x="12016504" y="7421513"/>
              <a:ext cx="17561" cy="17561"/>
            </a:xfrm>
            <a:prstGeom prst="ellipse">
              <a:avLst/>
            </a:prstGeom>
            <a:solidFill>
              <a:srgbClr val="C56C60">
                <a:alpha val="7091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4" name="b.after-real/point 045"/>
            <p:cNvSpPr/>
            <p:nvPr/>
          </p:nvSpPr>
          <p:spPr>
            <a:xfrm>
              <a:off x="11976152" y="7301551"/>
              <a:ext cx="27819" cy="27819"/>
            </a:xfrm>
            <a:prstGeom prst="ellipse">
              <a:avLst/>
            </a:prstGeom>
            <a:solidFill>
              <a:srgbClr val="C56C60">
                <a:alpha val="756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5" name="b.after-real/point 046"/>
            <p:cNvSpPr/>
            <p:nvPr/>
          </p:nvSpPr>
          <p:spPr>
            <a:xfrm>
              <a:off x="11793458" y="7220024"/>
              <a:ext cx="23489" cy="23489"/>
            </a:xfrm>
            <a:prstGeom prst="ellipse">
              <a:avLst/>
            </a:prstGeom>
            <a:solidFill>
              <a:srgbClr val="C56C60">
                <a:alpha val="533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6" name="b.after-real/point 047"/>
            <p:cNvSpPr/>
            <p:nvPr/>
          </p:nvSpPr>
          <p:spPr>
            <a:xfrm>
              <a:off x="11967676" y="7341525"/>
              <a:ext cx="28424" cy="28424"/>
            </a:xfrm>
            <a:prstGeom prst="ellipse">
              <a:avLst/>
            </a:prstGeom>
            <a:solidFill>
              <a:srgbClr val="C56C60">
                <a:alpha val="8498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7" name="b.after-fake"/>
          <p:cNvGrpSpPr/>
          <p:nvPr/>
        </p:nvGrpSpPr>
        <p:grpSpPr>
          <a:xfrm>
            <a:off x="12188888" y="7370381"/>
            <a:ext cx="709803" cy="524637"/>
            <a:chOff x="12188888" y="7370381"/>
            <a:chExt cx="709803" cy="524637"/>
          </a:xfrm>
        </p:grpSpPr>
        <p:sp>
          <p:nvSpPr>
            <p:cNvPr id="628" name="b.after-fake/contour 1.35"/>
            <p:cNvSpPr/>
            <p:nvPr/>
          </p:nvSpPr>
          <p:spPr>
            <a:xfrm>
              <a:off x="12188888" y="7370381"/>
              <a:ext cx="709803" cy="524637"/>
            </a:xfrm>
            <a:prstGeom prst="ellipse">
              <a:avLst/>
            </a:prstGeom>
            <a:solidFill>
              <a:srgbClr val="5E8DB5">
                <a:alpha val="4500"/>
              </a:srgbClr>
            </a:solidFill>
            <a:ln w="4000">
              <a:solidFill>
                <a:srgbClr val="5E8DB5">
                  <a:alpha val="45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9" name="b.after-fake/contour 1.05"/>
            <p:cNvSpPr/>
            <p:nvPr/>
          </p:nvSpPr>
          <p:spPr>
            <a:xfrm>
              <a:off x="12267755" y="7428674"/>
              <a:ext cx="552069" cy="408051"/>
            </a:xfrm>
            <a:prstGeom prst="ellipse">
              <a:avLst/>
            </a:prstGeom>
            <a:solidFill>
              <a:srgbClr val="5E8DB5">
                <a:alpha val="7000"/>
              </a:srgbClr>
            </a:solidFill>
            <a:ln w="4000">
              <a:solidFill>
                <a:srgbClr val="5E8DB5">
                  <a:alpha val="7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0" name="b.after-fake/contour 0.75"/>
            <p:cNvSpPr/>
            <p:nvPr/>
          </p:nvSpPr>
          <p:spPr>
            <a:xfrm>
              <a:off x="12346622" y="7486967"/>
              <a:ext cx="394335" cy="291465"/>
            </a:xfrm>
            <a:prstGeom prst="ellipse">
              <a:avLst/>
            </a:prstGeom>
            <a:solidFill>
              <a:srgbClr val="5E8DB5">
                <a:alpha val="10000"/>
              </a:srgbClr>
            </a:solidFill>
            <a:ln w="4000">
              <a:solidFill>
                <a:srgbClr val="5E8DB5">
                  <a:alpha val="10000"/>
                </a:srgb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1" name="b.after-fake/point 000"/>
            <p:cNvSpPr/>
            <p:nvPr/>
          </p:nvSpPr>
          <p:spPr>
            <a:xfrm>
              <a:off x="12504395" y="7671134"/>
              <a:ext cx="26008" cy="26008"/>
            </a:xfrm>
            <a:prstGeom prst="ellipse">
              <a:avLst/>
            </a:prstGeom>
            <a:solidFill>
              <a:srgbClr val="5E8DB5">
                <a:alpha val="7150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2" name="b.after-fake/point 001"/>
            <p:cNvSpPr/>
            <p:nvPr/>
          </p:nvSpPr>
          <p:spPr>
            <a:xfrm>
              <a:off x="12549814" y="7540601"/>
              <a:ext cx="27693" cy="27693"/>
            </a:xfrm>
            <a:prstGeom prst="ellipse">
              <a:avLst/>
            </a:prstGeom>
            <a:solidFill>
              <a:srgbClr val="5E8DB5">
                <a:alpha val="8232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3" name="b.after-fake/point 002"/>
            <p:cNvSpPr/>
            <p:nvPr/>
          </p:nvSpPr>
          <p:spPr>
            <a:xfrm>
              <a:off x="12311697" y="7573122"/>
              <a:ext cx="18766" cy="18766"/>
            </a:xfrm>
            <a:prstGeom prst="ellipse">
              <a:avLst/>
            </a:prstGeom>
            <a:solidFill>
              <a:srgbClr val="5E8DB5">
                <a:alpha val="5806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4" name="b.after-fake/point 003"/>
            <p:cNvSpPr/>
            <p:nvPr/>
          </p:nvSpPr>
          <p:spPr>
            <a:xfrm>
              <a:off x="12726866" y="7518461"/>
              <a:ext cx="25701" cy="25701"/>
            </a:xfrm>
            <a:prstGeom prst="ellipse">
              <a:avLst/>
            </a:prstGeom>
            <a:solidFill>
              <a:srgbClr val="5E8DB5">
                <a:alpha val="7756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5" name="b.after-fake/point 004"/>
            <p:cNvSpPr/>
            <p:nvPr/>
          </p:nvSpPr>
          <p:spPr>
            <a:xfrm>
              <a:off x="12601872" y="7635074"/>
              <a:ext cx="25465" cy="25465"/>
            </a:xfrm>
            <a:prstGeom prst="ellipse">
              <a:avLst/>
            </a:prstGeom>
            <a:solidFill>
              <a:srgbClr val="5E8DB5">
                <a:alpha val="5023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6" name="b.after-fake/point 005"/>
            <p:cNvSpPr/>
            <p:nvPr/>
          </p:nvSpPr>
          <p:spPr>
            <a:xfrm>
              <a:off x="12505289" y="7667383"/>
              <a:ext cx="27662" cy="27662"/>
            </a:xfrm>
            <a:prstGeom prst="ellipse">
              <a:avLst/>
            </a:prstGeom>
            <a:solidFill>
              <a:srgbClr val="5E8DB5">
                <a:alpha val="5831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7" name="b.after-fake/point 006"/>
            <p:cNvSpPr/>
            <p:nvPr/>
          </p:nvSpPr>
          <p:spPr>
            <a:xfrm>
              <a:off x="12600358" y="7656028"/>
              <a:ext cx="27520" cy="27520"/>
            </a:xfrm>
            <a:prstGeom prst="ellipse">
              <a:avLst/>
            </a:prstGeom>
            <a:solidFill>
              <a:srgbClr val="5E8DB5">
                <a:alpha val="7266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8" name="b.after-fake/point 007"/>
            <p:cNvSpPr/>
            <p:nvPr/>
          </p:nvSpPr>
          <p:spPr>
            <a:xfrm>
              <a:off x="12644372" y="7528477"/>
              <a:ext cx="26742" cy="26742"/>
            </a:xfrm>
            <a:prstGeom prst="ellipse">
              <a:avLst/>
            </a:prstGeom>
            <a:solidFill>
              <a:srgbClr val="5E8DB5">
                <a:alpha val="8785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9" name="b.after-fake/point 008"/>
            <p:cNvSpPr/>
            <p:nvPr/>
          </p:nvSpPr>
          <p:spPr>
            <a:xfrm>
              <a:off x="12513362" y="7605294"/>
              <a:ext cx="16165" cy="16165"/>
            </a:xfrm>
            <a:prstGeom prst="ellipse">
              <a:avLst/>
            </a:prstGeom>
            <a:solidFill>
              <a:srgbClr val="5E8DB5">
                <a:alpha val="8416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0" name="b.after-fake/point 009"/>
            <p:cNvSpPr/>
            <p:nvPr/>
          </p:nvSpPr>
          <p:spPr>
            <a:xfrm>
              <a:off x="12361939" y="7705811"/>
              <a:ext cx="26678" cy="26678"/>
            </a:xfrm>
            <a:prstGeom prst="ellipse">
              <a:avLst/>
            </a:prstGeom>
            <a:solidFill>
              <a:srgbClr val="5E8DB5">
                <a:alpha val="8419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1" name="b.after-fake/point 010"/>
            <p:cNvSpPr/>
            <p:nvPr/>
          </p:nvSpPr>
          <p:spPr>
            <a:xfrm>
              <a:off x="12461511" y="7648118"/>
              <a:ext cx="24347" cy="24347"/>
            </a:xfrm>
            <a:prstGeom prst="ellipse">
              <a:avLst/>
            </a:prstGeom>
            <a:solidFill>
              <a:srgbClr val="5E8DB5">
                <a:alpha val="7564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2" name="b.after-fake/point 011"/>
            <p:cNvSpPr/>
            <p:nvPr/>
          </p:nvSpPr>
          <p:spPr>
            <a:xfrm>
              <a:off x="12503441" y="7734443"/>
              <a:ext cx="26872" cy="26872"/>
            </a:xfrm>
            <a:prstGeom prst="ellipse">
              <a:avLst/>
            </a:prstGeom>
            <a:solidFill>
              <a:srgbClr val="5E8DB5">
                <a:alpha val="8191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3" name="b.after-fake/point 012"/>
            <p:cNvSpPr/>
            <p:nvPr/>
          </p:nvSpPr>
          <p:spPr>
            <a:xfrm>
              <a:off x="12591368" y="7697690"/>
              <a:ext cx="24479" cy="24479"/>
            </a:xfrm>
            <a:prstGeom prst="ellipse">
              <a:avLst/>
            </a:prstGeom>
            <a:solidFill>
              <a:srgbClr val="5E8DB5">
                <a:alpha val="7328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4" name="b.after-fake/point 013"/>
            <p:cNvSpPr/>
            <p:nvPr/>
          </p:nvSpPr>
          <p:spPr>
            <a:xfrm>
              <a:off x="12537191" y="7662153"/>
              <a:ext cx="23236" cy="23236"/>
            </a:xfrm>
            <a:prstGeom prst="ellipse">
              <a:avLst/>
            </a:prstGeom>
            <a:solidFill>
              <a:srgbClr val="5E8DB5">
                <a:alpha val="849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5" name="b.after-fake/point 014"/>
            <p:cNvSpPr/>
            <p:nvPr/>
          </p:nvSpPr>
          <p:spPr>
            <a:xfrm>
              <a:off x="12688033" y="7682103"/>
              <a:ext cx="18693" cy="18693"/>
            </a:xfrm>
            <a:prstGeom prst="ellipse">
              <a:avLst/>
            </a:prstGeom>
            <a:solidFill>
              <a:srgbClr val="5E8DB5">
                <a:alpha val="6499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6" name="b.after-fake/point 015"/>
            <p:cNvSpPr/>
            <p:nvPr/>
          </p:nvSpPr>
          <p:spPr>
            <a:xfrm>
              <a:off x="12686910" y="7584076"/>
              <a:ext cx="16549" cy="16549"/>
            </a:xfrm>
            <a:prstGeom prst="ellipse">
              <a:avLst/>
            </a:prstGeom>
            <a:solidFill>
              <a:srgbClr val="5E8DB5">
                <a:alpha val="649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7" name="b.after-fake/point 016"/>
            <p:cNvSpPr/>
            <p:nvPr/>
          </p:nvSpPr>
          <p:spPr>
            <a:xfrm>
              <a:off x="12396839" y="7659929"/>
              <a:ext cx="24816" cy="24816"/>
            </a:xfrm>
            <a:prstGeom prst="ellipse">
              <a:avLst/>
            </a:prstGeom>
            <a:solidFill>
              <a:srgbClr val="5E8DB5">
                <a:alpha val="8041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8" name="b.after-fake/point 017"/>
            <p:cNvSpPr/>
            <p:nvPr/>
          </p:nvSpPr>
          <p:spPr>
            <a:xfrm>
              <a:off x="12470191" y="7719864"/>
              <a:ext cx="22352" cy="22352"/>
            </a:xfrm>
            <a:prstGeom prst="ellipse">
              <a:avLst/>
            </a:prstGeom>
            <a:solidFill>
              <a:srgbClr val="5E8DB5">
                <a:alpha val="637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9" name="b.after-fake/point 018"/>
            <p:cNvSpPr/>
            <p:nvPr/>
          </p:nvSpPr>
          <p:spPr>
            <a:xfrm>
              <a:off x="12414053" y="7641827"/>
              <a:ext cx="26527" cy="26527"/>
            </a:xfrm>
            <a:prstGeom prst="ellipse">
              <a:avLst/>
            </a:prstGeom>
            <a:solidFill>
              <a:srgbClr val="5E8DB5">
                <a:alpha val="8297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0" name="b.after-fake/point 019"/>
            <p:cNvSpPr/>
            <p:nvPr/>
          </p:nvSpPr>
          <p:spPr>
            <a:xfrm>
              <a:off x="12491995" y="7696635"/>
              <a:ext cx="24792" cy="24792"/>
            </a:xfrm>
            <a:prstGeom prst="ellipse">
              <a:avLst/>
            </a:prstGeom>
            <a:solidFill>
              <a:srgbClr val="5E8DB5">
                <a:alpha val="6523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1" name="b.after-fake/point 020"/>
            <p:cNvSpPr/>
            <p:nvPr/>
          </p:nvSpPr>
          <p:spPr>
            <a:xfrm>
              <a:off x="12698366" y="7645060"/>
              <a:ext cx="15336" cy="15336"/>
            </a:xfrm>
            <a:prstGeom prst="ellipse">
              <a:avLst/>
            </a:prstGeom>
            <a:solidFill>
              <a:srgbClr val="5E8DB5">
                <a:alpha val="790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2" name="b.after-fake/point 021"/>
            <p:cNvSpPr/>
            <p:nvPr/>
          </p:nvSpPr>
          <p:spPr>
            <a:xfrm>
              <a:off x="12558997" y="7640414"/>
              <a:ext cx="19294" cy="19294"/>
            </a:xfrm>
            <a:prstGeom prst="ellipse">
              <a:avLst/>
            </a:prstGeom>
            <a:solidFill>
              <a:srgbClr val="5E8DB5">
                <a:alpha val="6307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3" name="b.after-fake/point 022"/>
            <p:cNvSpPr/>
            <p:nvPr/>
          </p:nvSpPr>
          <p:spPr>
            <a:xfrm>
              <a:off x="12533150" y="7740378"/>
              <a:ext cx="25647" cy="25647"/>
            </a:xfrm>
            <a:prstGeom prst="ellipse">
              <a:avLst/>
            </a:prstGeom>
            <a:solidFill>
              <a:srgbClr val="5E8DB5">
                <a:alpha val="578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4" name="b.after-fake/point 023"/>
            <p:cNvSpPr/>
            <p:nvPr/>
          </p:nvSpPr>
          <p:spPr>
            <a:xfrm>
              <a:off x="12571879" y="7517123"/>
              <a:ext cx="22809" cy="22809"/>
            </a:xfrm>
            <a:prstGeom prst="ellipse">
              <a:avLst/>
            </a:prstGeom>
            <a:solidFill>
              <a:srgbClr val="5E8DB5">
                <a:alpha val="7765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5" name="b.after-fake/point 024"/>
            <p:cNvSpPr/>
            <p:nvPr/>
          </p:nvSpPr>
          <p:spPr>
            <a:xfrm>
              <a:off x="12589007" y="7539370"/>
              <a:ext cx="15609" cy="15609"/>
            </a:xfrm>
            <a:prstGeom prst="ellipse">
              <a:avLst/>
            </a:prstGeom>
            <a:solidFill>
              <a:srgbClr val="5E8DB5">
                <a:alpha val="7241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6" name="b.after-fake/point 025"/>
            <p:cNvSpPr/>
            <p:nvPr/>
          </p:nvSpPr>
          <p:spPr>
            <a:xfrm>
              <a:off x="12401238" y="7615924"/>
              <a:ext cx="23507" cy="23507"/>
            </a:xfrm>
            <a:prstGeom prst="ellipse">
              <a:avLst/>
            </a:prstGeom>
            <a:solidFill>
              <a:srgbClr val="5E8DB5">
                <a:alpha val="6778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7" name="b.after-fake/point 026"/>
            <p:cNvSpPr/>
            <p:nvPr/>
          </p:nvSpPr>
          <p:spPr>
            <a:xfrm>
              <a:off x="12457210" y="7588516"/>
              <a:ext cx="17885" cy="17885"/>
            </a:xfrm>
            <a:prstGeom prst="ellipse">
              <a:avLst/>
            </a:prstGeom>
            <a:solidFill>
              <a:srgbClr val="5E8DB5">
                <a:alpha val="633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8" name="b.after-fake/point 027"/>
            <p:cNvSpPr/>
            <p:nvPr/>
          </p:nvSpPr>
          <p:spPr>
            <a:xfrm>
              <a:off x="12491193" y="7560202"/>
              <a:ext cx="22379" cy="22379"/>
            </a:xfrm>
            <a:prstGeom prst="ellipse">
              <a:avLst/>
            </a:prstGeom>
            <a:solidFill>
              <a:srgbClr val="5E8DB5">
                <a:alpha val="8378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9" name="b.after-fake/point 028"/>
            <p:cNvSpPr/>
            <p:nvPr/>
          </p:nvSpPr>
          <p:spPr>
            <a:xfrm>
              <a:off x="12484219" y="7640183"/>
              <a:ext cx="18275" cy="18275"/>
            </a:xfrm>
            <a:prstGeom prst="ellipse">
              <a:avLst/>
            </a:prstGeom>
            <a:solidFill>
              <a:srgbClr val="5E8DB5">
                <a:alpha val="7105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0" name="b.after-fake/point 029"/>
            <p:cNvSpPr/>
            <p:nvPr/>
          </p:nvSpPr>
          <p:spPr>
            <a:xfrm>
              <a:off x="12729984" y="7493737"/>
              <a:ext cx="15493" cy="15493"/>
            </a:xfrm>
            <a:prstGeom prst="ellipse">
              <a:avLst/>
            </a:prstGeom>
            <a:solidFill>
              <a:srgbClr val="5E8DB5">
                <a:alpha val="7909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1" name="b.after-fake/point 030"/>
            <p:cNvSpPr/>
            <p:nvPr/>
          </p:nvSpPr>
          <p:spPr>
            <a:xfrm>
              <a:off x="12547340" y="7515406"/>
              <a:ext cx="26952" cy="26952"/>
            </a:xfrm>
            <a:prstGeom prst="ellipse">
              <a:avLst/>
            </a:prstGeom>
            <a:solidFill>
              <a:srgbClr val="5E8DB5">
                <a:alpha val="5395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b.after-fake/point 031"/>
            <p:cNvSpPr/>
            <p:nvPr/>
          </p:nvSpPr>
          <p:spPr>
            <a:xfrm>
              <a:off x="12491822" y="7537641"/>
              <a:ext cx="15935" cy="15935"/>
            </a:xfrm>
            <a:prstGeom prst="ellipse">
              <a:avLst/>
            </a:prstGeom>
            <a:solidFill>
              <a:srgbClr val="5E8DB5">
                <a:alpha val="8222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3" name="b.after-fake/point 032"/>
            <p:cNvSpPr/>
            <p:nvPr/>
          </p:nvSpPr>
          <p:spPr>
            <a:xfrm>
              <a:off x="12607605" y="7696799"/>
              <a:ext cx="18142" cy="18142"/>
            </a:xfrm>
            <a:prstGeom prst="ellipse">
              <a:avLst/>
            </a:prstGeom>
            <a:solidFill>
              <a:srgbClr val="5E8DB5">
                <a:alpha val="6782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b.after-fake/point 033"/>
            <p:cNvSpPr/>
            <p:nvPr/>
          </p:nvSpPr>
          <p:spPr>
            <a:xfrm>
              <a:off x="12605429" y="7605989"/>
              <a:ext cx="25681" cy="25681"/>
            </a:xfrm>
            <a:prstGeom prst="ellipse">
              <a:avLst/>
            </a:prstGeom>
            <a:solidFill>
              <a:srgbClr val="5E8DB5">
                <a:alpha val="8547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5" name="b.after-fake/point 034"/>
            <p:cNvSpPr/>
            <p:nvPr/>
          </p:nvSpPr>
          <p:spPr>
            <a:xfrm>
              <a:off x="12550640" y="7563596"/>
              <a:ext cx="21183" cy="21183"/>
            </a:xfrm>
            <a:prstGeom prst="ellipse">
              <a:avLst/>
            </a:prstGeom>
            <a:solidFill>
              <a:srgbClr val="5E8DB5">
                <a:alpha val="61091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6" name="b.after-fake/point 035"/>
            <p:cNvSpPr/>
            <p:nvPr/>
          </p:nvSpPr>
          <p:spPr>
            <a:xfrm>
              <a:off x="12688762" y="7758198"/>
              <a:ext cx="24132" cy="24132"/>
            </a:xfrm>
            <a:prstGeom prst="ellipse">
              <a:avLst/>
            </a:prstGeom>
            <a:solidFill>
              <a:srgbClr val="5E8DB5">
                <a:alpha val="8010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b.after-fake/point 036"/>
            <p:cNvSpPr/>
            <p:nvPr/>
          </p:nvSpPr>
          <p:spPr>
            <a:xfrm>
              <a:off x="12492595" y="7728584"/>
              <a:ext cx="20689" cy="20689"/>
            </a:xfrm>
            <a:prstGeom prst="ellipse">
              <a:avLst/>
            </a:prstGeom>
            <a:solidFill>
              <a:srgbClr val="5E8DB5">
                <a:alpha val="743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b.after-fake/point 037"/>
            <p:cNvSpPr/>
            <p:nvPr/>
          </p:nvSpPr>
          <p:spPr>
            <a:xfrm>
              <a:off x="12730169" y="7586843"/>
              <a:ext cx="26157" cy="26157"/>
            </a:xfrm>
            <a:prstGeom prst="ellipse">
              <a:avLst/>
            </a:prstGeom>
            <a:solidFill>
              <a:srgbClr val="5E8DB5">
                <a:alpha val="5199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9" name="b.after-fake/point 038"/>
            <p:cNvSpPr/>
            <p:nvPr/>
          </p:nvSpPr>
          <p:spPr>
            <a:xfrm>
              <a:off x="12463691" y="7649046"/>
              <a:ext cx="17443" cy="17443"/>
            </a:xfrm>
            <a:prstGeom prst="ellipse">
              <a:avLst/>
            </a:prstGeom>
            <a:solidFill>
              <a:srgbClr val="5E8DB5">
                <a:alpha val="829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0" name="b.after-fake/point 039"/>
            <p:cNvSpPr/>
            <p:nvPr/>
          </p:nvSpPr>
          <p:spPr>
            <a:xfrm>
              <a:off x="12415227" y="7535048"/>
              <a:ext cx="27331" cy="27331"/>
            </a:xfrm>
            <a:prstGeom prst="ellipse">
              <a:avLst/>
            </a:prstGeom>
            <a:solidFill>
              <a:srgbClr val="5E8DB5">
                <a:alpha val="5550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1" name="b.after-fake/point 040"/>
            <p:cNvSpPr/>
            <p:nvPr/>
          </p:nvSpPr>
          <p:spPr>
            <a:xfrm>
              <a:off x="12536511" y="7599876"/>
              <a:ext cx="25131" cy="25131"/>
            </a:xfrm>
            <a:prstGeom prst="ellipse">
              <a:avLst/>
            </a:prstGeom>
            <a:solidFill>
              <a:srgbClr val="5E8DB5">
                <a:alpha val="6479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2" name="b.after-fake/point 041"/>
            <p:cNvSpPr/>
            <p:nvPr/>
          </p:nvSpPr>
          <p:spPr>
            <a:xfrm>
              <a:off x="12554128" y="7632161"/>
              <a:ext cx="18156" cy="18156"/>
            </a:xfrm>
            <a:prstGeom prst="ellipse">
              <a:avLst/>
            </a:prstGeom>
            <a:solidFill>
              <a:srgbClr val="5E8DB5">
                <a:alpha val="5026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3" name="b.after-fake/point 042"/>
            <p:cNvSpPr/>
            <p:nvPr/>
          </p:nvSpPr>
          <p:spPr>
            <a:xfrm>
              <a:off x="12577194" y="7668724"/>
              <a:ext cx="28065" cy="28065"/>
            </a:xfrm>
            <a:prstGeom prst="ellipse">
              <a:avLst/>
            </a:prstGeom>
            <a:solidFill>
              <a:srgbClr val="5E8DB5">
                <a:alpha val="7859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4" name="b.after-fake/point 043"/>
            <p:cNvSpPr/>
            <p:nvPr/>
          </p:nvSpPr>
          <p:spPr>
            <a:xfrm>
              <a:off x="12465729" y="7633107"/>
              <a:ext cx="28249" cy="28249"/>
            </a:xfrm>
            <a:prstGeom prst="ellipse">
              <a:avLst/>
            </a:prstGeom>
            <a:solidFill>
              <a:srgbClr val="5E8DB5">
                <a:alpha val="8389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5" name="b.after-fake/point 044"/>
            <p:cNvSpPr/>
            <p:nvPr/>
          </p:nvSpPr>
          <p:spPr>
            <a:xfrm>
              <a:off x="12580629" y="7549249"/>
              <a:ext cx="20449" cy="20449"/>
            </a:xfrm>
            <a:prstGeom prst="ellipse">
              <a:avLst/>
            </a:prstGeom>
            <a:solidFill>
              <a:srgbClr val="5E8DB5">
                <a:alpha val="5701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6" name="b.after-fake/point 045"/>
            <p:cNvSpPr/>
            <p:nvPr/>
          </p:nvSpPr>
          <p:spPr>
            <a:xfrm>
              <a:off x="12350369" y="7710146"/>
              <a:ext cx="22482" cy="22482"/>
            </a:xfrm>
            <a:prstGeom prst="ellipse">
              <a:avLst/>
            </a:prstGeom>
            <a:solidFill>
              <a:srgbClr val="5E8DB5">
                <a:alpha val="6566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7" name="b.after-fake/point 046"/>
            <p:cNvSpPr/>
            <p:nvPr/>
          </p:nvSpPr>
          <p:spPr>
            <a:xfrm>
              <a:off x="12502159" y="7698508"/>
              <a:ext cx="16366" cy="16366"/>
            </a:xfrm>
            <a:prstGeom prst="ellipse">
              <a:avLst/>
            </a:prstGeom>
            <a:solidFill>
              <a:srgbClr val="5E8DB5">
                <a:alpha val="7758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8" name="b.after-fake/point 047"/>
            <p:cNvSpPr/>
            <p:nvPr/>
          </p:nvSpPr>
          <p:spPr>
            <a:xfrm>
              <a:off x="12462118" y="7609357"/>
              <a:ext cx="17502" cy="17502"/>
            </a:xfrm>
            <a:prstGeom prst="ellipse">
              <a:avLst/>
            </a:prstGeom>
            <a:solidFill>
              <a:srgbClr val="5E8DB5">
                <a:alpha val="67475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9" name="b.before-boundary"/>
          <p:cNvGrpSpPr/>
          <p:nvPr/>
        </p:nvGrpSpPr>
        <p:grpSpPr>
          <a:xfrm>
            <a:off x="8360410" y="7095490"/>
            <a:ext cx="1131569" cy="34289"/>
            <a:chOff x="8360410" y="7095490"/>
            <a:chExt cx="1131569" cy="34289"/>
          </a:xfrm>
        </p:grpSpPr>
        <p:sp>
          <p:nvSpPr>
            <p:cNvPr id="680" name="b.before-boundary/line"/>
            <p:cNvSpPr/>
            <p:nvPr/>
          </p:nvSpPr>
          <p:spPr>
            <a:xfrm>
              <a:off x="8360410" y="7095490"/>
              <a:ext cx="1131569" cy="34289"/>
            </a:xfrm>
            <a:custGeom>
              <a:avLst/>
              <a:gdLst/>
              <a:ahLst/>
              <a:cxnLst/>
              <a:rect l="0" t="0" r="r" b="b"/>
              <a:pathLst>
                <a:path w="89100" h="2700">
                  <a:moveTo>
                    <a:pt x="0" y="2700"/>
                  </a:moveTo>
                  <a:lnTo>
                    <a:pt x="89100" y="0"/>
                  </a:lnTo>
                </a:path>
              </a:pathLst>
            </a:custGeom>
            <a:noFill/>
            <a:ln w="19431">
              <a:solidFill>
                <a:srgbClr val="26374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1" name="b.after-boundary"/>
          <p:cNvGrpSpPr/>
          <p:nvPr/>
        </p:nvGrpSpPr>
        <p:grpSpPr>
          <a:xfrm>
            <a:off x="11686540" y="7084060"/>
            <a:ext cx="1108709" cy="788669"/>
            <a:chOff x="11686540" y="7084060"/>
            <a:chExt cx="1108709" cy="788669"/>
          </a:xfrm>
        </p:grpSpPr>
        <p:sp>
          <p:nvSpPr>
            <p:cNvPr id="682" name="b.after-boundary/line"/>
            <p:cNvSpPr/>
            <p:nvPr/>
          </p:nvSpPr>
          <p:spPr>
            <a:xfrm>
              <a:off x="11686540" y="7084060"/>
              <a:ext cx="1108709" cy="788669"/>
            </a:xfrm>
            <a:custGeom>
              <a:avLst/>
              <a:gdLst/>
              <a:ahLst/>
              <a:cxnLst/>
              <a:rect l="0" t="0" r="r" b="b"/>
              <a:pathLst>
                <a:path w="87300" h="62100">
                  <a:moveTo>
                    <a:pt x="0" y="62100"/>
                  </a:moveTo>
                  <a:lnTo>
                    <a:pt x="87300" y="0"/>
                  </a:lnTo>
                </a:path>
              </a:pathLst>
            </a:custGeom>
            <a:noFill/>
            <a:ln w="19431">
              <a:solidFill>
                <a:srgbClr val="26374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3" name="b.change"/>
          <p:cNvGrpSpPr/>
          <p:nvPr/>
        </p:nvGrpSpPr>
        <p:grpSpPr>
          <a:xfrm>
            <a:off x="9949180" y="7084060"/>
            <a:ext cx="1428750" cy="788670"/>
            <a:chOff x="9949180" y="7084060"/>
            <a:chExt cx="1428750" cy="788670"/>
          </a:xfrm>
        </p:grpSpPr>
        <p:sp>
          <p:nvSpPr>
            <p:cNvPr id="684" name="b.change/title"/>
            <p:cNvSpPr txBox="1"/>
            <p:nvPr/>
          </p:nvSpPr>
          <p:spPr>
            <a:xfrm>
              <a:off x="10017760" y="7084060"/>
              <a:ext cx="1280160" cy="3086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8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Update </a:t>
              </a:r>
              <a:r>
                <a:rPr sz="148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</a:p>
          </p:txBody>
        </p:sp>
        <p:sp>
          <p:nvSpPr>
            <p:cNvPr id="685" name="b.change/arrow"/>
            <p:cNvSpPr/>
            <p:nvPr/>
          </p:nvSpPr>
          <p:spPr>
            <a:xfrm>
              <a:off x="10086340" y="7506970"/>
              <a:ext cx="1085850" cy="127"/>
            </a:xfrm>
            <a:custGeom>
              <a:avLst/>
              <a:gdLst/>
              <a:ahLst/>
              <a:cxnLst/>
              <a:rect l="0" t="0" r="r" b="b"/>
              <a:pathLst>
                <a:path w="85500" h="10">
                  <a:moveTo>
                    <a:pt x="0" y="0"/>
                  </a:moveTo>
                  <a:lnTo>
                    <a:pt x="85500" y="0"/>
                  </a:lnTo>
                </a:path>
              </a:pathLst>
            </a:custGeom>
            <a:noFill/>
            <a:ln w="19431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b.change/arrow head"/>
            <p:cNvSpPr/>
            <p:nvPr/>
          </p:nvSpPr>
          <p:spPr>
            <a:xfrm>
              <a:off x="11103610" y="7476108"/>
              <a:ext cx="68579" cy="61722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b.change/action"/>
            <p:cNvSpPr txBox="1"/>
            <p:nvPr/>
          </p:nvSpPr>
          <p:spPr>
            <a:xfrm>
              <a:off x="9949180" y="7564120"/>
              <a:ext cx="1428750" cy="3086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68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Fit boundary</a:t>
              </a:r>
            </a:p>
          </p:txBody>
        </p:sp>
      </p:grpSp>
      <p:grpSp>
        <p:nvGrpSpPr>
          <p:cNvPr id="688" name="b.caption"/>
          <p:cNvGrpSpPr/>
          <p:nvPr/>
        </p:nvGrpSpPr>
        <p:grpSpPr>
          <a:xfrm>
            <a:off x="7663180" y="8124190"/>
            <a:ext cx="5829300" cy="354330"/>
            <a:chOff x="7663180" y="8124190"/>
            <a:chExt cx="5829300" cy="354330"/>
          </a:xfrm>
        </p:grpSpPr>
        <p:sp>
          <p:nvSpPr>
            <p:cNvPr id="689" name="b.caption/title"/>
            <p:cNvSpPr txBox="1"/>
            <p:nvPr/>
          </p:nvSpPr>
          <p:spPr>
            <a:xfrm>
              <a:off x="7663180" y="8124190"/>
              <a:ext cx="5829300" cy="3543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10" b="1" i="0">
                  <a:solidFill>
                    <a:srgbClr val="000000"/>
                  </a:solidFill>
                  <a:latin typeface="Liberation Sans"/>
                  <a:ea typeface="Liberation Sans"/>
                  <a:cs typeface="Liberation Sans"/>
                </a:rPr>
                <a:t>(b) Discriminator update</a:t>
              </a:r>
            </a:p>
          </p:txBody>
        </p:sp>
      </p:grpSp>
      <p:grpSp>
        <p:nvGrpSpPr>
          <p:cNvPr id="690" name="legend.real"/>
          <p:cNvGrpSpPr/>
          <p:nvPr/>
        </p:nvGrpSpPr>
        <p:grpSpPr>
          <a:xfrm>
            <a:off x="3314065" y="8615680"/>
            <a:ext cx="1034415" cy="251460"/>
            <a:chOff x="3314065" y="8615680"/>
            <a:chExt cx="1034415" cy="251460"/>
          </a:xfrm>
        </p:grpSpPr>
        <p:sp>
          <p:nvSpPr>
            <p:cNvPr id="691" name="legend.real/dot"/>
            <p:cNvSpPr/>
            <p:nvPr/>
          </p:nvSpPr>
          <p:spPr>
            <a:xfrm>
              <a:off x="3314065" y="8689975"/>
              <a:ext cx="102870" cy="102870"/>
            </a:xfrm>
            <a:prstGeom prst="ellipse">
              <a:avLst/>
            </a:pr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2" name="legend.real/text"/>
            <p:cNvSpPr txBox="1"/>
            <p:nvPr/>
          </p:nvSpPr>
          <p:spPr>
            <a:xfrm>
              <a:off x="3502660" y="8615680"/>
              <a:ext cx="845820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1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Real</a:t>
              </a:r>
            </a:p>
          </p:txBody>
        </p:sp>
      </p:grpSp>
      <p:grpSp>
        <p:nvGrpSpPr>
          <p:cNvPr id="693" name="legend.fake"/>
          <p:cNvGrpSpPr/>
          <p:nvPr/>
        </p:nvGrpSpPr>
        <p:grpSpPr>
          <a:xfrm>
            <a:off x="4331335" y="8615680"/>
            <a:ext cx="920115" cy="251460"/>
            <a:chOff x="4331335" y="8615680"/>
            <a:chExt cx="920115" cy="251460"/>
          </a:xfrm>
        </p:grpSpPr>
        <p:sp>
          <p:nvSpPr>
            <p:cNvPr id="694" name="legend.fake/dot"/>
            <p:cNvSpPr/>
            <p:nvPr/>
          </p:nvSpPr>
          <p:spPr>
            <a:xfrm>
              <a:off x="4331335" y="8689975"/>
              <a:ext cx="102870" cy="102870"/>
            </a:xfrm>
            <a:prstGeom prst="ellipse">
              <a:avLst/>
            </a:prstGeom>
            <a:solidFill>
              <a:srgbClr val="5E8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5" name="legend.fake/text"/>
            <p:cNvSpPr txBox="1"/>
            <p:nvPr/>
          </p:nvSpPr>
          <p:spPr>
            <a:xfrm>
              <a:off x="4519930" y="8615680"/>
              <a:ext cx="731520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1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Fake</a:t>
              </a:r>
            </a:p>
          </p:txBody>
        </p:sp>
      </p:grpSp>
      <p:grpSp>
        <p:nvGrpSpPr>
          <p:cNvPr id="696" name="legend.frozen"/>
          <p:cNvGrpSpPr/>
          <p:nvPr/>
        </p:nvGrpSpPr>
        <p:grpSpPr>
          <a:xfrm>
            <a:off x="5382895" y="8615680"/>
            <a:ext cx="1434465" cy="251460"/>
            <a:chOff x="5382895" y="8615680"/>
            <a:chExt cx="1434465" cy="251460"/>
          </a:xfrm>
        </p:grpSpPr>
        <p:sp>
          <p:nvSpPr>
            <p:cNvPr id="697" name="legend.frozen/icon/white outline"/>
            <p:cNvSpPr/>
            <p:nvPr/>
          </p:nvSpPr>
          <p:spPr>
            <a:xfrm>
              <a:off x="5382895" y="8667169"/>
              <a:ext cx="171450" cy="148480"/>
            </a:xfrm>
            <a:custGeom>
              <a:avLst/>
              <a:gdLst/>
              <a:ahLst/>
              <a:cxnLst/>
              <a:rect l="0" t="0" r="r" b="b"/>
              <a:pathLst>
                <a:path w="13500" h="11691">
                  <a:moveTo>
                    <a:pt x="6750" y="5846"/>
                  </a:moveTo>
                  <a:lnTo>
                    <a:pt x="13500" y="5846"/>
                  </a:lnTo>
                  <a:moveTo>
                    <a:pt x="10327" y="5846"/>
                  </a:moveTo>
                  <a:lnTo>
                    <a:pt x="8775" y="4293"/>
                  </a:lnTo>
                  <a:moveTo>
                    <a:pt x="10327" y="5846"/>
                  </a:moveTo>
                  <a:lnTo>
                    <a:pt x="8775" y="7398"/>
                  </a:lnTo>
                  <a:moveTo>
                    <a:pt x="11880" y="5846"/>
                  </a:moveTo>
                  <a:lnTo>
                    <a:pt x="10327" y="4293"/>
                  </a:lnTo>
                  <a:moveTo>
                    <a:pt x="11880" y="5846"/>
                  </a:moveTo>
                  <a:lnTo>
                    <a:pt x="10327" y="7398"/>
                  </a:lnTo>
                  <a:moveTo>
                    <a:pt x="6750" y="5846"/>
                  </a:moveTo>
                  <a:lnTo>
                    <a:pt x="10125" y="11691"/>
                  </a:lnTo>
                  <a:moveTo>
                    <a:pt x="8539" y="8944"/>
                  </a:moveTo>
                  <a:lnTo>
                    <a:pt x="9107" y="6823"/>
                  </a:lnTo>
                  <a:moveTo>
                    <a:pt x="8539" y="8944"/>
                  </a:moveTo>
                  <a:lnTo>
                    <a:pt x="6418" y="8376"/>
                  </a:lnTo>
                  <a:moveTo>
                    <a:pt x="9315" y="10288"/>
                  </a:moveTo>
                  <a:lnTo>
                    <a:pt x="9883" y="8168"/>
                  </a:lnTo>
                  <a:moveTo>
                    <a:pt x="9315" y="10288"/>
                  </a:moveTo>
                  <a:lnTo>
                    <a:pt x="7194" y="9720"/>
                  </a:lnTo>
                  <a:moveTo>
                    <a:pt x="6750" y="5846"/>
                  </a:moveTo>
                  <a:lnTo>
                    <a:pt x="3375" y="11691"/>
                  </a:lnTo>
                  <a:moveTo>
                    <a:pt x="4961" y="8944"/>
                  </a:moveTo>
                  <a:lnTo>
                    <a:pt x="7082" y="8376"/>
                  </a:lnTo>
                  <a:moveTo>
                    <a:pt x="4961" y="8944"/>
                  </a:moveTo>
                  <a:lnTo>
                    <a:pt x="4393" y="6823"/>
                  </a:lnTo>
                  <a:moveTo>
                    <a:pt x="4185" y="10288"/>
                  </a:moveTo>
                  <a:lnTo>
                    <a:pt x="6306" y="9720"/>
                  </a:lnTo>
                  <a:moveTo>
                    <a:pt x="4185" y="10288"/>
                  </a:moveTo>
                  <a:lnTo>
                    <a:pt x="3617" y="8168"/>
                  </a:lnTo>
                  <a:moveTo>
                    <a:pt x="6750" y="5846"/>
                  </a:moveTo>
                  <a:lnTo>
                    <a:pt x="0" y="5846"/>
                  </a:lnTo>
                  <a:moveTo>
                    <a:pt x="3172" y="5846"/>
                  </a:moveTo>
                  <a:lnTo>
                    <a:pt x="4725" y="7398"/>
                  </a:lnTo>
                  <a:moveTo>
                    <a:pt x="3172" y="5846"/>
                  </a:moveTo>
                  <a:lnTo>
                    <a:pt x="4725" y="4293"/>
                  </a:lnTo>
                  <a:moveTo>
                    <a:pt x="1620" y="5846"/>
                  </a:moveTo>
                  <a:lnTo>
                    <a:pt x="3172" y="7398"/>
                  </a:lnTo>
                  <a:moveTo>
                    <a:pt x="1620" y="5846"/>
                  </a:moveTo>
                  <a:lnTo>
                    <a:pt x="3172" y="4293"/>
                  </a:lnTo>
                  <a:moveTo>
                    <a:pt x="6750" y="5846"/>
                  </a:moveTo>
                  <a:lnTo>
                    <a:pt x="3375" y="0"/>
                  </a:lnTo>
                  <a:moveTo>
                    <a:pt x="4961" y="2747"/>
                  </a:moveTo>
                  <a:lnTo>
                    <a:pt x="4393" y="4868"/>
                  </a:lnTo>
                  <a:moveTo>
                    <a:pt x="4961" y="2747"/>
                  </a:moveTo>
                  <a:lnTo>
                    <a:pt x="7082" y="3316"/>
                  </a:lnTo>
                  <a:moveTo>
                    <a:pt x="4185" y="1403"/>
                  </a:moveTo>
                  <a:lnTo>
                    <a:pt x="3617" y="3524"/>
                  </a:lnTo>
                  <a:moveTo>
                    <a:pt x="4185" y="1403"/>
                  </a:moveTo>
                  <a:lnTo>
                    <a:pt x="6306" y="1971"/>
                  </a:lnTo>
                  <a:moveTo>
                    <a:pt x="6750" y="5846"/>
                  </a:moveTo>
                  <a:lnTo>
                    <a:pt x="10125" y="0"/>
                  </a:lnTo>
                  <a:moveTo>
                    <a:pt x="8539" y="2747"/>
                  </a:moveTo>
                  <a:lnTo>
                    <a:pt x="6418" y="3316"/>
                  </a:lnTo>
                  <a:moveTo>
                    <a:pt x="8539" y="2747"/>
                  </a:moveTo>
                  <a:lnTo>
                    <a:pt x="9107" y="4868"/>
                  </a:lnTo>
                  <a:moveTo>
                    <a:pt x="9315" y="1403"/>
                  </a:moveTo>
                  <a:lnTo>
                    <a:pt x="7194" y="1971"/>
                  </a:lnTo>
                  <a:moveTo>
                    <a:pt x="9315" y="1403"/>
                  </a:moveTo>
                  <a:lnTo>
                    <a:pt x="9883" y="3524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8" name="legend.frozen/icon/blue crystal"/>
            <p:cNvSpPr/>
            <p:nvPr/>
          </p:nvSpPr>
          <p:spPr>
            <a:xfrm>
              <a:off x="5382895" y="8667169"/>
              <a:ext cx="171450" cy="148480"/>
            </a:xfrm>
            <a:custGeom>
              <a:avLst/>
              <a:gdLst/>
              <a:ahLst/>
              <a:cxnLst/>
              <a:rect l="0" t="0" r="r" b="b"/>
              <a:pathLst>
                <a:path w="13500" h="11691">
                  <a:moveTo>
                    <a:pt x="6750" y="5846"/>
                  </a:moveTo>
                  <a:lnTo>
                    <a:pt x="13500" y="5846"/>
                  </a:lnTo>
                  <a:moveTo>
                    <a:pt x="10327" y="5846"/>
                  </a:moveTo>
                  <a:lnTo>
                    <a:pt x="8775" y="4293"/>
                  </a:lnTo>
                  <a:moveTo>
                    <a:pt x="10327" y="5846"/>
                  </a:moveTo>
                  <a:lnTo>
                    <a:pt x="8775" y="7398"/>
                  </a:lnTo>
                  <a:moveTo>
                    <a:pt x="11880" y="5846"/>
                  </a:moveTo>
                  <a:lnTo>
                    <a:pt x="10327" y="4293"/>
                  </a:lnTo>
                  <a:moveTo>
                    <a:pt x="11880" y="5846"/>
                  </a:moveTo>
                  <a:lnTo>
                    <a:pt x="10327" y="7398"/>
                  </a:lnTo>
                  <a:moveTo>
                    <a:pt x="6750" y="5846"/>
                  </a:moveTo>
                  <a:lnTo>
                    <a:pt x="10125" y="11691"/>
                  </a:lnTo>
                  <a:moveTo>
                    <a:pt x="8539" y="8944"/>
                  </a:moveTo>
                  <a:lnTo>
                    <a:pt x="9107" y="6823"/>
                  </a:lnTo>
                  <a:moveTo>
                    <a:pt x="8539" y="8944"/>
                  </a:moveTo>
                  <a:lnTo>
                    <a:pt x="6418" y="8376"/>
                  </a:lnTo>
                  <a:moveTo>
                    <a:pt x="9315" y="10288"/>
                  </a:moveTo>
                  <a:lnTo>
                    <a:pt x="9883" y="8168"/>
                  </a:lnTo>
                  <a:moveTo>
                    <a:pt x="9315" y="10288"/>
                  </a:moveTo>
                  <a:lnTo>
                    <a:pt x="7194" y="9720"/>
                  </a:lnTo>
                  <a:moveTo>
                    <a:pt x="6750" y="5846"/>
                  </a:moveTo>
                  <a:lnTo>
                    <a:pt x="3375" y="11691"/>
                  </a:lnTo>
                  <a:moveTo>
                    <a:pt x="4961" y="8944"/>
                  </a:moveTo>
                  <a:lnTo>
                    <a:pt x="7082" y="8376"/>
                  </a:lnTo>
                  <a:moveTo>
                    <a:pt x="4961" y="8944"/>
                  </a:moveTo>
                  <a:lnTo>
                    <a:pt x="4393" y="6823"/>
                  </a:lnTo>
                  <a:moveTo>
                    <a:pt x="4185" y="10288"/>
                  </a:moveTo>
                  <a:lnTo>
                    <a:pt x="6306" y="9720"/>
                  </a:lnTo>
                  <a:moveTo>
                    <a:pt x="4185" y="10288"/>
                  </a:moveTo>
                  <a:lnTo>
                    <a:pt x="3617" y="8168"/>
                  </a:lnTo>
                  <a:moveTo>
                    <a:pt x="6750" y="5846"/>
                  </a:moveTo>
                  <a:lnTo>
                    <a:pt x="0" y="5846"/>
                  </a:lnTo>
                  <a:moveTo>
                    <a:pt x="3172" y="5846"/>
                  </a:moveTo>
                  <a:lnTo>
                    <a:pt x="4725" y="7398"/>
                  </a:lnTo>
                  <a:moveTo>
                    <a:pt x="3172" y="5846"/>
                  </a:moveTo>
                  <a:lnTo>
                    <a:pt x="4725" y="4293"/>
                  </a:lnTo>
                  <a:moveTo>
                    <a:pt x="1620" y="5846"/>
                  </a:moveTo>
                  <a:lnTo>
                    <a:pt x="3172" y="7398"/>
                  </a:lnTo>
                  <a:moveTo>
                    <a:pt x="1620" y="5846"/>
                  </a:moveTo>
                  <a:lnTo>
                    <a:pt x="3172" y="4293"/>
                  </a:lnTo>
                  <a:moveTo>
                    <a:pt x="6750" y="5846"/>
                  </a:moveTo>
                  <a:lnTo>
                    <a:pt x="3375" y="0"/>
                  </a:lnTo>
                  <a:moveTo>
                    <a:pt x="4961" y="2747"/>
                  </a:moveTo>
                  <a:lnTo>
                    <a:pt x="4393" y="4868"/>
                  </a:lnTo>
                  <a:moveTo>
                    <a:pt x="4961" y="2747"/>
                  </a:moveTo>
                  <a:lnTo>
                    <a:pt x="7082" y="3316"/>
                  </a:lnTo>
                  <a:moveTo>
                    <a:pt x="4185" y="1403"/>
                  </a:moveTo>
                  <a:lnTo>
                    <a:pt x="3617" y="3524"/>
                  </a:lnTo>
                  <a:moveTo>
                    <a:pt x="4185" y="1403"/>
                  </a:moveTo>
                  <a:lnTo>
                    <a:pt x="6306" y="1971"/>
                  </a:lnTo>
                  <a:moveTo>
                    <a:pt x="6750" y="5846"/>
                  </a:moveTo>
                  <a:lnTo>
                    <a:pt x="10125" y="0"/>
                  </a:lnTo>
                  <a:moveTo>
                    <a:pt x="8539" y="2747"/>
                  </a:moveTo>
                  <a:lnTo>
                    <a:pt x="6418" y="3316"/>
                  </a:lnTo>
                  <a:moveTo>
                    <a:pt x="8539" y="2747"/>
                  </a:moveTo>
                  <a:lnTo>
                    <a:pt x="9107" y="4868"/>
                  </a:lnTo>
                  <a:moveTo>
                    <a:pt x="9315" y="1403"/>
                  </a:moveTo>
                  <a:lnTo>
                    <a:pt x="7194" y="1971"/>
                  </a:lnTo>
                  <a:moveTo>
                    <a:pt x="9315" y="1403"/>
                  </a:moveTo>
                  <a:lnTo>
                    <a:pt x="9883" y="3524"/>
                  </a:lnTo>
                </a:path>
              </a:pathLst>
            </a:custGeom>
            <a:noFill/>
            <a:ln w="1143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9" name="legend.frozen/text"/>
            <p:cNvSpPr txBox="1"/>
            <p:nvPr/>
          </p:nvSpPr>
          <p:spPr>
            <a:xfrm>
              <a:off x="5628640" y="8615680"/>
              <a:ext cx="1188720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1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Frozen / fixed</a:t>
              </a:r>
            </a:p>
          </p:txBody>
        </p:sp>
      </p:grpSp>
      <p:grpSp>
        <p:nvGrpSpPr>
          <p:cNvPr id="700" name="legend.train"/>
          <p:cNvGrpSpPr/>
          <p:nvPr/>
        </p:nvGrpSpPr>
        <p:grpSpPr>
          <a:xfrm>
            <a:off x="7126427" y="8615680"/>
            <a:ext cx="1279703" cy="251460"/>
            <a:chOff x="7126427" y="8615680"/>
            <a:chExt cx="1279703" cy="251460"/>
          </a:xfrm>
        </p:grpSpPr>
        <p:sp>
          <p:nvSpPr>
            <p:cNvPr id="701" name="legend.train/icon/red"/>
            <p:cNvSpPr/>
            <p:nvPr/>
          </p:nvSpPr>
          <p:spPr>
            <a:xfrm>
              <a:off x="7126427" y="8641969"/>
              <a:ext cx="178993" cy="185623"/>
            </a:xfrm>
            <a:custGeom>
              <a:avLst/>
              <a:gdLst/>
              <a:ahLst/>
              <a:cxnLst/>
              <a:rect l="0" t="0" r="r" b="b"/>
              <a:pathLst>
                <a:path w="14094" h="14616">
                  <a:moveTo>
                    <a:pt x="6264" y="14094"/>
                  </a:moveTo>
                  <a:cubicBezTo>
                    <a:pt x="0" y="12006"/>
                    <a:pt x="2088" y="6786"/>
                    <a:pt x="3654" y="5220"/>
                  </a:cubicBezTo>
                  <a:cubicBezTo>
                    <a:pt x="3132" y="8352"/>
                    <a:pt x="5742" y="8874"/>
                    <a:pt x="5220" y="5742"/>
                  </a:cubicBezTo>
                  <a:cubicBezTo>
                    <a:pt x="4176" y="3654"/>
                    <a:pt x="7830" y="2610"/>
                    <a:pt x="6264" y="0"/>
                  </a:cubicBezTo>
                  <a:cubicBezTo>
                    <a:pt x="12006" y="2610"/>
                    <a:pt x="9396" y="6264"/>
                    <a:pt x="10962" y="4698"/>
                  </a:cubicBezTo>
                  <a:cubicBezTo>
                    <a:pt x="14094" y="8352"/>
                    <a:pt x="12528" y="13050"/>
                    <a:pt x="8874" y="14094"/>
                  </a:cubicBezTo>
                  <a:cubicBezTo>
                    <a:pt x="7830" y="14616"/>
                    <a:pt x="6786" y="14616"/>
                    <a:pt x="6264" y="14094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2" name="legend.train/icon/gold"/>
            <p:cNvSpPr/>
            <p:nvPr/>
          </p:nvSpPr>
          <p:spPr>
            <a:xfrm>
              <a:off x="7179462" y="8728151"/>
              <a:ext cx="79552" cy="86182"/>
            </a:xfrm>
            <a:custGeom>
              <a:avLst/>
              <a:gdLst/>
              <a:ahLst/>
              <a:cxnLst/>
              <a:rect l="0" t="0" r="r" b="b"/>
              <a:pathLst>
                <a:path w="6264" h="6786">
                  <a:moveTo>
                    <a:pt x="2610" y="6786"/>
                  </a:moveTo>
                  <a:cubicBezTo>
                    <a:pt x="0" y="5742"/>
                    <a:pt x="0" y="2610"/>
                    <a:pt x="1566" y="1044"/>
                  </a:cubicBezTo>
                  <a:cubicBezTo>
                    <a:pt x="1566" y="3654"/>
                    <a:pt x="3654" y="3654"/>
                    <a:pt x="3132" y="0"/>
                  </a:cubicBezTo>
                  <a:cubicBezTo>
                    <a:pt x="6264" y="2088"/>
                    <a:pt x="6264" y="5742"/>
                    <a:pt x="3654" y="6786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3" name="legend.train/text"/>
            <p:cNvSpPr txBox="1"/>
            <p:nvPr/>
          </p:nvSpPr>
          <p:spPr>
            <a:xfrm>
              <a:off x="7377430" y="8615680"/>
              <a:ext cx="1028700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1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Trainable</a:t>
              </a:r>
            </a:p>
          </p:txBody>
        </p:sp>
      </p:grpSp>
      <p:grpSp>
        <p:nvGrpSpPr>
          <p:cNvPr id="704" name="legend.grad"/>
          <p:cNvGrpSpPr/>
          <p:nvPr/>
        </p:nvGrpSpPr>
        <p:grpSpPr>
          <a:xfrm>
            <a:off x="8566150" y="8615680"/>
            <a:ext cx="1474470" cy="251460"/>
            <a:chOff x="8566150" y="8615680"/>
            <a:chExt cx="1474470" cy="251460"/>
          </a:xfrm>
        </p:grpSpPr>
        <p:sp>
          <p:nvSpPr>
            <p:cNvPr id="705" name="legend.grad/line"/>
            <p:cNvSpPr/>
            <p:nvPr/>
          </p:nvSpPr>
          <p:spPr>
            <a:xfrm>
              <a:off x="8566150" y="8741410"/>
              <a:ext cx="354329" cy="127"/>
            </a:xfrm>
            <a:custGeom>
              <a:avLst/>
              <a:gdLst/>
              <a:ahLst/>
              <a:cxnLst/>
              <a:rect l="0" t="0" r="r" b="b"/>
              <a:pathLst>
                <a:path w="27900" h="10">
                  <a:moveTo>
                    <a:pt x="0" y="0"/>
                  </a:moveTo>
                  <a:lnTo>
                    <a:pt x="27900" y="0"/>
                  </a:lnTo>
                </a:path>
              </a:pathLst>
            </a:custGeom>
            <a:noFill/>
            <a:ln w="18288">
              <a:solidFill>
                <a:srgbClr val="B8643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6" name="legend.grad/line head"/>
            <p:cNvSpPr/>
            <p:nvPr/>
          </p:nvSpPr>
          <p:spPr>
            <a:xfrm>
              <a:off x="8851900" y="8710549"/>
              <a:ext cx="68579" cy="61722"/>
            </a:xfrm>
            <a:custGeom>
              <a:avLst/>
              <a:gdLst/>
              <a:ahLst/>
              <a:cxnLst/>
              <a:rect l="0" t="0" r="r" b="b"/>
              <a:pathLst>
                <a:path w="5400" h="4860">
                  <a:moveTo>
                    <a:pt x="5400" y="2430"/>
                  </a:moveTo>
                  <a:lnTo>
                    <a:pt x="0" y="0"/>
                  </a:lnTo>
                  <a:lnTo>
                    <a:pt x="0" y="4860"/>
                  </a:lnTo>
                  <a:close/>
                </a:path>
              </a:pathLst>
            </a:custGeom>
            <a:solidFill>
              <a:srgbClr val="B864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7" name="legend.grad/text"/>
            <p:cNvSpPr txBox="1"/>
            <p:nvPr/>
          </p:nvSpPr>
          <p:spPr>
            <a:xfrm>
              <a:off x="9023350" y="8615680"/>
              <a:ext cx="1017270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215" b="0" i="0">
                  <a:solidFill>
                    <a:srgbClr val="0E2841"/>
                  </a:solidFill>
                  <a:latin typeface="Liberation Sans"/>
                  <a:ea typeface="Liberation Sans"/>
                  <a:cs typeface="Liberation Sans"/>
                </a:rPr>
                <a:t>Gradient</a:t>
              </a:r>
            </a:p>
          </p:txBody>
        </p:sp>
      </p:grpSp>
      <p:grpSp>
        <p:nvGrpSpPr>
          <p:cNvPr id="708" name="legend.schematic"/>
          <p:cNvGrpSpPr/>
          <p:nvPr/>
        </p:nvGrpSpPr>
        <p:grpSpPr>
          <a:xfrm>
            <a:off x="11023600" y="8615680"/>
            <a:ext cx="1943100" cy="251460"/>
            <a:chOff x="11023600" y="8615680"/>
            <a:chExt cx="1943100" cy="251460"/>
          </a:xfrm>
        </p:grpSpPr>
        <p:sp>
          <p:nvSpPr>
            <p:cNvPr id="709" name="legend.schematic/text"/>
            <p:cNvSpPr txBox="1"/>
            <p:nvPr/>
          </p:nvSpPr>
          <p:spPr>
            <a:xfrm>
              <a:off x="11023600" y="8615680"/>
              <a:ext cx="1943100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071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Distributions: schematic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 · Shared forward process">
    <p:spTree>
      <p:nvGrpSpPr>
        <p:cNvPr id="1" name=""/>
        <p:cNvGrpSpPr/>
        <p:nvPr/>
      </p:nvGrpSpPr>
      <p:grpSpPr/>
      <p:grpSp>
        <p:nvGrpSpPr>
          <p:cNvPr id="2" name="title"/>
          <p:cNvGrpSpPr/>
          <p:nvPr/>
        </p:nvGrpSpPr>
        <p:grpSpPr>
          <a:xfrm>
            <a:off x="558800" y="215900"/>
            <a:ext cx="10795000" cy="406400"/>
            <a:chOff x="558800" y="215900"/>
            <a:chExt cx="10795000" cy="406400"/>
          </a:xfrm>
        </p:grpSpPr>
        <p:sp>
          <p:nvSpPr>
            <p:cNvPr id="3" name="title/main"/>
            <p:cNvSpPr txBox="1"/>
            <p:nvPr/>
          </p:nvSpPr>
          <p:spPr>
            <a:xfrm>
              <a:off x="558800" y="215900"/>
              <a:ext cx="10795000" cy="406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2200" b="1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Guided sampling with adversarial feedback</a:t>
              </a:r>
            </a:p>
          </p:txBody>
        </p:sp>
      </p:grpSp>
      <p:grpSp>
        <p:nvGrpSpPr>
          <p:cNvPr id="4" name="gradient"/>
          <p:cNvGrpSpPr/>
          <p:nvPr/>
        </p:nvGrpSpPr>
        <p:grpSpPr>
          <a:xfrm>
            <a:off x="279400" y="673100"/>
            <a:ext cx="5143500" cy="5130800"/>
            <a:chOff x="279400" y="673100"/>
            <a:chExt cx="5143500" cy="5130800"/>
          </a:xfrm>
        </p:grpSpPr>
        <p:sp>
          <p:nvSpPr>
            <p:cNvPr id="5" name="gradient/return"/>
            <p:cNvSpPr/>
            <p:nvPr/>
          </p:nvSpPr>
          <p:spPr>
            <a:xfrm>
              <a:off x="279400" y="965200"/>
              <a:ext cx="3898900" cy="4838700"/>
            </a:xfrm>
            <a:custGeom>
              <a:avLst/>
              <a:gdLst/>
              <a:ahLst/>
              <a:cxnLst/>
              <a:rect l="0" t="0" r="r" b="b"/>
              <a:pathLst>
                <a:path w="307000" h="381000">
                  <a:moveTo>
                    <a:pt x="230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307000" y="0"/>
                  </a:lnTo>
                  <a:lnTo>
                    <a:pt x="307000" y="22000"/>
                  </a:lnTo>
                </a:path>
              </a:pathLst>
            </a:custGeom>
            <a:noFill/>
            <a:ln w="19050">
              <a:solidFill>
                <a:srgbClr val="B8643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gradient/return head"/>
            <p:cNvSpPr/>
            <p:nvPr/>
          </p:nvSpPr>
          <p:spPr>
            <a:xfrm>
              <a:off x="4144010" y="1168400"/>
              <a:ext cx="68579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64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gradient/label"/>
            <p:cNvSpPr txBox="1"/>
            <p:nvPr/>
          </p:nvSpPr>
          <p:spPr>
            <a:xfrm>
              <a:off x="977900" y="673100"/>
              <a:ext cx="4445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Backpropagate through the full trajectory</a:t>
              </a:r>
            </a:p>
          </p:txBody>
        </p:sp>
      </p:grpSp>
      <p:grpSp>
        <p:nvGrpSpPr>
          <p:cNvPr id="8" name="shared.sampler"/>
          <p:cNvGrpSpPr/>
          <p:nvPr/>
        </p:nvGrpSpPr>
        <p:grpSpPr>
          <a:xfrm>
            <a:off x="1968500" y="1244600"/>
            <a:ext cx="4508500" cy="2743200"/>
            <a:chOff x="1968500" y="1244600"/>
            <a:chExt cx="4508500" cy="2743200"/>
          </a:xfrm>
        </p:grpSpPr>
        <p:sp>
          <p:nvSpPr>
            <p:cNvPr id="9" name="shared.sampler/container"/>
            <p:cNvSpPr/>
            <p:nvPr/>
          </p:nvSpPr>
          <p:spPr>
            <a:xfrm>
              <a:off x="1968500" y="1244600"/>
              <a:ext cx="4508500" cy="2743200"/>
            </a:xfrm>
            <a:custGeom>
              <a:avLst/>
              <a:gdLst/>
              <a:ahLst/>
              <a:cxnLst/>
              <a:rect l="0" t="0" r="r" b="b"/>
              <a:pathLst>
                <a:path w="355000" h="216000">
                  <a:moveTo>
                    <a:pt x="5000" y="0"/>
                  </a:moveTo>
                  <a:lnTo>
                    <a:pt x="350000" y="0"/>
                  </a:lnTo>
                  <a:cubicBezTo>
                    <a:pt x="352761" y="0"/>
                    <a:pt x="355000" y="2239"/>
                    <a:pt x="355000" y="5000"/>
                  </a:cubicBezTo>
                  <a:lnTo>
                    <a:pt x="355000" y="211000"/>
                  </a:lnTo>
                  <a:cubicBezTo>
                    <a:pt x="355000" y="213761"/>
                    <a:pt x="352761" y="216000"/>
                    <a:pt x="350000" y="216000"/>
                  </a:cubicBezTo>
                  <a:lnTo>
                    <a:pt x="5000" y="216000"/>
                  </a:lnTo>
                  <a:cubicBezTo>
                    <a:pt x="2239" y="216000"/>
                    <a:pt x="0" y="213761"/>
                    <a:pt x="0" y="211000"/>
                  </a:cubicBezTo>
                  <a:lnTo>
                    <a:pt x="0" y="5000"/>
                  </a:lnTo>
                  <a:cubicBezTo>
                    <a:pt x="0" y="2239"/>
                    <a:pt x="2239" y="0"/>
                    <a:pt x="5000" y="0"/>
                  </a:cubicBezTo>
                  <a:close/>
                </a:path>
              </a:pathLst>
            </a:custGeom>
            <a:solidFill>
              <a:srgbClr val="FAFCFD"/>
            </a:solidFill>
            <a:ln w="11430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shared.sampler/title"/>
            <p:cNvSpPr txBox="1"/>
            <p:nvPr/>
          </p:nvSpPr>
          <p:spPr>
            <a:xfrm>
              <a:off x="2120900" y="1346200"/>
              <a:ext cx="42037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00" b="1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Full-trajectory sampler</a:t>
              </a:r>
            </a:p>
          </p:txBody>
        </p:sp>
      </p:grpSp>
      <p:grpSp>
        <p:nvGrpSpPr>
          <p:cNvPr id="11" name="shared.sampler.strong"/>
          <p:cNvGrpSpPr/>
          <p:nvPr/>
        </p:nvGrpSpPr>
        <p:grpSpPr>
          <a:xfrm>
            <a:off x="2120900" y="1778000"/>
            <a:ext cx="1341966" cy="990600"/>
            <a:chOff x="2120900" y="1778000"/>
            <a:chExt cx="1341966" cy="990600"/>
          </a:xfrm>
        </p:grpSpPr>
        <p:sp>
          <p:nvSpPr>
            <p:cNvPr id="12" name="shared.sampler.strong/box"/>
            <p:cNvSpPr/>
            <p:nvPr/>
          </p:nvSpPr>
          <p:spPr>
            <a:xfrm>
              <a:off x="2120900" y="1778000"/>
              <a:ext cx="1341966" cy="990600"/>
            </a:xfrm>
            <a:custGeom>
              <a:avLst/>
              <a:gdLst/>
              <a:ahLst/>
              <a:cxnLst/>
              <a:rect l="0" t="0" r="r" b="b"/>
              <a:pathLst>
                <a:path w="105667" h="78000">
                  <a:moveTo>
                    <a:pt x="4000" y="0"/>
                  </a:moveTo>
                  <a:lnTo>
                    <a:pt x="101667" y="0"/>
                  </a:lnTo>
                  <a:cubicBezTo>
                    <a:pt x="103876" y="0"/>
                    <a:pt x="105667" y="1791"/>
                    <a:pt x="105667" y="4000"/>
                  </a:cubicBezTo>
                  <a:lnTo>
                    <a:pt x="105667" y="74000"/>
                  </a:lnTo>
                  <a:cubicBezTo>
                    <a:pt x="105667" y="76209"/>
                    <a:pt x="103876" y="78000"/>
                    <a:pt x="101667" y="78000"/>
                  </a:cubicBezTo>
                  <a:lnTo>
                    <a:pt x="4000" y="78000"/>
                  </a:lnTo>
                  <a:cubicBezTo>
                    <a:pt x="1791" y="78000"/>
                    <a:pt x="0" y="76209"/>
                    <a:pt x="0" y="74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shared.sampler.strong/network spine"/>
            <p:cNvSpPr/>
            <p:nvPr/>
          </p:nvSpPr>
          <p:spPr>
            <a:xfrm>
              <a:off x="2398183" y="2089150"/>
              <a:ext cx="787400" cy="127"/>
            </a:xfrm>
            <a:custGeom>
              <a:avLst/>
              <a:gdLst/>
              <a:ahLst/>
              <a:cxnLst/>
              <a:rect l="0" t="0" r="r" b="b"/>
              <a:pathLst>
                <a:path w="62000" h="10">
                  <a:moveTo>
                    <a:pt x="0" y="0"/>
                  </a:moveTo>
                  <a:lnTo>
                    <a:pt x="62000" y="0"/>
                  </a:lnTo>
                </a:path>
              </a:pathLst>
            </a:custGeom>
            <a:noFill/>
            <a:ln w="1079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shared.sampler.strong/network block 0"/>
            <p:cNvSpPr/>
            <p:nvPr/>
          </p:nvSpPr>
          <p:spPr>
            <a:xfrm>
              <a:off x="2502120" y="1970087"/>
              <a:ext cx="107086" cy="238125"/>
            </a:xfrm>
            <a:custGeom>
              <a:avLst/>
              <a:gdLst/>
              <a:ahLst/>
              <a:cxnLst/>
              <a:rect l="0" t="0" r="r" b="b"/>
              <a:pathLst>
                <a:path w="8432" h="1875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17950"/>
                  </a:lnTo>
                  <a:cubicBezTo>
                    <a:pt x="8432" y="18392"/>
                    <a:pt x="8074" y="18750"/>
                    <a:pt x="7632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shared.sampler.strong/network block 1"/>
            <p:cNvSpPr/>
            <p:nvPr/>
          </p:nvSpPr>
          <p:spPr>
            <a:xfrm>
              <a:off x="2659600" y="1930400"/>
              <a:ext cx="107086" cy="317500"/>
            </a:xfrm>
            <a:custGeom>
              <a:avLst/>
              <a:gdLst/>
              <a:ahLst/>
              <a:cxnLst/>
              <a:rect l="0" t="0" r="r" b="b"/>
              <a:pathLst>
                <a:path w="8432" h="2500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24200"/>
                  </a:lnTo>
                  <a:cubicBezTo>
                    <a:pt x="8432" y="24642"/>
                    <a:pt x="8074" y="25000"/>
                    <a:pt x="7632" y="25000"/>
                  </a:cubicBezTo>
                  <a:lnTo>
                    <a:pt x="800" y="25000"/>
                  </a:lnTo>
                  <a:cubicBezTo>
                    <a:pt x="358" y="25000"/>
                    <a:pt x="0" y="24642"/>
                    <a:pt x="0" y="24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shared.sampler.strong/network block 2"/>
            <p:cNvSpPr/>
            <p:nvPr/>
          </p:nvSpPr>
          <p:spPr>
            <a:xfrm>
              <a:off x="2817080" y="1930400"/>
              <a:ext cx="107086" cy="317500"/>
            </a:xfrm>
            <a:custGeom>
              <a:avLst/>
              <a:gdLst/>
              <a:ahLst/>
              <a:cxnLst/>
              <a:rect l="0" t="0" r="r" b="b"/>
              <a:pathLst>
                <a:path w="8432" h="2500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24200"/>
                  </a:lnTo>
                  <a:cubicBezTo>
                    <a:pt x="8432" y="24642"/>
                    <a:pt x="8074" y="25000"/>
                    <a:pt x="7632" y="25000"/>
                  </a:cubicBezTo>
                  <a:lnTo>
                    <a:pt x="800" y="25000"/>
                  </a:lnTo>
                  <a:cubicBezTo>
                    <a:pt x="358" y="25000"/>
                    <a:pt x="0" y="24642"/>
                    <a:pt x="0" y="24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hared.sampler.strong/network block 3"/>
            <p:cNvSpPr/>
            <p:nvPr/>
          </p:nvSpPr>
          <p:spPr>
            <a:xfrm>
              <a:off x="2974560" y="1970087"/>
              <a:ext cx="107086" cy="238125"/>
            </a:xfrm>
            <a:custGeom>
              <a:avLst/>
              <a:gdLst/>
              <a:ahLst/>
              <a:cxnLst/>
              <a:rect l="0" t="0" r="r" b="b"/>
              <a:pathLst>
                <a:path w="8432" h="1875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17950"/>
                  </a:lnTo>
                  <a:cubicBezTo>
                    <a:pt x="8432" y="18392"/>
                    <a:pt x="8074" y="18750"/>
                    <a:pt x="7632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hared.sampler.strong/label"/>
            <p:cNvSpPr txBox="1"/>
            <p:nvPr/>
          </p:nvSpPr>
          <p:spPr>
            <a:xfrm>
              <a:off x="2159000" y="2438400"/>
              <a:ext cx="1265766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Strong S</a:t>
              </a:r>
            </a:p>
          </p:txBody>
        </p:sp>
        <p:sp>
          <p:nvSpPr>
            <p:cNvPr id="19" name="shared.sampler.strong/frozen/white outline"/>
            <p:cNvSpPr/>
            <p:nvPr/>
          </p:nvSpPr>
          <p:spPr>
            <a:xfrm>
              <a:off x="3236806" y="18429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shared.sampler.strong/frozen/blue crystal"/>
            <p:cNvSpPr/>
            <p:nvPr/>
          </p:nvSpPr>
          <p:spPr>
            <a:xfrm>
              <a:off x="3236806" y="18429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shared.sampler.weak"/>
          <p:cNvGrpSpPr/>
          <p:nvPr/>
        </p:nvGrpSpPr>
        <p:grpSpPr>
          <a:xfrm>
            <a:off x="3551766" y="1778000"/>
            <a:ext cx="1341966" cy="990600"/>
            <a:chOff x="3551766" y="1778000"/>
            <a:chExt cx="1341966" cy="990600"/>
          </a:xfrm>
        </p:grpSpPr>
        <p:sp>
          <p:nvSpPr>
            <p:cNvPr id="22" name="shared.sampler.weak/box"/>
            <p:cNvSpPr/>
            <p:nvPr/>
          </p:nvSpPr>
          <p:spPr>
            <a:xfrm>
              <a:off x="3551766" y="1778000"/>
              <a:ext cx="1341966" cy="990600"/>
            </a:xfrm>
            <a:custGeom>
              <a:avLst/>
              <a:gdLst/>
              <a:ahLst/>
              <a:cxnLst/>
              <a:rect l="0" t="0" r="r" b="b"/>
              <a:pathLst>
                <a:path w="105667" h="78000">
                  <a:moveTo>
                    <a:pt x="4000" y="0"/>
                  </a:moveTo>
                  <a:lnTo>
                    <a:pt x="101667" y="0"/>
                  </a:lnTo>
                  <a:cubicBezTo>
                    <a:pt x="103876" y="0"/>
                    <a:pt x="105667" y="1791"/>
                    <a:pt x="105667" y="4000"/>
                  </a:cubicBezTo>
                  <a:lnTo>
                    <a:pt x="105667" y="74000"/>
                  </a:lnTo>
                  <a:cubicBezTo>
                    <a:pt x="105667" y="76209"/>
                    <a:pt x="103876" y="78000"/>
                    <a:pt x="101667" y="78000"/>
                  </a:cubicBezTo>
                  <a:lnTo>
                    <a:pt x="4000" y="78000"/>
                  </a:lnTo>
                  <a:cubicBezTo>
                    <a:pt x="1791" y="78000"/>
                    <a:pt x="0" y="76209"/>
                    <a:pt x="0" y="74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6E8D8"/>
            </a:solidFill>
            <a:ln w="10160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hared.sampler.weak/network spine"/>
            <p:cNvSpPr/>
            <p:nvPr/>
          </p:nvSpPr>
          <p:spPr>
            <a:xfrm>
              <a:off x="3829050" y="2089150"/>
              <a:ext cx="787400" cy="127"/>
            </a:xfrm>
            <a:custGeom>
              <a:avLst/>
              <a:gdLst/>
              <a:ahLst/>
              <a:cxnLst/>
              <a:rect l="0" t="0" r="r" b="b"/>
              <a:pathLst>
                <a:path w="62000" h="10">
                  <a:moveTo>
                    <a:pt x="0" y="0"/>
                  </a:moveTo>
                  <a:lnTo>
                    <a:pt x="62000" y="0"/>
                  </a:lnTo>
                </a:path>
              </a:pathLst>
            </a:custGeom>
            <a:noFill/>
            <a:ln w="10795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hared.sampler.weak/network block 0"/>
            <p:cNvSpPr/>
            <p:nvPr/>
          </p:nvSpPr>
          <p:spPr>
            <a:xfrm>
              <a:off x="3958971" y="1970087"/>
              <a:ext cx="133858" cy="238125"/>
            </a:xfrm>
            <a:custGeom>
              <a:avLst/>
              <a:gdLst/>
              <a:ahLst/>
              <a:cxnLst/>
              <a:rect l="0" t="0" r="r" b="b"/>
              <a:pathLst>
                <a:path w="10540" h="18750">
                  <a:moveTo>
                    <a:pt x="800" y="0"/>
                  </a:moveTo>
                  <a:lnTo>
                    <a:pt x="9740" y="0"/>
                  </a:lnTo>
                  <a:cubicBezTo>
                    <a:pt x="10182" y="0"/>
                    <a:pt x="10540" y="358"/>
                    <a:pt x="10540" y="800"/>
                  </a:cubicBezTo>
                  <a:lnTo>
                    <a:pt x="10540" y="17950"/>
                  </a:lnTo>
                  <a:cubicBezTo>
                    <a:pt x="10540" y="18392"/>
                    <a:pt x="10182" y="18750"/>
                    <a:pt x="9740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hared.sampler.weak/network block 1"/>
            <p:cNvSpPr/>
            <p:nvPr/>
          </p:nvSpPr>
          <p:spPr>
            <a:xfrm>
              <a:off x="4155821" y="1930400"/>
              <a:ext cx="133858" cy="317500"/>
            </a:xfrm>
            <a:custGeom>
              <a:avLst/>
              <a:gdLst/>
              <a:ahLst/>
              <a:cxnLst/>
              <a:rect l="0" t="0" r="r" b="b"/>
              <a:pathLst>
                <a:path w="10540" h="25000">
                  <a:moveTo>
                    <a:pt x="800" y="0"/>
                  </a:moveTo>
                  <a:lnTo>
                    <a:pt x="9740" y="0"/>
                  </a:lnTo>
                  <a:cubicBezTo>
                    <a:pt x="10182" y="0"/>
                    <a:pt x="10540" y="358"/>
                    <a:pt x="10540" y="800"/>
                  </a:cubicBezTo>
                  <a:lnTo>
                    <a:pt x="10540" y="24200"/>
                  </a:lnTo>
                  <a:cubicBezTo>
                    <a:pt x="10540" y="24642"/>
                    <a:pt x="10182" y="25000"/>
                    <a:pt x="9740" y="25000"/>
                  </a:cubicBezTo>
                  <a:lnTo>
                    <a:pt x="800" y="25000"/>
                  </a:lnTo>
                  <a:cubicBezTo>
                    <a:pt x="358" y="25000"/>
                    <a:pt x="0" y="24642"/>
                    <a:pt x="0" y="24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shared.sampler.weak/network block 2"/>
            <p:cNvSpPr/>
            <p:nvPr/>
          </p:nvSpPr>
          <p:spPr>
            <a:xfrm>
              <a:off x="4352671" y="1970087"/>
              <a:ext cx="133858" cy="238125"/>
            </a:xfrm>
            <a:custGeom>
              <a:avLst/>
              <a:gdLst/>
              <a:ahLst/>
              <a:cxnLst/>
              <a:rect l="0" t="0" r="r" b="b"/>
              <a:pathLst>
                <a:path w="10540" h="18750">
                  <a:moveTo>
                    <a:pt x="800" y="0"/>
                  </a:moveTo>
                  <a:lnTo>
                    <a:pt x="9740" y="0"/>
                  </a:lnTo>
                  <a:cubicBezTo>
                    <a:pt x="10182" y="0"/>
                    <a:pt x="10540" y="358"/>
                    <a:pt x="10540" y="800"/>
                  </a:cubicBezTo>
                  <a:lnTo>
                    <a:pt x="10540" y="17950"/>
                  </a:lnTo>
                  <a:cubicBezTo>
                    <a:pt x="10540" y="18392"/>
                    <a:pt x="10182" y="18750"/>
                    <a:pt x="9740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hared.sampler.weak/label"/>
            <p:cNvSpPr txBox="1"/>
            <p:nvPr/>
          </p:nvSpPr>
          <p:spPr>
            <a:xfrm>
              <a:off x="3589866" y="2438400"/>
              <a:ext cx="1265766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Weak W</a:t>
              </a:r>
              <a:r>
                <a:rPr sz="15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</a:p>
          </p:txBody>
        </p:sp>
        <p:sp>
          <p:nvSpPr>
            <p:cNvPr id="28" name="shared.sampler.weak/trainable/red"/>
            <p:cNvSpPr/>
            <p:nvPr/>
          </p:nvSpPr>
          <p:spPr>
            <a:xfrm>
              <a:off x="4676309" y="1820545"/>
              <a:ext cx="174878" cy="181356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hared.sampler.weak/trainable/gold"/>
            <p:cNvSpPr/>
            <p:nvPr/>
          </p:nvSpPr>
          <p:spPr>
            <a:xfrm>
              <a:off x="4728125" y="1904745"/>
              <a:ext cx="77724" cy="84201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shared.sampler.scale"/>
          <p:cNvGrpSpPr/>
          <p:nvPr/>
        </p:nvGrpSpPr>
        <p:grpSpPr>
          <a:xfrm>
            <a:off x="4982633" y="1778000"/>
            <a:ext cx="1341966" cy="990600"/>
            <a:chOff x="4982633" y="1778000"/>
            <a:chExt cx="1341966" cy="990600"/>
          </a:xfrm>
        </p:grpSpPr>
        <p:sp>
          <p:nvSpPr>
            <p:cNvPr id="31" name="shared.sampler.scale/box"/>
            <p:cNvSpPr/>
            <p:nvPr/>
          </p:nvSpPr>
          <p:spPr>
            <a:xfrm>
              <a:off x="4982633" y="1778000"/>
              <a:ext cx="1341966" cy="990600"/>
            </a:xfrm>
            <a:custGeom>
              <a:avLst/>
              <a:gdLst/>
              <a:ahLst/>
              <a:cxnLst/>
              <a:rect l="0" t="0" r="r" b="b"/>
              <a:pathLst>
                <a:path w="105667" h="78000">
                  <a:moveTo>
                    <a:pt x="4000" y="0"/>
                  </a:moveTo>
                  <a:lnTo>
                    <a:pt x="101667" y="0"/>
                  </a:lnTo>
                  <a:cubicBezTo>
                    <a:pt x="103876" y="0"/>
                    <a:pt x="105667" y="1791"/>
                    <a:pt x="105667" y="4000"/>
                  </a:cubicBezTo>
                  <a:lnTo>
                    <a:pt x="105667" y="74000"/>
                  </a:lnTo>
                  <a:cubicBezTo>
                    <a:pt x="105667" y="76209"/>
                    <a:pt x="103876" y="78000"/>
                    <a:pt x="101667" y="78000"/>
                  </a:cubicBezTo>
                  <a:lnTo>
                    <a:pt x="4000" y="78000"/>
                  </a:lnTo>
                  <a:cubicBezTo>
                    <a:pt x="1791" y="78000"/>
                    <a:pt x="0" y="76209"/>
                    <a:pt x="0" y="74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6E8D8"/>
            </a:solidFill>
            <a:ln w="10160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hared.sampler.scale/zero axis"/>
            <p:cNvSpPr/>
            <p:nvPr/>
          </p:nvSpPr>
          <p:spPr>
            <a:xfrm>
              <a:off x="5285316" y="2184400"/>
              <a:ext cx="736600" cy="127"/>
            </a:xfrm>
            <a:custGeom>
              <a:avLst/>
              <a:gdLst/>
              <a:ahLst/>
              <a:cxnLst/>
              <a:rect l="0" t="0" r="r" b="b"/>
              <a:pathLst>
                <a:path w="58000" h="10">
                  <a:moveTo>
                    <a:pt x="0" y="0"/>
                  </a:moveTo>
                  <a:lnTo>
                    <a:pt x="58000" y="0"/>
                  </a:lnTo>
                </a:path>
              </a:pathLst>
            </a:custGeom>
            <a:noFill/>
            <a:ln w="825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hared.sampler.scale/schedule"/>
            <p:cNvSpPr/>
            <p:nvPr/>
          </p:nvSpPr>
          <p:spPr>
            <a:xfrm>
              <a:off x="5298016" y="1981200"/>
              <a:ext cx="723900" cy="292100"/>
            </a:xfrm>
            <a:custGeom>
              <a:avLst/>
              <a:gdLst/>
              <a:ahLst/>
              <a:cxnLst/>
              <a:rect l="0" t="0" r="r" b="b"/>
              <a:pathLst>
                <a:path w="57000" h="23000">
                  <a:moveTo>
                    <a:pt x="0" y="12000"/>
                  </a:moveTo>
                  <a:lnTo>
                    <a:pt x="13000" y="12000"/>
                  </a:lnTo>
                  <a:lnTo>
                    <a:pt x="13000" y="0"/>
                  </a:lnTo>
                  <a:lnTo>
                    <a:pt x="26000" y="0"/>
                  </a:lnTo>
                  <a:lnTo>
                    <a:pt x="26000" y="9000"/>
                  </a:lnTo>
                  <a:lnTo>
                    <a:pt x="37000" y="9000"/>
                  </a:lnTo>
                  <a:lnTo>
                    <a:pt x="37000" y="23000"/>
                  </a:lnTo>
                  <a:lnTo>
                    <a:pt x="48000" y="23000"/>
                  </a:lnTo>
                  <a:lnTo>
                    <a:pt x="48000" y="9000"/>
                  </a:lnTo>
                  <a:lnTo>
                    <a:pt x="57000" y="9000"/>
                  </a:lnTo>
                </a:path>
              </a:pathLst>
            </a:custGeom>
            <a:noFill/>
            <a:ln w="1714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shared.sampler.scale/label"/>
            <p:cNvSpPr txBox="1"/>
            <p:nvPr/>
          </p:nvSpPr>
          <p:spPr>
            <a:xfrm>
              <a:off x="5020733" y="2438400"/>
              <a:ext cx="1265766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Scale a</a:t>
              </a:r>
              <a:r>
                <a:rPr sz="15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</a:p>
          </p:txBody>
        </p:sp>
        <p:sp>
          <p:nvSpPr>
            <p:cNvPr id="35" name="shared.sampler.scale/trainable/red"/>
            <p:cNvSpPr/>
            <p:nvPr/>
          </p:nvSpPr>
          <p:spPr>
            <a:xfrm>
              <a:off x="6107176" y="1820545"/>
              <a:ext cx="174878" cy="181356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hared.sampler.scale/trainable/gold"/>
            <p:cNvSpPr/>
            <p:nvPr/>
          </p:nvSpPr>
          <p:spPr>
            <a:xfrm>
              <a:off x="6158992" y="1904745"/>
              <a:ext cx="77724" cy="84201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shared.sampler"/>
          <p:cNvGrpSpPr/>
          <p:nvPr/>
        </p:nvGrpSpPr>
        <p:grpSpPr>
          <a:xfrm>
            <a:off x="2120900" y="2857500"/>
            <a:ext cx="4356099" cy="965200"/>
            <a:chOff x="2120900" y="2857500"/>
            <a:chExt cx="4356099" cy="965200"/>
          </a:xfrm>
        </p:grpSpPr>
        <p:sp>
          <p:nvSpPr>
            <p:cNvPr id="38" name="shared.sampler/guided field"/>
            <p:cNvSpPr txBox="1"/>
            <p:nvPr/>
          </p:nvSpPr>
          <p:spPr>
            <a:xfrm>
              <a:off x="2120900" y="2857500"/>
              <a:ext cx="4203700" cy="317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S + a</a:t>
              </a:r>
              <a:r>
                <a:rPr sz="17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  <a:r>
                <a:rPr sz="17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(t)(S − W</a:t>
              </a:r>
              <a:r>
                <a:rPr sz="17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  <a:r>
                <a:rPr sz="17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)</a:t>
              </a:r>
            </a:p>
          </p:txBody>
        </p:sp>
        <p:sp>
          <p:nvSpPr>
            <p:cNvPr id="39" name="shared.sampler/state 60.35"/>
            <p:cNvSpPr txBox="1"/>
            <p:nvPr/>
          </p:nvSpPr>
          <p:spPr>
            <a:xfrm>
              <a:off x="2506345" y="3543300"/>
              <a:ext cx="457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z</a:t>
              </a:r>
            </a:p>
          </p:txBody>
        </p:sp>
        <p:sp>
          <p:nvSpPr>
            <p:cNvPr id="40" name="shared.sampler/state 173.95"/>
            <p:cNvSpPr txBox="1"/>
            <p:nvPr/>
          </p:nvSpPr>
          <p:spPr>
            <a:xfrm>
              <a:off x="3949065" y="3543300"/>
              <a:ext cx="457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t</a:t>
              </a:r>
            </a:p>
          </p:txBody>
        </p:sp>
        <p:sp>
          <p:nvSpPr>
            <p:cNvPr id="41" name="shared.sampler/state 287.55"/>
            <p:cNvSpPr txBox="1"/>
            <p:nvPr/>
          </p:nvSpPr>
          <p:spPr>
            <a:xfrm>
              <a:off x="5391785" y="3543300"/>
              <a:ext cx="457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</a:p>
          </p:txBody>
        </p:sp>
        <p:sp>
          <p:nvSpPr>
            <p:cNvPr id="42" name="shared.sampler/trajectory first"/>
            <p:cNvSpPr/>
            <p:nvPr/>
          </p:nvSpPr>
          <p:spPr>
            <a:xfrm>
              <a:off x="3014345" y="3683000"/>
              <a:ext cx="845819" cy="127"/>
            </a:xfrm>
            <a:custGeom>
              <a:avLst/>
              <a:gdLst/>
              <a:ahLst/>
              <a:cxnLst/>
              <a:rect l="0" t="0" r="r" b="b"/>
              <a:pathLst>
                <a:path w="66600" h="10">
                  <a:moveTo>
                    <a:pt x="0" y="0"/>
                  </a:moveTo>
                  <a:lnTo>
                    <a:pt x="66600" y="0"/>
                  </a:lnTo>
                </a:path>
              </a:pathLst>
            </a:custGeom>
            <a:noFill/>
            <a:ln w="13970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shared.sampler/trajectory first head"/>
            <p:cNvSpPr/>
            <p:nvPr/>
          </p:nvSpPr>
          <p:spPr>
            <a:xfrm>
              <a:off x="3783965" y="36487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hared.sampler/trajectory second"/>
            <p:cNvSpPr/>
            <p:nvPr/>
          </p:nvSpPr>
          <p:spPr>
            <a:xfrm>
              <a:off x="4495165" y="3683000"/>
              <a:ext cx="807720" cy="127"/>
            </a:xfrm>
            <a:custGeom>
              <a:avLst/>
              <a:gdLst/>
              <a:ahLst/>
              <a:cxnLst/>
              <a:rect l="0" t="0" r="r" b="b"/>
              <a:pathLst>
                <a:path w="63600" h="10">
                  <a:moveTo>
                    <a:pt x="0" y="0"/>
                  </a:moveTo>
                  <a:lnTo>
                    <a:pt x="63600" y="0"/>
                  </a:lnTo>
                </a:path>
              </a:pathLst>
            </a:custGeom>
            <a:noFill/>
            <a:ln w="13970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hared.sampler/trajectory second head"/>
            <p:cNvSpPr/>
            <p:nvPr/>
          </p:nvSpPr>
          <p:spPr>
            <a:xfrm>
              <a:off x="5226685" y="36487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hared.sampler/trajectory output"/>
            <p:cNvSpPr/>
            <p:nvPr/>
          </p:nvSpPr>
          <p:spPr>
            <a:xfrm>
              <a:off x="5899785" y="3683000"/>
              <a:ext cx="577214" cy="127"/>
            </a:xfrm>
            <a:custGeom>
              <a:avLst/>
              <a:gdLst/>
              <a:ahLst/>
              <a:cxnLst/>
              <a:rect l="0" t="0" r="r" b="b"/>
              <a:pathLst>
                <a:path w="45450" h="10">
                  <a:moveTo>
                    <a:pt x="0" y="0"/>
                  </a:moveTo>
                  <a:lnTo>
                    <a:pt x="45450" y="0"/>
                  </a:lnTo>
                </a:path>
              </a:pathLst>
            </a:custGeom>
            <a:noFill/>
            <a:ln w="13970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" name="shared.noise"/>
          <p:cNvGrpSpPr/>
          <p:nvPr/>
        </p:nvGrpSpPr>
        <p:grpSpPr>
          <a:xfrm>
            <a:off x="533400" y="2184400"/>
            <a:ext cx="1435100" cy="762000"/>
            <a:chOff x="533400" y="2184400"/>
            <a:chExt cx="1435100" cy="762000"/>
          </a:xfrm>
        </p:grpSpPr>
        <p:sp>
          <p:nvSpPr>
            <p:cNvPr id="48" name="shared.noise/cell 0-0"/>
            <p:cNvSpPr/>
            <p:nvPr/>
          </p:nvSpPr>
          <p:spPr>
            <a:xfrm>
              <a:off x="622300" y="21844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shared.noise/cell 1-0"/>
            <p:cNvSpPr/>
            <p:nvPr/>
          </p:nvSpPr>
          <p:spPr>
            <a:xfrm>
              <a:off x="690033" y="21844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hared.noise/cell 2-0"/>
            <p:cNvSpPr/>
            <p:nvPr/>
          </p:nvSpPr>
          <p:spPr>
            <a:xfrm>
              <a:off x="757766" y="21844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hared.noise/cell 3-0"/>
            <p:cNvSpPr/>
            <p:nvPr/>
          </p:nvSpPr>
          <p:spPr>
            <a:xfrm>
              <a:off x="825500" y="21844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hared.noise/cell 4-0"/>
            <p:cNvSpPr/>
            <p:nvPr/>
          </p:nvSpPr>
          <p:spPr>
            <a:xfrm>
              <a:off x="893233" y="21844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shared.noise/cell 5-0"/>
            <p:cNvSpPr/>
            <p:nvPr/>
          </p:nvSpPr>
          <p:spPr>
            <a:xfrm>
              <a:off x="960966" y="21844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shared.noise/cell 6-0"/>
            <p:cNvSpPr/>
            <p:nvPr/>
          </p:nvSpPr>
          <p:spPr>
            <a:xfrm>
              <a:off x="1028700" y="21844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shared.noise/cell 7-0"/>
            <p:cNvSpPr/>
            <p:nvPr/>
          </p:nvSpPr>
          <p:spPr>
            <a:xfrm>
              <a:off x="1096433" y="21844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hared.noise/cell 8-0"/>
            <p:cNvSpPr/>
            <p:nvPr/>
          </p:nvSpPr>
          <p:spPr>
            <a:xfrm>
              <a:off x="1164166" y="21844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hared.noise/cell 0-1"/>
            <p:cNvSpPr/>
            <p:nvPr/>
          </p:nvSpPr>
          <p:spPr>
            <a:xfrm>
              <a:off x="622300" y="22563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hared.noise/cell 1-1"/>
            <p:cNvSpPr/>
            <p:nvPr/>
          </p:nvSpPr>
          <p:spPr>
            <a:xfrm>
              <a:off x="690033" y="22563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shared.noise/cell 2-1"/>
            <p:cNvSpPr/>
            <p:nvPr/>
          </p:nvSpPr>
          <p:spPr>
            <a:xfrm>
              <a:off x="757766" y="22563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shared.noise/cell 3-1"/>
            <p:cNvSpPr/>
            <p:nvPr/>
          </p:nvSpPr>
          <p:spPr>
            <a:xfrm>
              <a:off x="825500" y="22563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hared.noise/cell 4-1"/>
            <p:cNvSpPr/>
            <p:nvPr/>
          </p:nvSpPr>
          <p:spPr>
            <a:xfrm>
              <a:off x="893233" y="22563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hared.noise/cell 5-1"/>
            <p:cNvSpPr/>
            <p:nvPr/>
          </p:nvSpPr>
          <p:spPr>
            <a:xfrm>
              <a:off x="960966" y="22563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hared.noise/cell 6-1"/>
            <p:cNvSpPr/>
            <p:nvPr/>
          </p:nvSpPr>
          <p:spPr>
            <a:xfrm>
              <a:off x="1028700" y="22563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hared.noise/cell 7-1"/>
            <p:cNvSpPr/>
            <p:nvPr/>
          </p:nvSpPr>
          <p:spPr>
            <a:xfrm>
              <a:off x="1096433" y="22563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shared.noise/cell 8-1"/>
            <p:cNvSpPr/>
            <p:nvPr/>
          </p:nvSpPr>
          <p:spPr>
            <a:xfrm>
              <a:off x="1164166" y="22563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shared.noise/cell 0-2"/>
            <p:cNvSpPr/>
            <p:nvPr/>
          </p:nvSpPr>
          <p:spPr>
            <a:xfrm>
              <a:off x="622300" y="23283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hared.noise/cell 1-2"/>
            <p:cNvSpPr/>
            <p:nvPr/>
          </p:nvSpPr>
          <p:spPr>
            <a:xfrm>
              <a:off x="690033" y="23283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hared.noise/cell 2-2"/>
            <p:cNvSpPr/>
            <p:nvPr/>
          </p:nvSpPr>
          <p:spPr>
            <a:xfrm>
              <a:off x="757766" y="23283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hared.noise/cell 3-2"/>
            <p:cNvSpPr/>
            <p:nvPr/>
          </p:nvSpPr>
          <p:spPr>
            <a:xfrm>
              <a:off x="825500" y="23283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shared.noise/cell 4-2"/>
            <p:cNvSpPr/>
            <p:nvPr/>
          </p:nvSpPr>
          <p:spPr>
            <a:xfrm>
              <a:off x="893233" y="23283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shared.noise/cell 5-2"/>
            <p:cNvSpPr/>
            <p:nvPr/>
          </p:nvSpPr>
          <p:spPr>
            <a:xfrm>
              <a:off x="960966" y="23283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hared.noise/cell 6-2"/>
            <p:cNvSpPr/>
            <p:nvPr/>
          </p:nvSpPr>
          <p:spPr>
            <a:xfrm>
              <a:off x="1028700" y="23283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hared.noise/cell 7-2"/>
            <p:cNvSpPr/>
            <p:nvPr/>
          </p:nvSpPr>
          <p:spPr>
            <a:xfrm>
              <a:off x="1096433" y="23283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hared.noise/cell 8-2"/>
            <p:cNvSpPr/>
            <p:nvPr/>
          </p:nvSpPr>
          <p:spPr>
            <a:xfrm>
              <a:off x="1164166" y="23283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hared.noise/cell 0-3"/>
            <p:cNvSpPr/>
            <p:nvPr/>
          </p:nvSpPr>
          <p:spPr>
            <a:xfrm>
              <a:off x="622300" y="24003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shared.noise/cell 1-3"/>
            <p:cNvSpPr/>
            <p:nvPr/>
          </p:nvSpPr>
          <p:spPr>
            <a:xfrm>
              <a:off x="690033" y="24003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shared.noise/cell 2-3"/>
            <p:cNvSpPr/>
            <p:nvPr/>
          </p:nvSpPr>
          <p:spPr>
            <a:xfrm>
              <a:off x="757766" y="24003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hared.noise/cell 3-3"/>
            <p:cNvSpPr/>
            <p:nvPr/>
          </p:nvSpPr>
          <p:spPr>
            <a:xfrm>
              <a:off x="825500" y="24003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hared.noise/cell 4-3"/>
            <p:cNvSpPr/>
            <p:nvPr/>
          </p:nvSpPr>
          <p:spPr>
            <a:xfrm>
              <a:off x="893233" y="24003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94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hared.noise/cell 5-3"/>
            <p:cNvSpPr/>
            <p:nvPr/>
          </p:nvSpPr>
          <p:spPr>
            <a:xfrm>
              <a:off x="960966" y="24003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shared.noise/cell 6-3"/>
            <p:cNvSpPr/>
            <p:nvPr/>
          </p:nvSpPr>
          <p:spPr>
            <a:xfrm>
              <a:off x="1028700" y="24003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shared.noise/cell 7-3"/>
            <p:cNvSpPr/>
            <p:nvPr/>
          </p:nvSpPr>
          <p:spPr>
            <a:xfrm>
              <a:off x="1096433" y="24003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hared.noise/cell 8-3"/>
            <p:cNvSpPr/>
            <p:nvPr/>
          </p:nvSpPr>
          <p:spPr>
            <a:xfrm>
              <a:off x="1164166" y="2400300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hared.noise/cell 0-4"/>
            <p:cNvSpPr/>
            <p:nvPr/>
          </p:nvSpPr>
          <p:spPr>
            <a:xfrm>
              <a:off x="622300" y="24722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shared.noise/cell 1-4"/>
            <p:cNvSpPr/>
            <p:nvPr/>
          </p:nvSpPr>
          <p:spPr>
            <a:xfrm>
              <a:off x="690033" y="24722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shared.noise/cell 2-4"/>
            <p:cNvSpPr/>
            <p:nvPr/>
          </p:nvSpPr>
          <p:spPr>
            <a:xfrm>
              <a:off x="757766" y="24722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shared.noise/cell 3-4"/>
            <p:cNvSpPr/>
            <p:nvPr/>
          </p:nvSpPr>
          <p:spPr>
            <a:xfrm>
              <a:off x="825500" y="24722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shared.noise/cell 4-4"/>
            <p:cNvSpPr/>
            <p:nvPr/>
          </p:nvSpPr>
          <p:spPr>
            <a:xfrm>
              <a:off x="893233" y="24722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hared.noise/cell 5-4"/>
            <p:cNvSpPr/>
            <p:nvPr/>
          </p:nvSpPr>
          <p:spPr>
            <a:xfrm>
              <a:off x="960966" y="24722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hared.noise/cell 6-4"/>
            <p:cNvSpPr/>
            <p:nvPr/>
          </p:nvSpPr>
          <p:spPr>
            <a:xfrm>
              <a:off x="1028700" y="24722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shared.noise/cell 7-4"/>
            <p:cNvSpPr/>
            <p:nvPr/>
          </p:nvSpPr>
          <p:spPr>
            <a:xfrm>
              <a:off x="1096433" y="24722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shared.noise/cell 8-4"/>
            <p:cNvSpPr/>
            <p:nvPr/>
          </p:nvSpPr>
          <p:spPr>
            <a:xfrm>
              <a:off x="1164166" y="2472266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3C3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shared.noise/cell 0-5"/>
            <p:cNvSpPr/>
            <p:nvPr/>
          </p:nvSpPr>
          <p:spPr>
            <a:xfrm>
              <a:off x="622300" y="25442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shared.noise/cell 1-5"/>
            <p:cNvSpPr/>
            <p:nvPr/>
          </p:nvSpPr>
          <p:spPr>
            <a:xfrm>
              <a:off x="690033" y="25442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hared.noise/cell 2-5"/>
            <p:cNvSpPr/>
            <p:nvPr/>
          </p:nvSpPr>
          <p:spPr>
            <a:xfrm>
              <a:off x="757766" y="25442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hared.noise/cell 3-5"/>
            <p:cNvSpPr/>
            <p:nvPr/>
          </p:nvSpPr>
          <p:spPr>
            <a:xfrm>
              <a:off x="825500" y="25442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9B9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shared.noise/cell 4-5"/>
            <p:cNvSpPr/>
            <p:nvPr/>
          </p:nvSpPr>
          <p:spPr>
            <a:xfrm>
              <a:off x="893233" y="25442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shared.noise/cell 5-5"/>
            <p:cNvSpPr/>
            <p:nvPr/>
          </p:nvSpPr>
          <p:spPr>
            <a:xfrm>
              <a:off x="960966" y="25442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hared.noise/cell 6-5"/>
            <p:cNvSpPr/>
            <p:nvPr/>
          </p:nvSpPr>
          <p:spPr>
            <a:xfrm>
              <a:off x="1028700" y="25442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hared.noise/cell 7-5"/>
            <p:cNvSpPr/>
            <p:nvPr/>
          </p:nvSpPr>
          <p:spPr>
            <a:xfrm>
              <a:off x="1096433" y="25442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hared.noise/cell 8-5"/>
            <p:cNvSpPr/>
            <p:nvPr/>
          </p:nvSpPr>
          <p:spPr>
            <a:xfrm>
              <a:off x="1164166" y="2544233"/>
              <a:ext cx="68114" cy="72347"/>
            </a:xfrm>
            <a:custGeom>
              <a:avLst/>
              <a:gdLst/>
              <a:ahLst/>
              <a:cxnLst/>
              <a:rect l="0" t="0" r="r" b="b"/>
              <a:pathLst>
                <a:path w="5363" h="5697">
                  <a:moveTo>
                    <a:pt x="0" y="0"/>
                  </a:moveTo>
                  <a:lnTo>
                    <a:pt x="5363" y="0"/>
                  </a:lnTo>
                  <a:cubicBezTo>
                    <a:pt x="5363" y="0"/>
                    <a:pt x="5363" y="0"/>
                    <a:pt x="5363" y="0"/>
                  </a:cubicBezTo>
                  <a:lnTo>
                    <a:pt x="5363" y="5697"/>
                  </a:lnTo>
                  <a:cubicBezTo>
                    <a:pt x="5363" y="5697"/>
                    <a:pt x="5363" y="5697"/>
                    <a:pt x="5363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hared.noise/frame"/>
            <p:cNvSpPr/>
            <p:nvPr/>
          </p:nvSpPr>
          <p:spPr>
            <a:xfrm>
              <a:off x="622300" y="2184400"/>
              <a:ext cx="609600" cy="431800"/>
            </a:xfrm>
            <a:custGeom>
              <a:avLst/>
              <a:gdLst/>
              <a:ahLst/>
              <a:cxnLst/>
              <a:rect l="0" t="0" r="r" b="b"/>
              <a:pathLst>
                <a:path w="48000" h="34000">
                  <a:moveTo>
                    <a:pt x="1000" y="0"/>
                  </a:moveTo>
                  <a:lnTo>
                    <a:pt x="47000" y="0"/>
                  </a:lnTo>
                  <a:cubicBezTo>
                    <a:pt x="47552" y="0"/>
                    <a:pt x="48000" y="448"/>
                    <a:pt x="48000" y="1000"/>
                  </a:cubicBezTo>
                  <a:lnTo>
                    <a:pt x="48000" y="33000"/>
                  </a:lnTo>
                  <a:cubicBezTo>
                    <a:pt x="48000" y="33552"/>
                    <a:pt x="47552" y="34000"/>
                    <a:pt x="47000" y="34000"/>
                  </a:cubicBezTo>
                  <a:lnTo>
                    <a:pt x="1000" y="34000"/>
                  </a:lnTo>
                  <a:cubicBezTo>
                    <a:pt x="448" y="34000"/>
                    <a:pt x="0" y="33552"/>
                    <a:pt x="0" y="33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noFill/>
            <a:ln w="825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hared.noise/label"/>
            <p:cNvSpPr txBox="1"/>
            <p:nvPr/>
          </p:nvSpPr>
          <p:spPr>
            <a:xfrm>
              <a:off x="533400" y="2679700"/>
              <a:ext cx="7874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Noise z</a:t>
              </a:r>
            </a:p>
          </p:txBody>
        </p:sp>
        <p:sp>
          <p:nvSpPr>
            <p:cNvPr id="104" name="shared.noise/edge"/>
            <p:cNvSpPr/>
            <p:nvPr/>
          </p:nvSpPr>
          <p:spPr>
            <a:xfrm>
              <a:off x="1308100" y="2400300"/>
              <a:ext cx="660400" cy="127"/>
            </a:xfrm>
            <a:custGeom>
              <a:avLst/>
              <a:gdLst/>
              <a:ahLst/>
              <a:cxnLst/>
              <a:rect l="0" t="0" r="r" b="b"/>
              <a:pathLst>
                <a:path w="52000" h="10">
                  <a:moveTo>
                    <a:pt x="0" y="0"/>
                  </a:moveTo>
                  <a:lnTo>
                    <a:pt x="52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shared.noise/edge head"/>
            <p:cNvSpPr/>
            <p:nvPr/>
          </p:nvSpPr>
          <p:spPr>
            <a:xfrm>
              <a:off x="1892300" y="23660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shared.class"/>
          <p:cNvGrpSpPr/>
          <p:nvPr/>
        </p:nvGrpSpPr>
        <p:grpSpPr>
          <a:xfrm>
            <a:off x="584200" y="3340100"/>
            <a:ext cx="1384300" cy="279400"/>
            <a:chOff x="584200" y="3340100"/>
            <a:chExt cx="1384300" cy="279400"/>
          </a:xfrm>
        </p:grpSpPr>
        <p:sp>
          <p:nvSpPr>
            <p:cNvPr id="107" name="shared.class/label"/>
            <p:cNvSpPr txBox="1"/>
            <p:nvPr/>
          </p:nvSpPr>
          <p:spPr>
            <a:xfrm>
              <a:off x="584200" y="3340100"/>
              <a:ext cx="10033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Class c</a:t>
              </a:r>
            </a:p>
          </p:txBody>
        </p:sp>
        <p:sp>
          <p:nvSpPr>
            <p:cNvPr id="108" name="shared.class/edge"/>
            <p:cNvSpPr/>
            <p:nvPr/>
          </p:nvSpPr>
          <p:spPr>
            <a:xfrm>
              <a:off x="1524000" y="3479800"/>
              <a:ext cx="444500" cy="127"/>
            </a:xfrm>
            <a:custGeom>
              <a:avLst/>
              <a:gdLst/>
              <a:ahLst/>
              <a:cxnLst/>
              <a:rect l="0" t="0" r="r" b="b"/>
              <a:pathLst>
                <a:path w="35000" h="10">
                  <a:moveTo>
                    <a:pt x="0" y="0"/>
                  </a:moveTo>
                  <a:lnTo>
                    <a:pt x="35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hared.class/edge head"/>
            <p:cNvSpPr/>
            <p:nvPr/>
          </p:nvSpPr>
          <p:spPr>
            <a:xfrm>
              <a:off x="1892300" y="34455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shared.decode"/>
          <p:cNvGrpSpPr/>
          <p:nvPr/>
        </p:nvGrpSpPr>
        <p:grpSpPr>
          <a:xfrm>
            <a:off x="6908800" y="3341510"/>
            <a:ext cx="1333500" cy="658990"/>
            <a:chOff x="6908800" y="3341510"/>
            <a:chExt cx="1333500" cy="658990"/>
          </a:xfrm>
        </p:grpSpPr>
        <p:sp>
          <p:nvSpPr>
            <p:cNvPr id="111" name="shared.decode/box"/>
            <p:cNvSpPr/>
            <p:nvPr/>
          </p:nvSpPr>
          <p:spPr>
            <a:xfrm>
              <a:off x="6908800" y="3365500"/>
              <a:ext cx="1333500" cy="635000"/>
            </a:xfrm>
            <a:custGeom>
              <a:avLst/>
              <a:gdLst/>
              <a:ahLst/>
              <a:cxnLst/>
              <a:rect l="0" t="0" r="r" b="b"/>
              <a:pathLst>
                <a:path w="105000" h="50000">
                  <a:moveTo>
                    <a:pt x="4000" y="0"/>
                  </a:moveTo>
                  <a:lnTo>
                    <a:pt x="101000" y="0"/>
                  </a:lnTo>
                  <a:cubicBezTo>
                    <a:pt x="103209" y="0"/>
                    <a:pt x="105000" y="1791"/>
                    <a:pt x="105000" y="4000"/>
                  </a:cubicBezTo>
                  <a:lnTo>
                    <a:pt x="105000" y="46000"/>
                  </a:lnTo>
                  <a:cubicBezTo>
                    <a:pt x="105000" y="48209"/>
                    <a:pt x="103209" y="50000"/>
                    <a:pt x="101000" y="50000"/>
                  </a:cubicBezTo>
                  <a:lnTo>
                    <a:pt x="4000" y="50000"/>
                  </a:lnTo>
                  <a:cubicBezTo>
                    <a:pt x="1791" y="50000"/>
                    <a:pt x="0" y="48209"/>
                    <a:pt x="0" y="46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shared.decode/label"/>
            <p:cNvSpPr txBox="1"/>
            <p:nvPr/>
          </p:nvSpPr>
          <p:spPr>
            <a:xfrm>
              <a:off x="6997700" y="3416300"/>
              <a:ext cx="111760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VAE decode</a:t>
              </a:r>
            </a:p>
          </p:txBody>
        </p:sp>
        <p:sp>
          <p:nvSpPr>
            <p:cNvPr id="113" name="shared.decode/frozen/white outline"/>
            <p:cNvSpPr/>
            <p:nvPr/>
          </p:nvSpPr>
          <p:spPr>
            <a:xfrm>
              <a:off x="8054340" y="33415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hared.decode/frozen/blue crystal"/>
            <p:cNvSpPr/>
            <p:nvPr/>
          </p:nvSpPr>
          <p:spPr>
            <a:xfrm>
              <a:off x="8054340" y="33415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" name="shared.fake"/>
          <p:cNvGrpSpPr/>
          <p:nvPr/>
        </p:nvGrpSpPr>
        <p:grpSpPr>
          <a:xfrm>
            <a:off x="8648700" y="3441700"/>
            <a:ext cx="1257300" cy="482600"/>
            <a:chOff x="8648700" y="3441700"/>
            <a:chExt cx="1257300" cy="482600"/>
          </a:xfrm>
        </p:grpSpPr>
        <p:sp>
          <p:nvSpPr>
            <p:cNvPr id="116" name="shared.fake/box"/>
            <p:cNvSpPr/>
            <p:nvPr/>
          </p:nvSpPr>
          <p:spPr>
            <a:xfrm>
              <a:off x="8648700" y="3441700"/>
              <a:ext cx="1257300" cy="482600"/>
            </a:xfrm>
            <a:custGeom>
              <a:avLst/>
              <a:gdLst/>
              <a:ahLst/>
              <a:cxnLst/>
              <a:rect l="0" t="0" r="r" b="b"/>
              <a:pathLst>
                <a:path w="99000" h="38000">
                  <a:moveTo>
                    <a:pt x="3000" y="0"/>
                  </a:moveTo>
                  <a:lnTo>
                    <a:pt x="96000" y="0"/>
                  </a:lnTo>
                  <a:cubicBezTo>
                    <a:pt x="97657" y="0"/>
                    <a:pt x="99000" y="1343"/>
                    <a:pt x="99000" y="3000"/>
                  </a:cubicBezTo>
                  <a:lnTo>
                    <a:pt x="99000" y="35000"/>
                  </a:lnTo>
                  <a:cubicBezTo>
                    <a:pt x="99000" y="36657"/>
                    <a:pt x="97657" y="38000"/>
                    <a:pt x="96000" y="38000"/>
                  </a:cubicBezTo>
                  <a:lnTo>
                    <a:pt x="3000" y="38000"/>
                  </a:lnTo>
                  <a:cubicBezTo>
                    <a:pt x="1343" y="38000"/>
                    <a:pt x="0" y="36657"/>
                    <a:pt x="0" y="35000"/>
                  </a:cubicBezTo>
                  <a:lnTo>
                    <a:pt x="0" y="3000"/>
                  </a:lnTo>
                  <a:cubicBezTo>
                    <a:pt x="0" y="1343"/>
                    <a:pt x="1343" y="0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 w="1079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shared.fake/accent"/>
            <p:cNvSpPr/>
            <p:nvPr/>
          </p:nvSpPr>
          <p:spPr>
            <a:xfrm>
              <a:off x="8648700" y="3441700"/>
              <a:ext cx="31750" cy="482600"/>
            </a:xfrm>
            <a:custGeom>
              <a:avLst/>
              <a:gdLst/>
              <a:ahLst/>
              <a:cxnLst/>
              <a:rect l="0" t="0" r="r" b="b"/>
              <a:pathLst>
                <a:path w="2500" h="38000">
                  <a:moveTo>
                    <a:pt x="0" y="0"/>
                  </a:moveTo>
                  <a:lnTo>
                    <a:pt x="2500" y="0"/>
                  </a:lnTo>
                  <a:cubicBezTo>
                    <a:pt x="2500" y="0"/>
                    <a:pt x="2500" y="0"/>
                    <a:pt x="2500" y="0"/>
                  </a:cubicBezTo>
                  <a:lnTo>
                    <a:pt x="2500" y="38000"/>
                  </a:lnTo>
                  <a:cubicBezTo>
                    <a:pt x="2500" y="38000"/>
                    <a:pt x="2500" y="38000"/>
                    <a:pt x="2500" y="38000"/>
                  </a:cubicBezTo>
                  <a:lnTo>
                    <a:pt x="0" y="38000"/>
                  </a:lnTo>
                  <a:cubicBezTo>
                    <a:pt x="0" y="38000"/>
                    <a:pt x="0" y="38000"/>
                    <a:pt x="0" y="3800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68D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shared.fake/label"/>
            <p:cNvSpPr txBox="1"/>
            <p:nvPr/>
          </p:nvSpPr>
          <p:spPr>
            <a:xfrm>
              <a:off x="8724900" y="3479800"/>
              <a:ext cx="1104900" cy="406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Fake 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</a:p>
          </p:txBody>
        </p:sp>
      </p:grpSp>
      <p:grpSp>
        <p:nvGrpSpPr>
          <p:cNvPr id="119" name="shared.features"/>
          <p:cNvGrpSpPr/>
          <p:nvPr/>
        </p:nvGrpSpPr>
        <p:grpSpPr>
          <a:xfrm>
            <a:off x="10299700" y="3278010"/>
            <a:ext cx="1993900" cy="785990"/>
            <a:chOff x="10299700" y="3278010"/>
            <a:chExt cx="1993900" cy="785990"/>
          </a:xfrm>
        </p:grpSpPr>
        <p:sp>
          <p:nvSpPr>
            <p:cNvPr id="120" name="shared.features/box"/>
            <p:cNvSpPr/>
            <p:nvPr/>
          </p:nvSpPr>
          <p:spPr>
            <a:xfrm>
              <a:off x="10299700" y="3302000"/>
              <a:ext cx="1993900" cy="762000"/>
            </a:xfrm>
            <a:custGeom>
              <a:avLst/>
              <a:gdLst/>
              <a:ahLst/>
              <a:cxnLst/>
              <a:rect l="0" t="0" r="r" b="b"/>
              <a:pathLst>
                <a:path w="157000" h="60000">
                  <a:moveTo>
                    <a:pt x="4000" y="0"/>
                  </a:moveTo>
                  <a:lnTo>
                    <a:pt x="153000" y="0"/>
                  </a:lnTo>
                  <a:cubicBezTo>
                    <a:pt x="155209" y="0"/>
                    <a:pt x="157000" y="1791"/>
                    <a:pt x="157000" y="4000"/>
                  </a:cubicBezTo>
                  <a:lnTo>
                    <a:pt x="157000" y="56000"/>
                  </a:lnTo>
                  <a:cubicBezTo>
                    <a:pt x="157000" y="58209"/>
                    <a:pt x="155209" y="60000"/>
                    <a:pt x="153000" y="60000"/>
                  </a:cubicBezTo>
                  <a:lnTo>
                    <a:pt x="4000" y="60000"/>
                  </a:lnTo>
                  <a:cubicBezTo>
                    <a:pt x="1791" y="60000"/>
                    <a:pt x="0" y="58209"/>
                    <a:pt x="0" y="56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shared.features/plane 0"/>
            <p:cNvSpPr/>
            <p:nvPr/>
          </p:nvSpPr>
          <p:spPr>
            <a:xfrm>
              <a:off x="10452100" y="3492500"/>
              <a:ext cx="215900" cy="279400"/>
            </a:xfrm>
            <a:custGeom>
              <a:avLst/>
              <a:gdLst/>
              <a:ahLst/>
              <a:cxnLst/>
              <a:rect l="0" t="0" r="r" b="b"/>
              <a:pathLst>
                <a:path w="17000" h="22000">
                  <a:moveTo>
                    <a:pt x="1000" y="0"/>
                  </a:moveTo>
                  <a:lnTo>
                    <a:pt x="16000" y="0"/>
                  </a:lnTo>
                  <a:cubicBezTo>
                    <a:pt x="16552" y="0"/>
                    <a:pt x="17000" y="448"/>
                    <a:pt x="17000" y="1000"/>
                  </a:cubicBezTo>
                  <a:lnTo>
                    <a:pt x="17000" y="21000"/>
                  </a:lnTo>
                  <a:cubicBezTo>
                    <a:pt x="17000" y="21552"/>
                    <a:pt x="16552" y="22000"/>
                    <a:pt x="16000" y="22000"/>
                  </a:cubicBezTo>
                  <a:lnTo>
                    <a:pt x="1000" y="22000"/>
                  </a:lnTo>
                  <a:cubicBezTo>
                    <a:pt x="448" y="22000"/>
                    <a:pt x="0" y="21552"/>
                    <a:pt x="0" y="21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solidFill>
              <a:srgbClr val="F5F8FA"/>
            </a:solidFill>
            <a:ln w="889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shared.features/plane 1"/>
            <p:cNvSpPr/>
            <p:nvPr/>
          </p:nvSpPr>
          <p:spPr>
            <a:xfrm>
              <a:off x="10502900" y="3543300"/>
              <a:ext cx="215900" cy="279400"/>
            </a:xfrm>
            <a:custGeom>
              <a:avLst/>
              <a:gdLst/>
              <a:ahLst/>
              <a:cxnLst/>
              <a:rect l="0" t="0" r="r" b="b"/>
              <a:pathLst>
                <a:path w="17000" h="22000">
                  <a:moveTo>
                    <a:pt x="1000" y="0"/>
                  </a:moveTo>
                  <a:lnTo>
                    <a:pt x="16000" y="0"/>
                  </a:lnTo>
                  <a:cubicBezTo>
                    <a:pt x="16552" y="0"/>
                    <a:pt x="17000" y="448"/>
                    <a:pt x="17000" y="1000"/>
                  </a:cubicBezTo>
                  <a:lnTo>
                    <a:pt x="17000" y="21000"/>
                  </a:lnTo>
                  <a:cubicBezTo>
                    <a:pt x="17000" y="21552"/>
                    <a:pt x="16552" y="22000"/>
                    <a:pt x="16000" y="22000"/>
                  </a:cubicBezTo>
                  <a:lnTo>
                    <a:pt x="1000" y="22000"/>
                  </a:lnTo>
                  <a:cubicBezTo>
                    <a:pt x="448" y="22000"/>
                    <a:pt x="0" y="21552"/>
                    <a:pt x="0" y="21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solidFill>
              <a:srgbClr val="D8E4EE"/>
            </a:solidFill>
            <a:ln w="889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shared.features/plane 2"/>
            <p:cNvSpPr/>
            <p:nvPr/>
          </p:nvSpPr>
          <p:spPr>
            <a:xfrm>
              <a:off x="10553700" y="3594100"/>
              <a:ext cx="215900" cy="279400"/>
            </a:xfrm>
            <a:custGeom>
              <a:avLst/>
              <a:gdLst/>
              <a:ahLst/>
              <a:cxnLst/>
              <a:rect l="0" t="0" r="r" b="b"/>
              <a:pathLst>
                <a:path w="17000" h="22000">
                  <a:moveTo>
                    <a:pt x="1000" y="0"/>
                  </a:moveTo>
                  <a:lnTo>
                    <a:pt x="16000" y="0"/>
                  </a:lnTo>
                  <a:cubicBezTo>
                    <a:pt x="16552" y="0"/>
                    <a:pt x="17000" y="448"/>
                    <a:pt x="17000" y="1000"/>
                  </a:cubicBezTo>
                  <a:lnTo>
                    <a:pt x="17000" y="21000"/>
                  </a:lnTo>
                  <a:cubicBezTo>
                    <a:pt x="17000" y="21552"/>
                    <a:pt x="16552" y="22000"/>
                    <a:pt x="16000" y="22000"/>
                  </a:cubicBezTo>
                  <a:lnTo>
                    <a:pt x="1000" y="22000"/>
                  </a:lnTo>
                  <a:cubicBezTo>
                    <a:pt x="448" y="22000"/>
                    <a:pt x="0" y="21552"/>
                    <a:pt x="0" y="21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solidFill>
              <a:srgbClr val="FFFFFF"/>
            </a:solidFill>
            <a:ln w="889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shared.features/label"/>
            <p:cNvSpPr txBox="1"/>
            <p:nvPr/>
          </p:nvSpPr>
          <p:spPr>
            <a:xfrm>
              <a:off x="10871200" y="3352800"/>
              <a:ext cx="1295400" cy="660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Inception φ</a:t>
              </a:r>
            </a:p>
          </p:txBody>
        </p:sp>
        <p:sp>
          <p:nvSpPr>
            <p:cNvPr id="125" name="shared.features/frozen/white outline"/>
            <p:cNvSpPr/>
            <p:nvPr/>
          </p:nvSpPr>
          <p:spPr>
            <a:xfrm>
              <a:off x="12105640" y="32780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shared.features/frozen/blue crystal"/>
            <p:cNvSpPr/>
            <p:nvPr/>
          </p:nvSpPr>
          <p:spPr>
            <a:xfrm>
              <a:off x="12105640" y="32780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shared.critic"/>
          <p:cNvGrpSpPr/>
          <p:nvPr/>
        </p:nvGrpSpPr>
        <p:grpSpPr>
          <a:xfrm>
            <a:off x="12687300" y="3255645"/>
            <a:ext cx="1765300" cy="808355"/>
            <a:chOff x="12687300" y="3255645"/>
            <a:chExt cx="1765300" cy="808355"/>
          </a:xfrm>
        </p:grpSpPr>
        <p:sp>
          <p:nvSpPr>
            <p:cNvPr id="128" name="shared.critic/box"/>
            <p:cNvSpPr/>
            <p:nvPr/>
          </p:nvSpPr>
          <p:spPr>
            <a:xfrm>
              <a:off x="12687300" y="3302000"/>
              <a:ext cx="1765300" cy="762000"/>
            </a:xfrm>
            <a:custGeom>
              <a:avLst/>
              <a:gdLst/>
              <a:ahLst/>
              <a:cxnLst/>
              <a:rect l="0" t="0" r="r" b="b"/>
              <a:pathLst>
                <a:path w="139000" h="60000">
                  <a:moveTo>
                    <a:pt x="4000" y="0"/>
                  </a:moveTo>
                  <a:lnTo>
                    <a:pt x="135000" y="0"/>
                  </a:lnTo>
                  <a:cubicBezTo>
                    <a:pt x="137209" y="0"/>
                    <a:pt x="139000" y="1791"/>
                    <a:pt x="139000" y="4000"/>
                  </a:cubicBezTo>
                  <a:lnTo>
                    <a:pt x="139000" y="56000"/>
                  </a:lnTo>
                  <a:cubicBezTo>
                    <a:pt x="139000" y="58209"/>
                    <a:pt x="137209" y="60000"/>
                    <a:pt x="135000" y="60000"/>
                  </a:cubicBezTo>
                  <a:lnTo>
                    <a:pt x="4000" y="60000"/>
                  </a:lnTo>
                  <a:cubicBezTo>
                    <a:pt x="1791" y="60000"/>
                    <a:pt x="0" y="58209"/>
                    <a:pt x="0" y="56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6E8D8"/>
            </a:solidFill>
            <a:ln w="10160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shared.critic/network spine"/>
            <p:cNvSpPr/>
            <p:nvPr/>
          </p:nvSpPr>
          <p:spPr>
            <a:xfrm>
              <a:off x="12827000" y="3683000"/>
              <a:ext cx="431800" cy="127"/>
            </a:xfrm>
            <a:custGeom>
              <a:avLst/>
              <a:gdLst/>
              <a:ahLst/>
              <a:cxnLst/>
              <a:rect l="0" t="0" r="r" b="b"/>
              <a:pathLst>
                <a:path w="34000" h="10">
                  <a:moveTo>
                    <a:pt x="0" y="0"/>
                  </a:moveTo>
                  <a:lnTo>
                    <a:pt x="34000" y="0"/>
                  </a:lnTo>
                </a:path>
              </a:pathLst>
            </a:custGeom>
            <a:noFill/>
            <a:ln w="10795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shared.critic/network block 0"/>
            <p:cNvSpPr/>
            <p:nvPr/>
          </p:nvSpPr>
          <p:spPr>
            <a:xfrm>
              <a:off x="12898247" y="3568700"/>
              <a:ext cx="73405" cy="228600"/>
            </a:xfrm>
            <a:custGeom>
              <a:avLst/>
              <a:gdLst/>
              <a:ahLst/>
              <a:cxnLst/>
              <a:rect l="0" t="0" r="r" b="b"/>
              <a:pathLst>
                <a:path w="5780" h="18000">
                  <a:moveTo>
                    <a:pt x="800" y="0"/>
                  </a:moveTo>
                  <a:lnTo>
                    <a:pt x="4980" y="0"/>
                  </a:lnTo>
                  <a:cubicBezTo>
                    <a:pt x="5422" y="0"/>
                    <a:pt x="5780" y="358"/>
                    <a:pt x="5780" y="800"/>
                  </a:cubicBezTo>
                  <a:lnTo>
                    <a:pt x="5780" y="17200"/>
                  </a:lnTo>
                  <a:cubicBezTo>
                    <a:pt x="5780" y="17642"/>
                    <a:pt x="5422" y="18000"/>
                    <a:pt x="4980" y="18000"/>
                  </a:cubicBezTo>
                  <a:lnTo>
                    <a:pt x="800" y="18000"/>
                  </a:lnTo>
                  <a:cubicBezTo>
                    <a:pt x="358" y="18000"/>
                    <a:pt x="0" y="17642"/>
                    <a:pt x="0" y="17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shared.critic/network block 1"/>
            <p:cNvSpPr/>
            <p:nvPr/>
          </p:nvSpPr>
          <p:spPr>
            <a:xfrm>
              <a:off x="13006196" y="3530600"/>
              <a:ext cx="73405" cy="304800"/>
            </a:xfrm>
            <a:custGeom>
              <a:avLst/>
              <a:gdLst/>
              <a:ahLst/>
              <a:cxnLst/>
              <a:rect l="0" t="0" r="r" b="b"/>
              <a:pathLst>
                <a:path w="5780" h="24000">
                  <a:moveTo>
                    <a:pt x="800" y="0"/>
                  </a:moveTo>
                  <a:lnTo>
                    <a:pt x="4980" y="0"/>
                  </a:lnTo>
                  <a:cubicBezTo>
                    <a:pt x="5422" y="0"/>
                    <a:pt x="5780" y="358"/>
                    <a:pt x="5780" y="800"/>
                  </a:cubicBezTo>
                  <a:lnTo>
                    <a:pt x="5780" y="23200"/>
                  </a:lnTo>
                  <a:cubicBezTo>
                    <a:pt x="5780" y="23642"/>
                    <a:pt x="5422" y="24000"/>
                    <a:pt x="4980" y="24000"/>
                  </a:cubicBezTo>
                  <a:lnTo>
                    <a:pt x="800" y="24000"/>
                  </a:lnTo>
                  <a:cubicBezTo>
                    <a:pt x="358" y="24000"/>
                    <a:pt x="0" y="23642"/>
                    <a:pt x="0" y="23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shared.critic/network block 2"/>
            <p:cNvSpPr/>
            <p:nvPr/>
          </p:nvSpPr>
          <p:spPr>
            <a:xfrm>
              <a:off x="13114146" y="3568700"/>
              <a:ext cx="73405" cy="228600"/>
            </a:xfrm>
            <a:custGeom>
              <a:avLst/>
              <a:gdLst/>
              <a:ahLst/>
              <a:cxnLst/>
              <a:rect l="0" t="0" r="r" b="b"/>
              <a:pathLst>
                <a:path w="5780" h="18000">
                  <a:moveTo>
                    <a:pt x="800" y="0"/>
                  </a:moveTo>
                  <a:lnTo>
                    <a:pt x="4980" y="0"/>
                  </a:lnTo>
                  <a:cubicBezTo>
                    <a:pt x="5422" y="0"/>
                    <a:pt x="5780" y="358"/>
                    <a:pt x="5780" y="800"/>
                  </a:cubicBezTo>
                  <a:lnTo>
                    <a:pt x="5780" y="17200"/>
                  </a:lnTo>
                  <a:cubicBezTo>
                    <a:pt x="5780" y="17642"/>
                    <a:pt x="5422" y="18000"/>
                    <a:pt x="4980" y="18000"/>
                  </a:cubicBezTo>
                  <a:lnTo>
                    <a:pt x="800" y="18000"/>
                  </a:lnTo>
                  <a:cubicBezTo>
                    <a:pt x="358" y="18000"/>
                    <a:pt x="0" y="17642"/>
                    <a:pt x="0" y="17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shared.critic/label"/>
            <p:cNvSpPr txBox="1"/>
            <p:nvPr/>
          </p:nvSpPr>
          <p:spPr>
            <a:xfrm>
              <a:off x="13296900" y="3352800"/>
              <a:ext cx="1028700" cy="660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D</a:t>
              </a:r>
              <a:r>
                <a:rPr sz="16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</a:p>
          </p:txBody>
        </p:sp>
        <p:sp>
          <p:nvSpPr>
            <p:cNvPr id="134" name="shared.critic/trainable/red"/>
            <p:cNvSpPr/>
            <p:nvPr/>
          </p:nvSpPr>
          <p:spPr>
            <a:xfrm>
              <a:off x="14273276" y="3255645"/>
              <a:ext cx="174878" cy="181355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shared.critic/trainable/gold"/>
            <p:cNvSpPr/>
            <p:nvPr/>
          </p:nvSpPr>
          <p:spPr>
            <a:xfrm>
              <a:off x="14325092" y="3339846"/>
              <a:ext cx="77723" cy="84200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6" name="shared.forward"/>
          <p:cNvGrpSpPr/>
          <p:nvPr/>
        </p:nvGrpSpPr>
        <p:grpSpPr>
          <a:xfrm>
            <a:off x="6477000" y="3648710"/>
            <a:ext cx="6210300" cy="68579"/>
            <a:chOff x="6477000" y="3648710"/>
            <a:chExt cx="6210300" cy="68579"/>
          </a:xfrm>
        </p:grpSpPr>
        <p:sp>
          <p:nvSpPr>
            <p:cNvPr id="137" name="shared.forward/510"/>
            <p:cNvSpPr/>
            <p:nvPr/>
          </p:nvSpPr>
          <p:spPr>
            <a:xfrm>
              <a:off x="6477000" y="3683000"/>
              <a:ext cx="431800" cy="127"/>
            </a:xfrm>
            <a:custGeom>
              <a:avLst/>
              <a:gdLst/>
              <a:ahLst/>
              <a:cxnLst/>
              <a:rect l="0" t="0" r="r" b="b"/>
              <a:pathLst>
                <a:path w="34000" h="10">
                  <a:moveTo>
                    <a:pt x="0" y="0"/>
                  </a:moveTo>
                  <a:lnTo>
                    <a:pt x="34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shared.forward/510 head"/>
            <p:cNvSpPr/>
            <p:nvPr/>
          </p:nvSpPr>
          <p:spPr>
            <a:xfrm>
              <a:off x="6832600" y="36487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shared.forward/649"/>
            <p:cNvSpPr/>
            <p:nvPr/>
          </p:nvSpPr>
          <p:spPr>
            <a:xfrm>
              <a:off x="8242300" y="3683000"/>
              <a:ext cx="406400" cy="127"/>
            </a:xfrm>
            <a:custGeom>
              <a:avLst/>
              <a:gdLst/>
              <a:ahLst/>
              <a:cxnLst/>
              <a:rect l="0" t="0" r="r" b="b"/>
              <a:pathLst>
                <a:path w="32000" h="10">
                  <a:moveTo>
                    <a:pt x="0" y="0"/>
                  </a:moveTo>
                  <a:lnTo>
                    <a:pt x="32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shared.forward/649 head"/>
            <p:cNvSpPr/>
            <p:nvPr/>
          </p:nvSpPr>
          <p:spPr>
            <a:xfrm>
              <a:off x="8572500" y="36487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shared.forward/780"/>
            <p:cNvSpPr/>
            <p:nvPr/>
          </p:nvSpPr>
          <p:spPr>
            <a:xfrm>
              <a:off x="9906000" y="3683000"/>
              <a:ext cx="393700" cy="127"/>
            </a:xfrm>
            <a:custGeom>
              <a:avLst/>
              <a:gdLst/>
              <a:ahLst/>
              <a:cxnLst/>
              <a:rect l="0" t="0" r="r" b="b"/>
              <a:pathLst>
                <a:path w="31000" h="10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shared.forward/780 head"/>
            <p:cNvSpPr/>
            <p:nvPr/>
          </p:nvSpPr>
          <p:spPr>
            <a:xfrm>
              <a:off x="10223500" y="36487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shared.forward/968"/>
            <p:cNvSpPr/>
            <p:nvPr/>
          </p:nvSpPr>
          <p:spPr>
            <a:xfrm>
              <a:off x="12293600" y="3683000"/>
              <a:ext cx="393700" cy="127"/>
            </a:xfrm>
            <a:custGeom>
              <a:avLst/>
              <a:gdLst/>
              <a:ahLst/>
              <a:cxnLst/>
              <a:rect l="0" t="0" r="r" b="b"/>
              <a:pathLst>
                <a:path w="31000" h="10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shared.forward/968 head"/>
            <p:cNvSpPr/>
            <p:nvPr/>
          </p:nvSpPr>
          <p:spPr>
            <a:xfrm>
              <a:off x="12611100" y="36487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shared.real"/>
          <p:cNvGrpSpPr/>
          <p:nvPr/>
        </p:nvGrpSpPr>
        <p:grpSpPr>
          <a:xfrm>
            <a:off x="8953500" y="1879600"/>
            <a:ext cx="2358390" cy="1422400"/>
            <a:chOff x="8953500" y="1879600"/>
            <a:chExt cx="2358390" cy="1422400"/>
          </a:xfrm>
        </p:grpSpPr>
        <p:sp>
          <p:nvSpPr>
            <p:cNvPr id="146" name="shared.real/box"/>
            <p:cNvSpPr/>
            <p:nvPr/>
          </p:nvSpPr>
          <p:spPr>
            <a:xfrm>
              <a:off x="8953500" y="1879600"/>
              <a:ext cx="1460500" cy="495300"/>
            </a:xfrm>
            <a:custGeom>
              <a:avLst/>
              <a:gdLst/>
              <a:ahLst/>
              <a:cxnLst/>
              <a:rect l="0" t="0" r="r" b="b"/>
              <a:pathLst>
                <a:path w="115000" h="39000">
                  <a:moveTo>
                    <a:pt x="3000" y="0"/>
                  </a:moveTo>
                  <a:lnTo>
                    <a:pt x="112000" y="0"/>
                  </a:lnTo>
                  <a:cubicBezTo>
                    <a:pt x="113657" y="0"/>
                    <a:pt x="115000" y="1343"/>
                    <a:pt x="115000" y="3000"/>
                  </a:cubicBezTo>
                  <a:lnTo>
                    <a:pt x="115000" y="36000"/>
                  </a:lnTo>
                  <a:cubicBezTo>
                    <a:pt x="115000" y="37657"/>
                    <a:pt x="113657" y="39000"/>
                    <a:pt x="112000" y="39000"/>
                  </a:cubicBezTo>
                  <a:lnTo>
                    <a:pt x="3000" y="39000"/>
                  </a:lnTo>
                  <a:cubicBezTo>
                    <a:pt x="1343" y="39000"/>
                    <a:pt x="0" y="37657"/>
                    <a:pt x="0" y="36000"/>
                  </a:cubicBezTo>
                  <a:lnTo>
                    <a:pt x="0" y="3000"/>
                  </a:lnTo>
                  <a:cubicBezTo>
                    <a:pt x="0" y="1343"/>
                    <a:pt x="1343" y="0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 w="1079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shared.real/accent"/>
            <p:cNvSpPr/>
            <p:nvPr/>
          </p:nvSpPr>
          <p:spPr>
            <a:xfrm>
              <a:off x="8953500" y="1879600"/>
              <a:ext cx="31750" cy="495300"/>
            </a:xfrm>
            <a:custGeom>
              <a:avLst/>
              <a:gdLst/>
              <a:ahLst/>
              <a:cxnLst/>
              <a:rect l="0" t="0" r="r" b="b"/>
              <a:pathLst>
                <a:path w="2500" h="39000">
                  <a:moveTo>
                    <a:pt x="0" y="0"/>
                  </a:moveTo>
                  <a:lnTo>
                    <a:pt x="2500" y="0"/>
                  </a:lnTo>
                  <a:cubicBezTo>
                    <a:pt x="2500" y="0"/>
                    <a:pt x="2500" y="0"/>
                    <a:pt x="2500" y="0"/>
                  </a:cubicBezTo>
                  <a:lnTo>
                    <a:pt x="2500" y="39000"/>
                  </a:lnTo>
                  <a:cubicBezTo>
                    <a:pt x="2500" y="39000"/>
                    <a:pt x="2500" y="39000"/>
                    <a:pt x="2500" y="39000"/>
                  </a:cubicBezTo>
                  <a:lnTo>
                    <a:pt x="0" y="39000"/>
                  </a:lnTo>
                  <a:cubicBezTo>
                    <a:pt x="0" y="39000"/>
                    <a:pt x="0" y="39000"/>
                    <a:pt x="0" y="3900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shared.real/label"/>
            <p:cNvSpPr txBox="1"/>
            <p:nvPr/>
          </p:nvSpPr>
          <p:spPr>
            <a:xfrm>
              <a:off x="9029700" y="1917700"/>
              <a:ext cx="1308100" cy="419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Real 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</a:p>
          </p:txBody>
        </p:sp>
        <p:sp>
          <p:nvSpPr>
            <p:cNvPr id="149" name="shared.real/edge"/>
            <p:cNvSpPr/>
            <p:nvPr/>
          </p:nvSpPr>
          <p:spPr>
            <a:xfrm>
              <a:off x="9677400" y="2374900"/>
              <a:ext cx="1600200" cy="927100"/>
            </a:xfrm>
            <a:custGeom>
              <a:avLst/>
              <a:gdLst/>
              <a:ahLst/>
              <a:cxnLst/>
              <a:rect l="0" t="0" r="r" b="b"/>
              <a:pathLst>
                <a:path w="126000" h="73000">
                  <a:moveTo>
                    <a:pt x="0" y="0"/>
                  </a:moveTo>
                  <a:lnTo>
                    <a:pt x="0" y="37000"/>
                  </a:lnTo>
                  <a:lnTo>
                    <a:pt x="126000" y="37000"/>
                  </a:lnTo>
                  <a:lnTo>
                    <a:pt x="126000" y="73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shared.real/edge head"/>
            <p:cNvSpPr/>
            <p:nvPr/>
          </p:nvSpPr>
          <p:spPr>
            <a:xfrm>
              <a:off x="11243310" y="3225800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1" name="shared.conditional"/>
          <p:cNvGrpSpPr/>
          <p:nvPr/>
        </p:nvGrpSpPr>
        <p:grpSpPr>
          <a:xfrm>
            <a:off x="13309600" y="2527300"/>
            <a:ext cx="469900" cy="774700"/>
            <a:chOff x="13309600" y="2527300"/>
            <a:chExt cx="469900" cy="774700"/>
          </a:xfrm>
        </p:grpSpPr>
        <p:sp>
          <p:nvSpPr>
            <p:cNvPr id="152" name="shared.conditional/label"/>
            <p:cNvSpPr txBox="1"/>
            <p:nvPr/>
          </p:nvSpPr>
          <p:spPr>
            <a:xfrm>
              <a:off x="13309600" y="2527300"/>
              <a:ext cx="4699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c</a:t>
              </a:r>
            </a:p>
          </p:txBody>
        </p:sp>
        <p:sp>
          <p:nvSpPr>
            <p:cNvPr id="153" name="shared.conditional/edge"/>
            <p:cNvSpPr/>
            <p:nvPr/>
          </p:nvSpPr>
          <p:spPr>
            <a:xfrm>
              <a:off x="13550900" y="2819400"/>
              <a:ext cx="127" cy="482600"/>
            </a:xfrm>
            <a:custGeom>
              <a:avLst/>
              <a:gdLst/>
              <a:ahLst/>
              <a:cxnLst/>
              <a:rect l="0" t="0" r="r" b="b"/>
              <a:pathLst>
                <a:path w="10" h="38000">
                  <a:moveTo>
                    <a:pt x="0" y="0"/>
                  </a:moveTo>
                  <a:lnTo>
                    <a:pt x="0" y="38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shared.conditional/edge head"/>
            <p:cNvSpPr/>
            <p:nvPr/>
          </p:nvSpPr>
          <p:spPr>
            <a:xfrm>
              <a:off x="13516610" y="3225800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shared.detach"/>
          <p:cNvGrpSpPr/>
          <p:nvPr/>
        </p:nvGrpSpPr>
        <p:grpSpPr>
          <a:xfrm>
            <a:off x="8394700" y="4254500"/>
            <a:ext cx="3898900" cy="292100"/>
            <a:chOff x="8394700" y="4254500"/>
            <a:chExt cx="3898900" cy="292100"/>
          </a:xfrm>
        </p:grpSpPr>
        <p:sp>
          <p:nvSpPr>
            <p:cNvPr id="156" name="shared.detach/note"/>
            <p:cNvSpPr txBox="1"/>
            <p:nvPr/>
          </p:nvSpPr>
          <p:spPr>
            <a:xfrm>
              <a:off x="8394700" y="4254500"/>
              <a:ext cx="3898900" cy="292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Detach generated samples for the D update</a:t>
              </a:r>
            </a:p>
          </p:txBody>
        </p:sp>
      </p:grpSp>
      <p:grpSp>
        <p:nvGrpSpPr>
          <p:cNvPr id="157" name="shared.loss"/>
          <p:cNvGrpSpPr/>
          <p:nvPr/>
        </p:nvGrpSpPr>
        <p:grpSpPr>
          <a:xfrm>
            <a:off x="3763010" y="4064000"/>
            <a:ext cx="9800590" cy="1092200"/>
            <a:chOff x="3763010" y="4064000"/>
            <a:chExt cx="9800590" cy="1092200"/>
          </a:xfrm>
        </p:grpSpPr>
        <p:sp>
          <p:nvSpPr>
            <p:cNvPr id="158" name="shared.loss/bus"/>
            <p:cNvSpPr/>
            <p:nvPr/>
          </p:nvSpPr>
          <p:spPr>
            <a:xfrm>
              <a:off x="3797300" y="4064000"/>
              <a:ext cx="9766300" cy="635000"/>
            </a:xfrm>
            <a:custGeom>
              <a:avLst/>
              <a:gdLst/>
              <a:ahLst/>
              <a:cxnLst/>
              <a:rect l="0" t="0" r="r" b="b"/>
              <a:pathLst>
                <a:path w="769000" h="50000">
                  <a:moveTo>
                    <a:pt x="769000" y="0"/>
                  </a:moveTo>
                  <a:lnTo>
                    <a:pt x="769000" y="50000"/>
                  </a:lnTo>
                  <a:lnTo>
                    <a:pt x="0" y="50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shared.loss/guidance"/>
            <p:cNvSpPr/>
            <p:nvPr/>
          </p:nvSpPr>
          <p:spPr>
            <a:xfrm>
              <a:off x="3797300" y="4699000"/>
              <a:ext cx="127" cy="457200"/>
            </a:xfrm>
            <a:custGeom>
              <a:avLst/>
              <a:gdLst/>
              <a:ahLst/>
              <a:cxnLst/>
              <a:rect l="0" t="0" r="r" b="b"/>
              <a:pathLst>
                <a:path w="10" h="36000">
                  <a:moveTo>
                    <a:pt x="0" y="0"/>
                  </a:moveTo>
                  <a:lnTo>
                    <a:pt x="0" y="36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shared.loss/guidance head"/>
            <p:cNvSpPr/>
            <p:nvPr/>
          </p:nvSpPr>
          <p:spPr>
            <a:xfrm>
              <a:off x="3763010" y="5080000"/>
              <a:ext cx="68579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shared.loss/discriminator"/>
            <p:cNvSpPr/>
            <p:nvPr/>
          </p:nvSpPr>
          <p:spPr>
            <a:xfrm>
              <a:off x="11036300" y="4699000"/>
              <a:ext cx="127" cy="457200"/>
            </a:xfrm>
            <a:custGeom>
              <a:avLst/>
              <a:gdLst/>
              <a:ahLst/>
              <a:cxnLst/>
              <a:rect l="0" t="0" r="r" b="b"/>
              <a:pathLst>
                <a:path w="10" h="36000">
                  <a:moveTo>
                    <a:pt x="0" y="0"/>
                  </a:moveTo>
                  <a:lnTo>
                    <a:pt x="0" y="36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shared.loss/discriminator head"/>
            <p:cNvSpPr/>
            <p:nvPr/>
          </p:nvSpPr>
          <p:spPr>
            <a:xfrm>
              <a:off x="11002010" y="5080000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shared.loss/guidance logit"/>
            <p:cNvSpPr txBox="1"/>
            <p:nvPr/>
          </p:nvSpPr>
          <p:spPr>
            <a:xfrm>
              <a:off x="3949700" y="4762500"/>
              <a:ext cx="8763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d</a:t>
              </a:r>
              <a:r>
                <a:rPr sz="14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</a:p>
          </p:txBody>
        </p:sp>
        <p:sp>
          <p:nvSpPr>
            <p:cNvPr id="164" name="shared.loss/discriminator logits"/>
            <p:cNvSpPr txBox="1"/>
            <p:nvPr/>
          </p:nvSpPr>
          <p:spPr>
            <a:xfrm>
              <a:off x="11176000" y="4762500"/>
              <a:ext cx="1092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d</a:t>
              </a:r>
              <a:r>
                <a:rPr sz="14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4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, d</a:t>
              </a:r>
              <a:r>
                <a:rPr sz="14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</a:p>
          </p:txBody>
        </p:sp>
      </p:grpSp>
      <p:grpSp>
        <p:nvGrpSpPr>
          <p:cNvPr id="165" name="guidance"/>
          <p:cNvGrpSpPr/>
          <p:nvPr/>
        </p:nvGrpSpPr>
        <p:grpSpPr>
          <a:xfrm>
            <a:off x="571500" y="5156200"/>
            <a:ext cx="6451600" cy="2247900"/>
            <a:chOff x="571500" y="5156200"/>
            <a:chExt cx="6451600" cy="2247900"/>
          </a:xfrm>
        </p:grpSpPr>
        <p:sp>
          <p:nvSpPr>
            <p:cNvPr id="166" name="guidance/objective box"/>
            <p:cNvSpPr/>
            <p:nvPr/>
          </p:nvSpPr>
          <p:spPr>
            <a:xfrm>
              <a:off x="571500" y="5156200"/>
              <a:ext cx="6451600" cy="2247900"/>
            </a:xfrm>
            <a:custGeom>
              <a:avLst/>
              <a:gdLst/>
              <a:ahLst/>
              <a:cxnLst/>
              <a:rect l="0" t="0" r="r" b="b"/>
              <a:pathLst>
                <a:path w="508000" h="177000">
                  <a:moveTo>
                    <a:pt x="4000" y="0"/>
                  </a:moveTo>
                  <a:lnTo>
                    <a:pt x="504000" y="0"/>
                  </a:lnTo>
                  <a:cubicBezTo>
                    <a:pt x="506209" y="0"/>
                    <a:pt x="508000" y="1791"/>
                    <a:pt x="508000" y="4000"/>
                  </a:cubicBezTo>
                  <a:lnTo>
                    <a:pt x="508000" y="173000"/>
                  </a:lnTo>
                  <a:cubicBezTo>
                    <a:pt x="508000" y="175209"/>
                    <a:pt x="506209" y="177000"/>
                    <a:pt x="504000" y="177000"/>
                  </a:cubicBezTo>
                  <a:lnTo>
                    <a:pt x="4000" y="177000"/>
                  </a:lnTo>
                  <a:cubicBezTo>
                    <a:pt x="1791" y="177000"/>
                    <a:pt x="0" y="175209"/>
                    <a:pt x="0" y="173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CF7F2"/>
            </a:solidFill>
            <a:ln w="10160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guidance/heading"/>
            <p:cNvSpPr txBox="1"/>
            <p:nvPr/>
          </p:nvSpPr>
          <p:spPr>
            <a:xfrm>
              <a:off x="812800" y="5334000"/>
              <a:ext cx="5969000" cy="330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800" b="1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(a) Guidance update</a:t>
              </a:r>
            </a:p>
          </p:txBody>
        </p:sp>
      </p:grpSp>
      <p:grpSp>
        <p:nvGrpSpPr>
          <p:cNvPr id="168" name="discriminator"/>
          <p:cNvGrpSpPr/>
          <p:nvPr/>
        </p:nvGrpSpPr>
        <p:grpSpPr>
          <a:xfrm>
            <a:off x="7759700" y="5156200"/>
            <a:ext cx="6451600" cy="2247900"/>
            <a:chOff x="7759700" y="5156200"/>
            <a:chExt cx="6451600" cy="2247900"/>
          </a:xfrm>
        </p:grpSpPr>
        <p:sp>
          <p:nvSpPr>
            <p:cNvPr id="169" name="discriminator/objective box"/>
            <p:cNvSpPr/>
            <p:nvPr/>
          </p:nvSpPr>
          <p:spPr>
            <a:xfrm>
              <a:off x="7759700" y="5156200"/>
              <a:ext cx="6451600" cy="2247900"/>
            </a:xfrm>
            <a:custGeom>
              <a:avLst/>
              <a:gdLst/>
              <a:ahLst/>
              <a:cxnLst/>
              <a:rect l="0" t="0" r="r" b="b"/>
              <a:pathLst>
                <a:path w="508000" h="177000">
                  <a:moveTo>
                    <a:pt x="4000" y="0"/>
                  </a:moveTo>
                  <a:lnTo>
                    <a:pt x="504000" y="0"/>
                  </a:lnTo>
                  <a:cubicBezTo>
                    <a:pt x="506209" y="0"/>
                    <a:pt x="508000" y="1791"/>
                    <a:pt x="508000" y="4000"/>
                  </a:cubicBezTo>
                  <a:lnTo>
                    <a:pt x="508000" y="173000"/>
                  </a:lnTo>
                  <a:cubicBezTo>
                    <a:pt x="508000" y="175209"/>
                    <a:pt x="506209" y="177000"/>
                    <a:pt x="504000" y="177000"/>
                  </a:cubicBezTo>
                  <a:lnTo>
                    <a:pt x="4000" y="177000"/>
                  </a:lnTo>
                  <a:cubicBezTo>
                    <a:pt x="1791" y="177000"/>
                    <a:pt x="0" y="175209"/>
                    <a:pt x="0" y="173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CF7F2"/>
            </a:solidFill>
            <a:ln w="10160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discriminator/heading"/>
            <p:cNvSpPr txBox="1"/>
            <p:nvPr/>
          </p:nvSpPr>
          <p:spPr>
            <a:xfrm>
              <a:off x="8001000" y="5334000"/>
              <a:ext cx="5969000" cy="330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800" b="1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(b) Discriminator update</a:t>
              </a:r>
            </a:p>
          </p:txBody>
        </p:sp>
      </p:grpSp>
      <p:grpSp>
        <p:nvGrpSpPr>
          <p:cNvPr id="171" name="guidance.active"/>
          <p:cNvGrpSpPr/>
          <p:nvPr/>
        </p:nvGrpSpPr>
        <p:grpSpPr>
          <a:xfrm>
            <a:off x="798576" y="5795645"/>
            <a:ext cx="174879" cy="181355"/>
            <a:chOff x="798576" y="5795645"/>
            <a:chExt cx="174879" cy="181355"/>
          </a:xfrm>
        </p:grpSpPr>
        <p:sp>
          <p:nvSpPr>
            <p:cNvPr id="172" name="guidance.active/trainable/red"/>
            <p:cNvSpPr/>
            <p:nvPr/>
          </p:nvSpPr>
          <p:spPr>
            <a:xfrm>
              <a:off x="798576" y="5795645"/>
              <a:ext cx="174879" cy="181355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guidance.active/trainable/gold"/>
            <p:cNvSpPr/>
            <p:nvPr/>
          </p:nvSpPr>
          <p:spPr>
            <a:xfrm>
              <a:off x="850391" y="5879846"/>
              <a:ext cx="77724" cy="84200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guidance.parameters"/>
          <p:cNvGrpSpPr/>
          <p:nvPr/>
        </p:nvGrpSpPr>
        <p:grpSpPr>
          <a:xfrm>
            <a:off x="1066800" y="5753100"/>
            <a:ext cx="2667000" cy="292100"/>
            <a:chOff x="1066800" y="5753100"/>
            <a:chExt cx="2667000" cy="292100"/>
          </a:xfrm>
        </p:grpSpPr>
        <p:sp>
          <p:nvSpPr>
            <p:cNvPr id="175" name="guidance.parameters"/>
            <p:cNvSpPr txBox="1"/>
            <p:nvPr/>
          </p:nvSpPr>
          <p:spPr>
            <a:xfrm>
              <a:off x="1066800" y="5753100"/>
              <a:ext cx="2667000" cy="292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Update W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 and a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</a:p>
          </p:txBody>
        </p:sp>
      </p:grpSp>
      <p:grpSp>
        <p:nvGrpSpPr>
          <p:cNvPr id="176" name="guidance.fixed critic"/>
          <p:cNvGrpSpPr/>
          <p:nvPr/>
        </p:nvGrpSpPr>
        <p:grpSpPr>
          <a:xfrm>
            <a:off x="4041140" y="5818010"/>
            <a:ext cx="172720" cy="149579"/>
            <a:chOff x="4041140" y="5818010"/>
            <a:chExt cx="172720" cy="149579"/>
          </a:xfrm>
        </p:grpSpPr>
        <p:sp>
          <p:nvSpPr>
            <p:cNvPr id="177" name="guidance.fixed critic/frozen/white outline"/>
            <p:cNvSpPr/>
            <p:nvPr/>
          </p:nvSpPr>
          <p:spPr>
            <a:xfrm>
              <a:off x="4041140" y="58180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guidance.fixed critic/frozen/blue crystal"/>
            <p:cNvSpPr/>
            <p:nvPr/>
          </p:nvSpPr>
          <p:spPr>
            <a:xfrm>
              <a:off x="4041140" y="58180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9" name="guidance.critic state"/>
          <p:cNvGrpSpPr/>
          <p:nvPr/>
        </p:nvGrpSpPr>
        <p:grpSpPr>
          <a:xfrm>
            <a:off x="4330700" y="5753100"/>
            <a:ext cx="2032000" cy="292100"/>
            <a:chOff x="4330700" y="5753100"/>
            <a:chExt cx="2032000" cy="292100"/>
          </a:xfrm>
        </p:grpSpPr>
        <p:sp>
          <p:nvSpPr>
            <p:cNvPr id="180" name="guidance.critic state"/>
            <p:cNvSpPr txBox="1"/>
            <p:nvPr/>
          </p:nvSpPr>
          <p:spPr>
            <a:xfrm>
              <a:off x="4330700" y="5753100"/>
              <a:ext cx="2032000" cy="292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Freeze D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</a:p>
          </p:txBody>
        </p:sp>
      </p:grpSp>
      <p:grpSp>
        <p:nvGrpSpPr>
          <p:cNvPr id="181" name="guidance.formula"/>
          <p:cNvGrpSpPr/>
          <p:nvPr/>
        </p:nvGrpSpPr>
        <p:grpSpPr>
          <a:xfrm>
            <a:off x="774700" y="6223000"/>
            <a:ext cx="6045200" cy="342900"/>
            <a:chOff x="774700" y="6223000"/>
            <a:chExt cx="6045200" cy="342900"/>
          </a:xfrm>
        </p:grpSpPr>
        <p:sp>
          <p:nvSpPr>
            <p:cNvPr id="182" name="guidance.formula"/>
            <p:cNvSpPr txBox="1"/>
            <p:nvPr/>
          </p:nvSpPr>
          <p:spPr>
            <a:xfrm>
              <a:off x="774700" y="6223000"/>
              <a:ext cx="604520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8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L</a:t>
              </a:r>
              <a:r>
                <a:rPr sz="18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G</a:t>
              </a:r>
              <a:r>
                <a:rPr sz="18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 = E[softplus(−d</a:t>
              </a:r>
              <a:r>
                <a:rPr sz="18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  <a:r>
                <a:rPr sz="18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)] + λ R</a:t>
              </a:r>
              <a:r>
                <a:rPr sz="18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gap</a:t>
              </a:r>
            </a:p>
          </p:txBody>
        </p:sp>
      </p:grpSp>
      <p:grpSp>
        <p:nvGrpSpPr>
          <p:cNvPr id="183" name="guidance.probe"/>
          <p:cNvGrpSpPr/>
          <p:nvPr/>
        </p:nvGrpSpPr>
        <p:grpSpPr>
          <a:xfrm>
            <a:off x="800100" y="6769100"/>
            <a:ext cx="5969000" cy="279400"/>
            <a:chOff x="800100" y="6769100"/>
            <a:chExt cx="5969000" cy="279400"/>
          </a:xfrm>
        </p:grpSpPr>
        <p:sp>
          <p:nvSpPr>
            <p:cNvPr id="184" name="guidance.probe"/>
            <p:cNvSpPr txBox="1"/>
            <p:nvPr/>
          </p:nvSpPr>
          <p:spPr>
            <a:xfrm>
              <a:off x="800100" y="6769100"/>
              <a:ext cx="59690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40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gap</a:t>
              </a:r>
              <a:r>
                <a:rPr sz="14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: independent real-data probe; W</a:t>
              </a:r>
              <a:r>
                <a:rPr sz="140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0</a:t>
              </a:r>
              <a:r>
                <a:rPr sz="14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 fixed</a:t>
              </a:r>
            </a:p>
          </p:txBody>
        </p:sp>
      </p:grpSp>
      <p:grpSp>
        <p:nvGrpSpPr>
          <p:cNvPr id="185" name="discriminator.active"/>
          <p:cNvGrpSpPr/>
          <p:nvPr/>
        </p:nvGrpSpPr>
        <p:grpSpPr>
          <a:xfrm>
            <a:off x="7986776" y="5795645"/>
            <a:ext cx="174878" cy="181355"/>
            <a:chOff x="7986776" y="5795645"/>
            <a:chExt cx="174878" cy="181355"/>
          </a:xfrm>
        </p:grpSpPr>
        <p:sp>
          <p:nvSpPr>
            <p:cNvPr id="186" name="discriminator.active/trainable/red"/>
            <p:cNvSpPr/>
            <p:nvPr/>
          </p:nvSpPr>
          <p:spPr>
            <a:xfrm>
              <a:off x="7986776" y="5795645"/>
              <a:ext cx="174878" cy="181355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discriminator.active/trainable/gold"/>
            <p:cNvSpPr/>
            <p:nvPr/>
          </p:nvSpPr>
          <p:spPr>
            <a:xfrm>
              <a:off x="8038592" y="5879846"/>
              <a:ext cx="77724" cy="84200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8" name="discriminator.parameters"/>
          <p:cNvGrpSpPr/>
          <p:nvPr/>
        </p:nvGrpSpPr>
        <p:grpSpPr>
          <a:xfrm>
            <a:off x="8255000" y="5753100"/>
            <a:ext cx="1625600" cy="292100"/>
            <a:chOff x="8255000" y="5753100"/>
            <a:chExt cx="1625600" cy="292100"/>
          </a:xfrm>
        </p:grpSpPr>
        <p:sp>
          <p:nvSpPr>
            <p:cNvPr id="189" name="discriminator.parameters"/>
            <p:cNvSpPr txBox="1"/>
            <p:nvPr/>
          </p:nvSpPr>
          <p:spPr>
            <a:xfrm>
              <a:off x="8255000" y="5753100"/>
              <a:ext cx="1625600" cy="292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Update D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</a:p>
          </p:txBody>
        </p:sp>
      </p:grpSp>
      <p:grpSp>
        <p:nvGrpSpPr>
          <p:cNvPr id="190" name="discriminator.fixed sampler"/>
          <p:cNvGrpSpPr/>
          <p:nvPr/>
        </p:nvGrpSpPr>
        <p:grpSpPr>
          <a:xfrm>
            <a:off x="10124440" y="5818010"/>
            <a:ext cx="172719" cy="149579"/>
            <a:chOff x="10124440" y="5818010"/>
            <a:chExt cx="172719" cy="149579"/>
          </a:xfrm>
        </p:grpSpPr>
        <p:sp>
          <p:nvSpPr>
            <p:cNvPr id="191" name="discriminator.fixed sampler/frozen/white outline"/>
            <p:cNvSpPr/>
            <p:nvPr/>
          </p:nvSpPr>
          <p:spPr>
            <a:xfrm>
              <a:off x="10124440" y="58180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discriminator.fixed sampler/frozen/blue crystal"/>
            <p:cNvSpPr/>
            <p:nvPr/>
          </p:nvSpPr>
          <p:spPr>
            <a:xfrm>
              <a:off x="10124440" y="58180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3" name="discriminator.sampler state"/>
          <p:cNvGrpSpPr/>
          <p:nvPr/>
        </p:nvGrpSpPr>
        <p:grpSpPr>
          <a:xfrm>
            <a:off x="10414000" y="5753100"/>
            <a:ext cx="3517900" cy="292100"/>
            <a:chOff x="10414000" y="5753100"/>
            <a:chExt cx="3517900" cy="292100"/>
          </a:xfrm>
        </p:grpSpPr>
        <p:sp>
          <p:nvSpPr>
            <p:cNvPr id="194" name="discriminator.sampler state"/>
            <p:cNvSpPr txBox="1"/>
            <p:nvPr/>
          </p:nvSpPr>
          <p:spPr>
            <a:xfrm>
              <a:off x="10414000" y="5753100"/>
              <a:ext cx="3517900" cy="292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Freeze sampling parameters</a:t>
              </a:r>
            </a:p>
          </p:txBody>
        </p:sp>
      </p:grpSp>
      <p:grpSp>
        <p:nvGrpSpPr>
          <p:cNvPr id="195" name="discriminator.formula 1"/>
          <p:cNvGrpSpPr/>
          <p:nvPr/>
        </p:nvGrpSpPr>
        <p:grpSpPr>
          <a:xfrm>
            <a:off x="7988300" y="6197600"/>
            <a:ext cx="5994400" cy="317500"/>
            <a:chOff x="7988300" y="6197600"/>
            <a:chExt cx="5994400" cy="317500"/>
          </a:xfrm>
        </p:grpSpPr>
        <p:sp>
          <p:nvSpPr>
            <p:cNvPr id="196" name="discriminator.formula 1"/>
            <p:cNvSpPr txBox="1"/>
            <p:nvPr/>
          </p:nvSpPr>
          <p:spPr>
            <a:xfrm>
              <a:off x="7988300" y="6197600"/>
              <a:ext cx="5994400" cy="317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L</a:t>
              </a:r>
              <a:r>
                <a:rPr sz="17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D</a:t>
              </a:r>
              <a:r>
                <a:rPr sz="17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 = E[softplus(−d</a:t>
              </a:r>
              <a:r>
                <a:rPr sz="17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7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)]</a:t>
              </a:r>
            </a:p>
          </p:txBody>
        </p:sp>
      </p:grpSp>
      <p:grpSp>
        <p:nvGrpSpPr>
          <p:cNvPr id="197" name="discriminator.formula 2"/>
          <p:cNvGrpSpPr/>
          <p:nvPr/>
        </p:nvGrpSpPr>
        <p:grpSpPr>
          <a:xfrm>
            <a:off x="7988300" y="6527800"/>
            <a:ext cx="5994400" cy="317500"/>
            <a:chOff x="7988300" y="6527800"/>
            <a:chExt cx="5994400" cy="317500"/>
          </a:xfrm>
        </p:grpSpPr>
        <p:sp>
          <p:nvSpPr>
            <p:cNvPr id="198" name="discriminator.formula 2"/>
            <p:cNvSpPr txBox="1"/>
            <p:nvPr/>
          </p:nvSpPr>
          <p:spPr>
            <a:xfrm>
              <a:off x="7988300" y="6527800"/>
              <a:ext cx="5994400" cy="317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 + E[softplus(d</a:t>
              </a:r>
              <a:r>
                <a:rPr sz="17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  <a:r>
                <a:rPr sz="17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)] + (γ/2) R</a:t>
              </a:r>
              <a:r>
                <a:rPr sz="17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</a:p>
          </p:txBody>
        </p:sp>
      </p:grpSp>
      <p:grpSp>
        <p:nvGrpSpPr>
          <p:cNvPr id="199" name="discriminator.regularizer"/>
          <p:cNvGrpSpPr/>
          <p:nvPr/>
        </p:nvGrpSpPr>
        <p:grpSpPr>
          <a:xfrm>
            <a:off x="7988300" y="6985000"/>
            <a:ext cx="5994400" cy="279400"/>
            <a:chOff x="7988300" y="6985000"/>
            <a:chExt cx="5994400" cy="279400"/>
          </a:xfrm>
        </p:grpSpPr>
        <p:sp>
          <p:nvSpPr>
            <p:cNvPr id="200" name="discriminator.regularizer"/>
            <p:cNvSpPr txBox="1"/>
            <p:nvPr/>
          </p:nvSpPr>
          <p:spPr>
            <a:xfrm>
              <a:off x="7988300" y="6985000"/>
              <a:ext cx="59944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40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  <a:r>
                <a:rPr sz="14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: gradient penalty on real features</a:t>
              </a:r>
            </a:p>
          </p:txBody>
        </p:sp>
      </p:grpSp>
      <p:grpSp>
        <p:nvGrpSpPr>
          <p:cNvPr id="201" name="notes"/>
          <p:cNvGrpSpPr/>
          <p:nvPr/>
        </p:nvGrpSpPr>
        <p:grpSpPr>
          <a:xfrm>
            <a:off x="635000" y="7835900"/>
            <a:ext cx="13462000" cy="279400"/>
            <a:chOff x="635000" y="7835900"/>
            <a:chExt cx="13462000" cy="279400"/>
          </a:xfrm>
        </p:grpSpPr>
        <p:sp>
          <p:nvSpPr>
            <p:cNvPr id="202" name="notes/logits"/>
            <p:cNvSpPr txBox="1"/>
            <p:nvPr/>
          </p:nvSpPr>
          <p:spPr>
            <a:xfrm>
              <a:off x="635000" y="7835900"/>
              <a:ext cx="134620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d</a:t>
              </a:r>
              <a:r>
                <a:rPr sz="135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 = D</a:t>
              </a:r>
              <a:r>
                <a:rPr sz="135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(φ(x</a:t>
              </a:r>
              <a:r>
                <a:rPr sz="135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), c),   d</a:t>
              </a:r>
              <a:r>
                <a:rPr sz="135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 = D</a:t>
              </a:r>
              <a:r>
                <a:rPr sz="135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(φ(x</a:t>
              </a:r>
              <a:r>
                <a:rPr sz="135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), c).  Icons in the forward graph show which parameters are learned across training.</a:t>
              </a:r>
            </a:p>
          </p:txBody>
        </p:sp>
      </p:grpSp>
      <p:grpSp>
        <p:nvGrpSpPr>
          <p:cNvPr id="203" name="legend.fixed"/>
          <p:cNvGrpSpPr/>
          <p:nvPr/>
        </p:nvGrpSpPr>
        <p:grpSpPr>
          <a:xfrm>
            <a:off x="612140" y="8585200"/>
            <a:ext cx="1991360" cy="266700"/>
            <a:chOff x="612140" y="8585200"/>
            <a:chExt cx="1991360" cy="266700"/>
          </a:xfrm>
        </p:grpSpPr>
        <p:sp>
          <p:nvSpPr>
            <p:cNvPr id="204" name="legend.fixed/frozen/white outline"/>
            <p:cNvSpPr/>
            <p:nvPr/>
          </p:nvSpPr>
          <p:spPr>
            <a:xfrm>
              <a:off x="612140" y="86374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legend.fixed/frozen/blue crystal"/>
            <p:cNvSpPr/>
            <p:nvPr/>
          </p:nvSpPr>
          <p:spPr>
            <a:xfrm>
              <a:off x="612140" y="86374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legend.fixed/text"/>
            <p:cNvSpPr txBox="1"/>
            <p:nvPr/>
          </p:nvSpPr>
          <p:spPr>
            <a:xfrm>
              <a:off x="876300" y="8585200"/>
              <a:ext cx="17272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Frozen parameters</a:t>
              </a:r>
            </a:p>
          </p:txBody>
        </p:sp>
      </p:grpSp>
      <p:grpSp>
        <p:nvGrpSpPr>
          <p:cNvPr id="207" name="legend.learned"/>
          <p:cNvGrpSpPr/>
          <p:nvPr/>
        </p:nvGrpSpPr>
        <p:grpSpPr>
          <a:xfrm>
            <a:off x="2944876" y="8585200"/>
            <a:ext cx="2185924" cy="266700"/>
            <a:chOff x="2944876" y="8585200"/>
            <a:chExt cx="2185924" cy="266700"/>
          </a:xfrm>
        </p:grpSpPr>
        <p:sp>
          <p:nvSpPr>
            <p:cNvPr id="208" name="legend.learned/trainable/red"/>
            <p:cNvSpPr/>
            <p:nvPr/>
          </p:nvSpPr>
          <p:spPr>
            <a:xfrm>
              <a:off x="2944876" y="8615045"/>
              <a:ext cx="174879" cy="181355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legend.learned/trainable/gold"/>
            <p:cNvSpPr/>
            <p:nvPr/>
          </p:nvSpPr>
          <p:spPr>
            <a:xfrm>
              <a:off x="2996692" y="8699246"/>
              <a:ext cx="77724" cy="84200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legend.learned/text"/>
            <p:cNvSpPr txBox="1"/>
            <p:nvPr/>
          </p:nvSpPr>
          <p:spPr>
            <a:xfrm>
              <a:off x="3213100" y="8585200"/>
              <a:ext cx="19177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Trainable parameters</a:t>
              </a:r>
            </a:p>
          </p:txBody>
        </p:sp>
      </p:grpSp>
      <p:grpSp>
        <p:nvGrpSpPr>
          <p:cNvPr id="211" name="legend.gradient"/>
          <p:cNvGrpSpPr/>
          <p:nvPr/>
        </p:nvGrpSpPr>
        <p:grpSpPr>
          <a:xfrm>
            <a:off x="5854700" y="8585200"/>
            <a:ext cx="1981200" cy="266700"/>
            <a:chOff x="5854700" y="8585200"/>
            <a:chExt cx="1981200" cy="266700"/>
          </a:xfrm>
        </p:grpSpPr>
        <p:sp>
          <p:nvSpPr>
            <p:cNvPr id="212" name="legend.gradient/line"/>
            <p:cNvSpPr/>
            <p:nvPr/>
          </p:nvSpPr>
          <p:spPr>
            <a:xfrm>
              <a:off x="5854700" y="8712200"/>
              <a:ext cx="495300" cy="127"/>
            </a:xfrm>
            <a:custGeom>
              <a:avLst/>
              <a:gdLst/>
              <a:ahLst/>
              <a:cxnLst/>
              <a:rect l="0" t="0" r="r" b="b"/>
              <a:pathLst>
                <a:path w="39000" h="10">
                  <a:moveTo>
                    <a:pt x="0" y="0"/>
                  </a:moveTo>
                  <a:lnTo>
                    <a:pt x="39000" y="0"/>
                  </a:lnTo>
                </a:path>
              </a:pathLst>
            </a:custGeom>
            <a:noFill/>
            <a:ln w="17780">
              <a:solidFill>
                <a:srgbClr val="B8643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legend.gradient/line head"/>
            <p:cNvSpPr/>
            <p:nvPr/>
          </p:nvSpPr>
          <p:spPr>
            <a:xfrm>
              <a:off x="6273800" y="8677910"/>
              <a:ext cx="76200" cy="68580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B864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legend.gradient/text"/>
            <p:cNvSpPr txBox="1"/>
            <p:nvPr/>
          </p:nvSpPr>
          <p:spPr>
            <a:xfrm>
              <a:off x="6464300" y="8585200"/>
              <a:ext cx="1371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Gradient flow</a:t>
              </a:r>
            </a:p>
          </p:txBody>
        </p:sp>
      </p:grpSp>
      <p:grpSp>
        <p:nvGrpSpPr>
          <p:cNvPr id="215" name="legend.order"/>
          <p:cNvGrpSpPr/>
          <p:nvPr/>
        </p:nvGrpSpPr>
        <p:grpSpPr>
          <a:xfrm>
            <a:off x="8420100" y="8585200"/>
            <a:ext cx="5842000" cy="266700"/>
            <a:chOff x="8420100" y="8585200"/>
            <a:chExt cx="5842000" cy="266700"/>
          </a:xfrm>
        </p:grpSpPr>
        <p:sp>
          <p:nvSpPr>
            <p:cNvPr id="216" name="legend.order/text"/>
            <p:cNvSpPr txBox="1"/>
            <p:nvPr/>
          </p:nvSpPr>
          <p:spPr>
            <a:xfrm>
              <a:off x="8420100" y="8585200"/>
              <a:ext cx="5842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Updates alternate; see the two objectives above.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 · Alternating training flows">
    <p:spTree>
      <p:nvGrpSpPr>
        <p:cNvPr id="1" name=""/>
        <p:cNvGrpSpPr/>
        <p:nvPr/>
      </p:nvGrpSpPr>
      <p:grpSpPr/>
      <p:grpSp>
        <p:nvGrpSpPr>
          <p:cNvPr id="2" name="d.heading"/>
          <p:cNvGrpSpPr/>
          <p:nvPr/>
        </p:nvGrpSpPr>
        <p:grpSpPr>
          <a:xfrm>
            <a:off x="381000" y="190500"/>
            <a:ext cx="14008100" cy="368300"/>
            <a:chOff x="381000" y="190500"/>
            <a:chExt cx="14008100" cy="368300"/>
          </a:xfrm>
        </p:grpSpPr>
        <p:sp>
          <p:nvSpPr>
            <p:cNvPr id="3" name="d.heading/title"/>
            <p:cNvSpPr txBox="1"/>
            <p:nvPr/>
          </p:nvSpPr>
          <p:spPr>
            <a:xfrm>
              <a:off x="381000" y="190500"/>
              <a:ext cx="8763000" cy="3683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2100" b="1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(a) Discriminator update</a:t>
              </a:r>
            </a:p>
          </p:txBody>
        </p:sp>
        <p:sp>
          <p:nvSpPr>
            <p:cNvPr id="4" name="d.heading/parameters"/>
            <p:cNvSpPr txBox="1"/>
            <p:nvPr/>
          </p:nvSpPr>
          <p:spPr>
            <a:xfrm>
              <a:off x="9753600" y="266700"/>
              <a:ext cx="4635500" cy="292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Update ω; freeze the sampler</a:t>
              </a:r>
            </a:p>
          </p:txBody>
        </p:sp>
      </p:grpSp>
      <p:grpSp>
        <p:nvGrpSpPr>
          <p:cNvPr id="5" name="d.sampler"/>
          <p:cNvGrpSpPr/>
          <p:nvPr/>
        </p:nvGrpSpPr>
        <p:grpSpPr>
          <a:xfrm>
            <a:off x="1409700" y="863600"/>
            <a:ext cx="4445000" cy="2273300"/>
            <a:chOff x="1409700" y="863600"/>
            <a:chExt cx="4445000" cy="2273300"/>
          </a:xfrm>
        </p:grpSpPr>
        <p:sp>
          <p:nvSpPr>
            <p:cNvPr id="6" name="d.sampler/container"/>
            <p:cNvSpPr/>
            <p:nvPr/>
          </p:nvSpPr>
          <p:spPr>
            <a:xfrm>
              <a:off x="1409700" y="863600"/>
              <a:ext cx="4445000" cy="2273300"/>
            </a:xfrm>
            <a:custGeom>
              <a:avLst/>
              <a:gdLst/>
              <a:ahLst/>
              <a:cxnLst/>
              <a:rect l="0" t="0" r="r" b="b"/>
              <a:pathLst>
                <a:path w="350000" h="179000">
                  <a:moveTo>
                    <a:pt x="5000" y="0"/>
                  </a:moveTo>
                  <a:lnTo>
                    <a:pt x="345000" y="0"/>
                  </a:lnTo>
                  <a:cubicBezTo>
                    <a:pt x="347761" y="0"/>
                    <a:pt x="350000" y="2239"/>
                    <a:pt x="350000" y="5000"/>
                  </a:cubicBezTo>
                  <a:lnTo>
                    <a:pt x="350000" y="174000"/>
                  </a:lnTo>
                  <a:cubicBezTo>
                    <a:pt x="350000" y="176761"/>
                    <a:pt x="347761" y="179000"/>
                    <a:pt x="345000" y="179000"/>
                  </a:cubicBezTo>
                  <a:lnTo>
                    <a:pt x="5000" y="179000"/>
                  </a:lnTo>
                  <a:cubicBezTo>
                    <a:pt x="2239" y="179000"/>
                    <a:pt x="0" y="176761"/>
                    <a:pt x="0" y="174000"/>
                  </a:cubicBezTo>
                  <a:lnTo>
                    <a:pt x="0" y="5000"/>
                  </a:lnTo>
                  <a:cubicBezTo>
                    <a:pt x="0" y="2239"/>
                    <a:pt x="2239" y="0"/>
                    <a:pt x="5000" y="0"/>
                  </a:cubicBezTo>
                  <a:close/>
                </a:path>
              </a:pathLst>
            </a:custGeom>
            <a:solidFill>
              <a:srgbClr val="FAFCFD"/>
            </a:solidFill>
            <a:ln w="11430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.sampler/title"/>
            <p:cNvSpPr txBox="1"/>
            <p:nvPr/>
          </p:nvSpPr>
          <p:spPr>
            <a:xfrm>
              <a:off x="1562100" y="965200"/>
              <a:ext cx="41402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00" b="1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Full-trajectory sampler</a:t>
              </a:r>
            </a:p>
          </p:txBody>
        </p:sp>
      </p:grpSp>
      <p:grpSp>
        <p:nvGrpSpPr>
          <p:cNvPr id="8" name="d.sampler.strong"/>
          <p:cNvGrpSpPr/>
          <p:nvPr/>
        </p:nvGrpSpPr>
        <p:grpSpPr>
          <a:xfrm>
            <a:off x="1562100" y="1397000"/>
            <a:ext cx="1320800" cy="876300"/>
            <a:chOff x="1562100" y="1397000"/>
            <a:chExt cx="1320800" cy="876300"/>
          </a:xfrm>
        </p:grpSpPr>
        <p:sp>
          <p:nvSpPr>
            <p:cNvPr id="9" name="d.sampler.strong/box"/>
            <p:cNvSpPr/>
            <p:nvPr/>
          </p:nvSpPr>
          <p:spPr>
            <a:xfrm>
              <a:off x="1562100" y="1397000"/>
              <a:ext cx="1320800" cy="876300"/>
            </a:xfrm>
            <a:custGeom>
              <a:avLst/>
              <a:gdLst/>
              <a:ahLst/>
              <a:cxnLst/>
              <a:rect l="0" t="0" r="r" b="b"/>
              <a:pathLst>
                <a:path w="104000" h="69000">
                  <a:moveTo>
                    <a:pt x="4000" y="0"/>
                  </a:moveTo>
                  <a:lnTo>
                    <a:pt x="100000" y="0"/>
                  </a:lnTo>
                  <a:cubicBezTo>
                    <a:pt x="102209" y="0"/>
                    <a:pt x="104000" y="1791"/>
                    <a:pt x="104000" y="4000"/>
                  </a:cubicBezTo>
                  <a:lnTo>
                    <a:pt x="104000" y="65000"/>
                  </a:lnTo>
                  <a:cubicBezTo>
                    <a:pt x="104000" y="67209"/>
                    <a:pt x="102209" y="69000"/>
                    <a:pt x="100000" y="69000"/>
                  </a:cubicBezTo>
                  <a:lnTo>
                    <a:pt x="4000" y="69000"/>
                  </a:lnTo>
                  <a:cubicBezTo>
                    <a:pt x="1791" y="69000"/>
                    <a:pt x="0" y="67209"/>
                    <a:pt x="0" y="65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.sampler.strong/network spine"/>
            <p:cNvSpPr/>
            <p:nvPr/>
          </p:nvSpPr>
          <p:spPr>
            <a:xfrm>
              <a:off x="1828800" y="1708150"/>
              <a:ext cx="787400" cy="127"/>
            </a:xfrm>
            <a:custGeom>
              <a:avLst/>
              <a:gdLst/>
              <a:ahLst/>
              <a:cxnLst/>
              <a:rect l="0" t="0" r="r" b="b"/>
              <a:pathLst>
                <a:path w="62000" h="10">
                  <a:moveTo>
                    <a:pt x="0" y="0"/>
                  </a:moveTo>
                  <a:lnTo>
                    <a:pt x="62000" y="0"/>
                  </a:lnTo>
                </a:path>
              </a:pathLst>
            </a:custGeom>
            <a:noFill/>
            <a:ln w="1079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.sampler.strong/network block 0"/>
            <p:cNvSpPr/>
            <p:nvPr/>
          </p:nvSpPr>
          <p:spPr>
            <a:xfrm>
              <a:off x="1932736" y="1589087"/>
              <a:ext cx="107086" cy="238125"/>
            </a:xfrm>
            <a:custGeom>
              <a:avLst/>
              <a:gdLst/>
              <a:ahLst/>
              <a:cxnLst/>
              <a:rect l="0" t="0" r="r" b="b"/>
              <a:pathLst>
                <a:path w="8432" h="1875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17950"/>
                  </a:lnTo>
                  <a:cubicBezTo>
                    <a:pt x="8432" y="18392"/>
                    <a:pt x="8074" y="18750"/>
                    <a:pt x="7632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.sampler.strong/network block 1"/>
            <p:cNvSpPr/>
            <p:nvPr/>
          </p:nvSpPr>
          <p:spPr>
            <a:xfrm>
              <a:off x="2090216" y="1549400"/>
              <a:ext cx="107086" cy="317500"/>
            </a:xfrm>
            <a:custGeom>
              <a:avLst/>
              <a:gdLst/>
              <a:ahLst/>
              <a:cxnLst/>
              <a:rect l="0" t="0" r="r" b="b"/>
              <a:pathLst>
                <a:path w="8432" h="2500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24200"/>
                  </a:lnTo>
                  <a:cubicBezTo>
                    <a:pt x="8432" y="24642"/>
                    <a:pt x="8074" y="25000"/>
                    <a:pt x="7632" y="25000"/>
                  </a:cubicBezTo>
                  <a:lnTo>
                    <a:pt x="800" y="25000"/>
                  </a:lnTo>
                  <a:cubicBezTo>
                    <a:pt x="358" y="25000"/>
                    <a:pt x="0" y="24642"/>
                    <a:pt x="0" y="24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.sampler.strong/network block 2"/>
            <p:cNvSpPr/>
            <p:nvPr/>
          </p:nvSpPr>
          <p:spPr>
            <a:xfrm>
              <a:off x="2247696" y="1549400"/>
              <a:ext cx="107086" cy="317500"/>
            </a:xfrm>
            <a:custGeom>
              <a:avLst/>
              <a:gdLst/>
              <a:ahLst/>
              <a:cxnLst/>
              <a:rect l="0" t="0" r="r" b="b"/>
              <a:pathLst>
                <a:path w="8432" h="2500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24200"/>
                  </a:lnTo>
                  <a:cubicBezTo>
                    <a:pt x="8432" y="24642"/>
                    <a:pt x="8074" y="25000"/>
                    <a:pt x="7632" y="25000"/>
                  </a:cubicBezTo>
                  <a:lnTo>
                    <a:pt x="800" y="25000"/>
                  </a:lnTo>
                  <a:cubicBezTo>
                    <a:pt x="358" y="25000"/>
                    <a:pt x="0" y="24642"/>
                    <a:pt x="0" y="24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.sampler.strong/network block 3"/>
            <p:cNvSpPr/>
            <p:nvPr/>
          </p:nvSpPr>
          <p:spPr>
            <a:xfrm>
              <a:off x="2405176" y="1589087"/>
              <a:ext cx="107086" cy="238125"/>
            </a:xfrm>
            <a:custGeom>
              <a:avLst/>
              <a:gdLst/>
              <a:ahLst/>
              <a:cxnLst/>
              <a:rect l="0" t="0" r="r" b="b"/>
              <a:pathLst>
                <a:path w="8432" h="1875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17950"/>
                  </a:lnTo>
                  <a:cubicBezTo>
                    <a:pt x="8432" y="18392"/>
                    <a:pt x="8074" y="18750"/>
                    <a:pt x="7632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.sampler.strong/label"/>
            <p:cNvSpPr txBox="1"/>
            <p:nvPr/>
          </p:nvSpPr>
          <p:spPr>
            <a:xfrm>
              <a:off x="1600200" y="1943100"/>
              <a:ext cx="12446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Strong S</a:t>
              </a:r>
            </a:p>
          </p:txBody>
        </p:sp>
        <p:sp>
          <p:nvSpPr>
            <p:cNvPr id="16" name="d.sampler.strong/frozen/white outline"/>
            <p:cNvSpPr/>
            <p:nvPr/>
          </p:nvSpPr>
          <p:spPr>
            <a:xfrm>
              <a:off x="2656840" y="14619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.sampler.strong/frozen/blue crystal"/>
            <p:cNvSpPr/>
            <p:nvPr/>
          </p:nvSpPr>
          <p:spPr>
            <a:xfrm>
              <a:off x="2656840" y="14619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d.sampler.weak"/>
          <p:cNvGrpSpPr/>
          <p:nvPr/>
        </p:nvGrpSpPr>
        <p:grpSpPr>
          <a:xfrm>
            <a:off x="2971800" y="1397000"/>
            <a:ext cx="1320800" cy="876300"/>
            <a:chOff x="2971800" y="1397000"/>
            <a:chExt cx="1320800" cy="876300"/>
          </a:xfrm>
        </p:grpSpPr>
        <p:sp>
          <p:nvSpPr>
            <p:cNvPr id="19" name="d.sampler.weak/box"/>
            <p:cNvSpPr/>
            <p:nvPr/>
          </p:nvSpPr>
          <p:spPr>
            <a:xfrm>
              <a:off x="2971800" y="1397000"/>
              <a:ext cx="1320800" cy="876300"/>
            </a:xfrm>
            <a:custGeom>
              <a:avLst/>
              <a:gdLst/>
              <a:ahLst/>
              <a:cxnLst/>
              <a:rect l="0" t="0" r="r" b="b"/>
              <a:pathLst>
                <a:path w="104000" h="69000">
                  <a:moveTo>
                    <a:pt x="4000" y="0"/>
                  </a:moveTo>
                  <a:lnTo>
                    <a:pt x="100000" y="0"/>
                  </a:lnTo>
                  <a:cubicBezTo>
                    <a:pt x="102209" y="0"/>
                    <a:pt x="104000" y="1791"/>
                    <a:pt x="104000" y="4000"/>
                  </a:cubicBezTo>
                  <a:lnTo>
                    <a:pt x="104000" y="65000"/>
                  </a:lnTo>
                  <a:cubicBezTo>
                    <a:pt x="104000" y="67209"/>
                    <a:pt x="102209" y="69000"/>
                    <a:pt x="100000" y="69000"/>
                  </a:cubicBezTo>
                  <a:lnTo>
                    <a:pt x="4000" y="69000"/>
                  </a:lnTo>
                  <a:cubicBezTo>
                    <a:pt x="1791" y="69000"/>
                    <a:pt x="0" y="67209"/>
                    <a:pt x="0" y="65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.sampler.weak/network spine"/>
            <p:cNvSpPr/>
            <p:nvPr/>
          </p:nvSpPr>
          <p:spPr>
            <a:xfrm>
              <a:off x="3238500" y="1708150"/>
              <a:ext cx="787400" cy="127"/>
            </a:xfrm>
            <a:custGeom>
              <a:avLst/>
              <a:gdLst/>
              <a:ahLst/>
              <a:cxnLst/>
              <a:rect l="0" t="0" r="r" b="b"/>
              <a:pathLst>
                <a:path w="62000" h="10">
                  <a:moveTo>
                    <a:pt x="0" y="0"/>
                  </a:moveTo>
                  <a:lnTo>
                    <a:pt x="62000" y="0"/>
                  </a:lnTo>
                </a:path>
              </a:pathLst>
            </a:custGeom>
            <a:noFill/>
            <a:ln w="1079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.sampler.weak/network block 0"/>
            <p:cNvSpPr/>
            <p:nvPr/>
          </p:nvSpPr>
          <p:spPr>
            <a:xfrm>
              <a:off x="3368421" y="1589087"/>
              <a:ext cx="133858" cy="238125"/>
            </a:xfrm>
            <a:custGeom>
              <a:avLst/>
              <a:gdLst/>
              <a:ahLst/>
              <a:cxnLst/>
              <a:rect l="0" t="0" r="r" b="b"/>
              <a:pathLst>
                <a:path w="10540" h="18750">
                  <a:moveTo>
                    <a:pt x="800" y="0"/>
                  </a:moveTo>
                  <a:lnTo>
                    <a:pt x="9740" y="0"/>
                  </a:lnTo>
                  <a:cubicBezTo>
                    <a:pt x="10182" y="0"/>
                    <a:pt x="10540" y="358"/>
                    <a:pt x="10540" y="800"/>
                  </a:cubicBezTo>
                  <a:lnTo>
                    <a:pt x="10540" y="17950"/>
                  </a:lnTo>
                  <a:cubicBezTo>
                    <a:pt x="10540" y="18392"/>
                    <a:pt x="10182" y="18750"/>
                    <a:pt x="9740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.sampler.weak/network block 1"/>
            <p:cNvSpPr/>
            <p:nvPr/>
          </p:nvSpPr>
          <p:spPr>
            <a:xfrm>
              <a:off x="3565271" y="1549400"/>
              <a:ext cx="133858" cy="317500"/>
            </a:xfrm>
            <a:custGeom>
              <a:avLst/>
              <a:gdLst/>
              <a:ahLst/>
              <a:cxnLst/>
              <a:rect l="0" t="0" r="r" b="b"/>
              <a:pathLst>
                <a:path w="10540" h="25000">
                  <a:moveTo>
                    <a:pt x="800" y="0"/>
                  </a:moveTo>
                  <a:lnTo>
                    <a:pt x="9740" y="0"/>
                  </a:lnTo>
                  <a:cubicBezTo>
                    <a:pt x="10182" y="0"/>
                    <a:pt x="10540" y="358"/>
                    <a:pt x="10540" y="800"/>
                  </a:cubicBezTo>
                  <a:lnTo>
                    <a:pt x="10540" y="24200"/>
                  </a:lnTo>
                  <a:cubicBezTo>
                    <a:pt x="10540" y="24642"/>
                    <a:pt x="10182" y="25000"/>
                    <a:pt x="9740" y="25000"/>
                  </a:cubicBezTo>
                  <a:lnTo>
                    <a:pt x="800" y="25000"/>
                  </a:lnTo>
                  <a:cubicBezTo>
                    <a:pt x="358" y="25000"/>
                    <a:pt x="0" y="24642"/>
                    <a:pt x="0" y="24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.sampler.weak/network block 2"/>
            <p:cNvSpPr/>
            <p:nvPr/>
          </p:nvSpPr>
          <p:spPr>
            <a:xfrm>
              <a:off x="3762121" y="1589087"/>
              <a:ext cx="133858" cy="238125"/>
            </a:xfrm>
            <a:custGeom>
              <a:avLst/>
              <a:gdLst/>
              <a:ahLst/>
              <a:cxnLst/>
              <a:rect l="0" t="0" r="r" b="b"/>
              <a:pathLst>
                <a:path w="10540" h="18750">
                  <a:moveTo>
                    <a:pt x="800" y="0"/>
                  </a:moveTo>
                  <a:lnTo>
                    <a:pt x="9740" y="0"/>
                  </a:lnTo>
                  <a:cubicBezTo>
                    <a:pt x="10182" y="0"/>
                    <a:pt x="10540" y="358"/>
                    <a:pt x="10540" y="800"/>
                  </a:cubicBezTo>
                  <a:lnTo>
                    <a:pt x="10540" y="17950"/>
                  </a:lnTo>
                  <a:cubicBezTo>
                    <a:pt x="10540" y="18392"/>
                    <a:pt x="10182" y="18750"/>
                    <a:pt x="9740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.sampler.weak/label"/>
            <p:cNvSpPr txBox="1"/>
            <p:nvPr/>
          </p:nvSpPr>
          <p:spPr>
            <a:xfrm>
              <a:off x="3009900" y="1943100"/>
              <a:ext cx="12446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Weak W</a:t>
              </a:r>
              <a:r>
                <a:rPr sz="15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</a:p>
          </p:txBody>
        </p:sp>
        <p:sp>
          <p:nvSpPr>
            <p:cNvPr id="25" name="d.sampler.weak/frozen/white outline"/>
            <p:cNvSpPr/>
            <p:nvPr/>
          </p:nvSpPr>
          <p:spPr>
            <a:xfrm>
              <a:off x="4066540" y="14619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.sampler.weak/frozen/blue crystal"/>
            <p:cNvSpPr/>
            <p:nvPr/>
          </p:nvSpPr>
          <p:spPr>
            <a:xfrm>
              <a:off x="4066540" y="14619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d.sampler.scale"/>
          <p:cNvGrpSpPr/>
          <p:nvPr/>
        </p:nvGrpSpPr>
        <p:grpSpPr>
          <a:xfrm>
            <a:off x="4381500" y="1397000"/>
            <a:ext cx="1320800" cy="876300"/>
            <a:chOff x="4381500" y="1397000"/>
            <a:chExt cx="1320800" cy="876300"/>
          </a:xfrm>
        </p:grpSpPr>
        <p:sp>
          <p:nvSpPr>
            <p:cNvPr id="28" name="d.sampler.scale/box"/>
            <p:cNvSpPr/>
            <p:nvPr/>
          </p:nvSpPr>
          <p:spPr>
            <a:xfrm>
              <a:off x="4381500" y="1397000"/>
              <a:ext cx="1320800" cy="876300"/>
            </a:xfrm>
            <a:custGeom>
              <a:avLst/>
              <a:gdLst/>
              <a:ahLst/>
              <a:cxnLst/>
              <a:rect l="0" t="0" r="r" b="b"/>
              <a:pathLst>
                <a:path w="104000" h="69000">
                  <a:moveTo>
                    <a:pt x="4000" y="0"/>
                  </a:moveTo>
                  <a:lnTo>
                    <a:pt x="100000" y="0"/>
                  </a:lnTo>
                  <a:cubicBezTo>
                    <a:pt x="102209" y="0"/>
                    <a:pt x="104000" y="1791"/>
                    <a:pt x="104000" y="4000"/>
                  </a:cubicBezTo>
                  <a:lnTo>
                    <a:pt x="104000" y="65000"/>
                  </a:lnTo>
                  <a:cubicBezTo>
                    <a:pt x="104000" y="67209"/>
                    <a:pt x="102209" y="69000"/>
                    <a:pt x="100000" y="69000"/>
                  </a:cubicBezTo>
                  <a:lnTo>
                    <a:pt x="4000" y="69000"/>
                  </a:lnTo>
                  <a:cubicBezTo>
                    <a:pt x="1791" y="69000"/>
                    <a:pt x="0" y="67209"/>
                    <a:pt x="0" y="65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d.sampler.scale/zero axis"/>
            <p:cNvSpPr/>
            <p:nvPr/>
          </p:nvSpPr>
          <p:spPr>
            <a:xfrm>
              <a:off x="4673600" y="1803400"/>
              <a:ext cx="736600" cy="127"/>
            </a:xfrm>
            <a:custGeom>
              <a:avLst/>
              <a:gdLst/>
              <a:ahLst/>
              <a:cxnLst/>
              <a:rect l="0" t="0" r="r" b="b"/>
              <a:pathLst>
                <a:path w="58000" h="10">
                  <a:moveTo>
                    <a:pt x="0" y="0"/>
                  </a:moveTo>
                  <a:lnTo>
                    <a:pt x="58000" y="0"/>
                  </a:lnTo>
                </a:path>
              </a:pathLst>
            </a:custGeom>
            <a:noFill/>
            <a:ln w="825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d.sampler.scale/schedule"/>
            <p:cNvSpPr/>
            <p:nvPr/>
          </p:nvSpPr>
          <p:spPr>
            <a:xfrm>
              <a:off x="4686300" y="1600200"/>
              <a:ext cx="723900" cy="292100"/>
            </a:xfrm>
            <a:custGeom>
              <a:avLst/>
              <a:gdLst/>
              <a:ahLst/>
              <a:cxnLst/>
              <a:rect l="0" t="0" r="r" b="b"/>
              <a:pathLst>
                <a:path w="57000" h="23000">
                  <a:moveTo>
                    <a:pt x="0" y="12000"/>
                  </a:moveTo>
                  <a:lnTo>
                    <a:pt x="13000" y="12000"/>
                  </a:lnTo>
                  <a:lnTo>
                    <a:pt x="13000" y="0"/>
                  </a:lnTo>
                  <a:lnTo>
                    <a:pt x="26000" y="0"/>
                  </a:lnTo>
                  <a:lnTo>
                    <a:pt x="26000" y="9000"/>
                  </a:lnTo>
                  <a:lnTo>
                    <a:pt x="37000" y="9000"/>
                  </a:lnTo>
                  <a:lnTo>
                    <a:pt x="37000" y="23000"/>
                  </a:lnTo>
                  <a:lnTo>
                    <a:pt x="48000" y="23000"/>
                  </a:lnTo>
                  <a:lnTo>
                    <a:pt x="48000" y="9000"/>
                  </a:lnTo>
                  <a:lnTo>
                    <a:pt x="57000" y="9000"/>
                  </a:lnTo>
                </a:path>
              </a:pathLst>
            </a:custGeom>
            <a:noFill/>
            <a:ln w="1714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d.sampler.scale/label"/>
            <p:cNvSpPr txBox="1"/>
            <p:nvPr/>
          </p:nvSpPr>
          <p:spPr>
            <a:xfrm>
              <a:off x="4419600" y="1943100"/>
              <a:ext cx="12446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Scale a</a:t>
              </a:r>
              <a:r>
                <a:rPr sz="15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</a:p>
          </p:txBody>
        </p:sp>
        <p:sp>
          <p:nvSpPr>
            <p:cNvPr id="32" name="d.sampler.scale/frozen/white outline"/>
            <p:cNvSpPr/>
            <p:nvPr/>
          </p:nvSpPr>
          <p:spPr>
            <a:xfrm>
              <a:off x="5476240" y="14619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d.sampler.scale/frozen/blue crystal"/>
            <p:cNvSpPr/>
            <p:nvPr/>
          </p:nvSpPr>
          <p:spPr>
            <a:xfrm>
              <a:off x="5476240" y="14619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" name="d.sampler"/>
          <p:cNvGrpSpPr/>
          <p:nvPr/>
        </p:nvGrpSpPr>
        <p:grpSpPr>
          <a:xfrm>
            <a:off x="1562100" y="2362200"/>
            <a:ext cx="4292600" cy="609600"/>
            <a:chOff x="1562100" y="2362200"/>
            <a:chExt cx="4292600" cy="609600"/>
          </a:xfrm>
        </p:grpSpPr>
        <p:sp>
          <p:nvSpPr>
            <p:cNvPr id="35" name="d.sampler/guided field"/>
            <p:cNvSpPr txBox="1"/>
            <p:nvPr/>
          </p:nvSpPr>
          <p:spPr>
            <a:xfrm>
              <a:off x="1562100" y="2362200"/>
              <a:ext cx="4140200" cy="317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S + a</a:t>
              </a:r>
              <a:r>
                <a:rPr sz="17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  <a:r>
                <a:rPr sz="17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(t)(S − W</a:t>
              </a:r>
              <a:r>
                <a:rPr sz="17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  <a:r>
                <a:rPr sz="17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)</a:t>
              </a:r>
            </a:p>
          </p:txBody>
        </p:sp>
        <p:sp>
          <p:nvSpPr>
            <p:cNvPr id="36" name="d.sampler/state 59.50000000000001"/>
            <p:cNvSpPr txBox="1"/>
            <p:nvPr/>
          </p:nvSpPr>
          <p:spPr>
            <a:xfrm>
              <a:off x="1936750" y="2692400"/>
              <a:ext cx="457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z</a:t>
              </a:r>
            </a:p>
          </p:txBody>
        </p:sp>
        <p:sp>
          <p:nvSpPr>
            <p:cNvPr id="37" name="d.sampler/state 171.5"/>
            <p:cNvSpPr txBox="1"/>
            <p:nvPr/>
          </p:nvSpPr>
          <p:spPr>
            <a:xfrm>
              <a:off x="3359150" y="2692400"/>
              <a:ext cx="457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t</a:t>
              </a:r>
            </a:p>
          </p:txBody>
        </p:sp>
        <p:sp>
          <p:nvSpPr>
            <p:cNvPr id="38" name="d.sampler/state 283.5"/>
            <p:cNvSpPr txBox="1"/>
            <p:nvPr/>
          </p:nvSpPr>
          <p:spPr>
            <a:xfrm>
              <a:off x="4781550" y="2692400"/>
              <a:ext cx="457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</a:p>
          </p:txBody>
        </p:sp>
        <p:sp>
          <p:nvSpPr>
            <p:cNvPr id="39" name="d.sampler/trajectory first"/>
            <p:cNvSpPr/>
            <p:nvPr/>
          </p:nvSpPr>
          <p:spPr>
            <a:xfrm>
              <a:off x="2444750" y="2832100"/>
              <a:ext cx="825500" cy="127"/>
            </a:xfrm>
            <a:custGeom>
              <a:avLst/>
              <a:gdLst/>
              <a:ahLst/>
              <a:cxnLst/>
              <a:rect l="0" t="0" r="r" b="b"/>
              <a:pathLst>
                <a:path w="65000" h="10">
                  <a:moveTo>
                    <a:pt x="0" y="0"/>
                  </a:moveTo>
                  <a:lnTo>
                    <a:pt x="65000" y="0"/>
                  </a:lnTo>
                </a:path>
              </a:pathLst>
            </a:custGeom>
            <a:noFill/>
            <a:ln w="13970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d.sampler/trajectory first head"/>
            <p:cNvSpPr/>
            <p:nvPr/>
          </p:nvSpPr>
          <p:spPr>
            <a:xfrm>
              <a:off x="3194050" y="27978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d.sampler/trajectory second"/>
            <p:cNvSpPr/>
            <p:nvPr/>
          </p:nvSpPr>
          <p:spPr>
            <a:xfrm>
              <a:off x="3905250" y="2832100"/>
              <a:ext cx="787400" cy="127"/>
            </a:xfrm>
            <a:custGeom>
              <a:avLst/>
              <a:gdLst/>
              <a:ahLst/>
              <a:cxnLst/>
              <a:rect l="0" t="0" r="r" b="b"/>
              <a:pathLst>
                <a:path w="62000" h="10">
                  <a:moveTo>
                    <a:pt x="0" y="0"/>
                  </a:moveTo>
                  <a:lnTo>
                    <a:pt x="62000" y="0"/>
                  </a:lnTo>
                </a:path>
              </a:pathLst>
            </a:custGeom>
            <a:noFill/>
            <a:ln w="13970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d.sampler/trajectory second head"/>
            <p:cNvSpPr/>
            <p:nvPr/>
          </p:nvSpPr>
          <p:spPr>
            <a:xfrm>
              <a:off x="4616450" y="27978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d.sampler/trajectory output"/>
            <p:cNvSpPr/>
            <p:nvPr/>
          </p:nvSpPr>
          <p:spPr>
            <a:xfrm>
              <a:off x="5289550" y="2832100"/>
              <a:ext cx="565150" cy="127"/>
            </a:xfrm>
            <a:custGeom>
              <a:avLst/>
              <a:gdLst/>
              <a:ahLst/>
              <a:cxnLst/>
              <a:rect l="0" t="0" r="r" b="b"/>
              <a:pathLst>
                <a:path w="44500" h="10">
                  <a:moveTo>
                    <a:pt x="0" y="0"/>
                  </a:moveTo>
                  <a:lnTo>
                    <a:pt x="44500" y="0"/>
                  </a:lnTo>
                </a:path>
              </a:pathLst>
            </a:custGeom>
            <a:noFill/>
            <a:ln w="13970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d.noise"/>
          <p:cNvGrpSpPr/>
          <p:nvPr/>
        </p:nvGrpSpPr>
        <p:grpSpPr>
          <a:xfrm>
            <a:off x="317500" y="1866900"/>
            <a:ext cx="1092200" cy="762000"/>
            <a:chOff x="317500" y="1866900"/>
            <a:chExt cx="1092200" cy="762000"/>
          </a:xfrm>
        </p:grpSpPr>
        <p:sp>
          <p:nvSpPr>
            <p:cNvPr id="45" name="d.noise/cell 0-0"/>
            <p:cNvSpPr/>
            <p:nvPr/>
          </p:nvSpPr>
          <p:spPr>
            <a:xfrm>
              <a:off x="406400" y="18669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d.noise/cell 1-0"/>
            <p:cNvSpPr/>
            <p:nvPr/>
          </p:nvSpPr>
          <p:spPr>
            <a:xfrm>
              <a:off x="475544" y="18669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d.noise/cell 2-0"/>
            <p:cNvSpPr/>
            <p:nvPr/>
          </p:nvSpPr>
          <p:spPr>
            <a:xfrm>
              <a:off x="544688" y="18669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d.noise/cell 3-0"/>
            <p:cNvSpPr/>
            <p:nvPr/>
          </p:nvSpPr>
          <p:spPr>
            <a:xfrm>
              <a:off x="613833" y="18669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d.noise/cell 4-0"/>
            <p:cNvSpPr/>
            <p:nvPr/>
          </p:nvSpPr>
          <p:spPr>
            <a:xfrm>
              <a:off x="682977" y="18669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d.noise/cell 5-0"/>
            <p:cNvSpPr/>
            <p:nvPr/>
          </p:nvSpPr>
          <p:spPr>
            <a:xfrm>
              <a:off x="752122" y="18669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d.noise/cell 6-0"/>
            <p:cNvSpPr/>
            <p:nvPr/>
          </p:nvSpPr>
          <p:spPr>
            <a:xfrm>
              <a:off x="821266" y="18669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d.noise/cell 7-0"/>
            <p:cNvSpPr/>
            <p:nvPr/>
          </p:nvSpPr>
          <p:spPr>
            <a:xfrm>
              <a:off x="890411" y="18669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d.noise/cell 8-0"/>
            <p:cNvSpPr/>
            <p:nvPr/>
          </p:nvSpPr>
          <p:spPr>
            <a:xfrm>
              <a:off x="959555" y="18669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d.noise/cell 0-1"/>
            <p:cNvSpPr/>
            <p:nvPr/>
          </p:nvSpPr>
          <p:spPr>
            <a:xfrm>
              <a:off x="406400" y="19388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d.noise/cell 1-1"/>
            <p:cNvSpPr/>
            <p:nvPr/>
          </p:nvSpPr>
          <p:spPr>
            <a:xfrm>
              <a:off x="475544" y="19388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d.noise/cell 2-1"/>
            <p:cNvSpPr/>
            <p:nvPr/>
          </p:nvSpPr>
          <p:spPr>
            <a:xfrm>
              <a:off x="544688" y="19388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d.noise/cell 3-1"/>
            <p:cNvSpPr/>
            <p:nvPr/>
          </p:nvSpPr>
          <p:spPr>
            <a:xfrm>
              <a:off x="613833" y="19388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d.noise/cell 4-1"/>
            <p:cNvSpPr/>
            <p:nvPr/>
          </p:nvSpPr>
          <p:spPr>
            <a:xfrm>
              <a:off x="682977" y="19388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d.noise/cell 5-1"/>
            <p:cNvSpPr/>
            <p:nvPr/>
          </p:nvSpPr>
          <p:spPr>
            <a:xfrm>
              <a:off x="752122" y="19388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d.noise/cell 6-1"/>
            <p:cNvSpPr/>
            <p:nvPr/>
          </p:nvSpPr>
          <p:spPr>
            <a:xfrm>
              <a:off x="821266" y="19388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d.noise/cell 7-1"/>
            <p:cNvSpPr/>
            <p:nvPr/>
          </p:nvSpPr>
          <p:spPr>
            <a:xfrm>
              <a:off x="890411" y="19388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d.noise/cell 8-1"/>
            <p:cNvSpPr/>
            <p:nvPr/>
          </p:nvSpPr>
          <p:spPr>
            <a:xfrm>
              <a:off x="959555" y="19388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d.noise/cell 0-2"/>
            <p:cNvSpPr/>
            <p:nvPr/>
          </p:nvSpPr>
          <p:spPr>
            <a:xfrm>
              <a:off x="406400" y="20108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d.noise/cell 1-2"/>
            <p:cNvSpPr/>
            <p:nvPr/>
          </p:nvSpPr>
          <p:spPr>
            <a:xfrm>
              <a:off x="475544" y="20108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d.noise/cell 2-2"/>
            <p:cNvSpPr/>
            <p:nvPr/>
          </p:nvSpPr>
          <p:spPr>
            <a:xfrm>
              <a:off x="544688" y="20108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d.noise/cell 3-2"/>
            <p:cNvSpPr/>
            <p:nvPr/>
          </p:nvSpPr>
          <p:spPr>
            <a:xfrm>
              <a:off x="613833" y="20108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d.noise/cell 4-2"/>
            <p:cNvSpPr/>
            <p:nvPr/>
          </p:nvSpPr>
          <p:spPr>
            <a:xfrm>
              <a:off x="682977" y="20108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d.noise/cell 5-2"/>
            <p:cNvSpPr/>
            <p:nvPr/>
          </p:nvSpPr>
          <p:spPr>
            <a:xfrm>
              <a:off x="752122" y="20108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d.noise/cell 6-2"/>
            <p:cNvSpPr/>
            <p:nvPr/>
          </p:nvSpPr>
          <p:spPr>
            <a:xfrm>
              <a:off x="821266" y="20108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d.noise/cell 7-2"/>
            <p:cNvSpPr/>
            <p:nvPr/>
          </p:nvSpPr>
          <p:spPr>
            <a:xfrm>
              <a:off x="890411" y="20108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d.noise/cell 8-2"/>
            <p:cNvSpPr/>
            <p:nvPr/>
          </p:nvSpPr>
          <p:spPr>
            <a:xfrm>
              <a:off x="959555" y="20108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d.noise/cell 0-3"/>
            <p:cNvSpPr/>
            <p:nvPr/>
          </p:nvSpPr>
          <p:spPr>
            <a:xfrm>
              <a:off x="406400" y="2082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d.noise/cell 1-3"/>
            <p:cNvSpPr/>
            <p:nvPr/>
          </p:nvSpPr>
          <p:spPr>
            <a:xfrm>
              <a:off x="475544" y="2082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d.noise/cell 2-3"/>
            <p:cNvSpPr/>
            <p:nvPr/>
          </p:nvSpPr>
          <p:spPr>
            <a:xfrm>
              <a:off x="544688" y="2082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d.noise/cell 3-3"/>
            <p:cNvSpPr/>
            <p:nvPr/>
          </p:nvSpPr>
          <p:spPr>
            <a:xfrm>
              <a:off x="613833" y="2082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d.noise/cell 4-3"/>
            <p:cNvSpPr/>
            <p:nvPr/>
          </p:nvSpPr>
          <p:spPr>
            <a:xfrm>
              <a:off x="682977" y="2082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94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d.noise/cell 5-3"/>
            <p:cNvSpPr/>
            <p:nvPr/>
          </p:nvSpPr>
          <p:spPr>
            <a:xfrm>
              <a:off x="752122" y="2082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d.noise/cell 6-3"/>
            <p:cNvSpPr/>
            <p:nvPr/>
          </p:nvSpPr>
          <p:spPr>
            <a:xfrm>
              <a:off x="821266" y="2082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d.noise/cell 7-3"/>
            <p:cNvSpPr/>
            <p:nvPr/>
          </p:nvSpPr>
          <p:spPr>
            <a:xfrm>
              <a:off x="890411" y="2082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d.noise/cell 8-3"/>
            <p:cNvSpPr/>
            <p:nvPr/>
          </p:nvSpPr>
          <p:spPr>
            <a:xfrm>
              <a:off x="959555" y="2082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d.noise/cell 0-4"/>
            <p:cNvSpPr/>
            <p:nvPr/>
          </p:nvSpPr>
          <p:spPr>
            <a:xfrm>
              <a:off x="406400" y="2154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d.noise/cell 1-4"/>
            <p:cNvSpPr/>
            <p:nvPr/>
          </p:nvSpPr>
          <p:spPr>
            <a:xfrm>
              <a:off x="475544" y="2154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d.noise/cell 2-4"/>
            <p:cNvSpPr/>
            <p:nvPr/>
          </p:nvSpPr>
          <p:spPr>
            <a:xfrm>
              <a:off x="544688" y="2154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d.noise/cell 3-4"/>
            <p:cNvSpPr/>
            <p:nvPr/>
          </p:nvSpPr>
          <p:spPr>
            <a:xfrm>
              <a:off x="613833" y="2154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d.noise/cell 4-4"/>
            <p:cNvSpPr/>
            <p:nvPr/>
          </p:nvSpPr>
          <p:spPr>
            <a:xfrm>
              <a:off x="682977" y="2154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d.noise/cell 5-4"/>
            <p:cNvSpPr/>
            <p:nvPr/>
          </p:nvSpPr>
          <p:spPr>
            <a:xfrm>
              <a:off x="752122" y="2154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d.noise/cell 6-4"/>
            <p:cNvSpPr/>
            <p:nvPr/>
          </p:nvSpPr>
          <p:spPr>
            <a:xfrm>
              <a:off x="821266" y="2154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d.noise/cell 7-4"/>
            <p:cNvSpPr/>
            <p:nvPr/>
          </p:nvSpPr>
          <p:spPr>
            <a:xfrm>
              <a:off x="890411" y="2154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d.noise/cell 8-4"/>
            <p:cNvSpPr/>
            <p:nvPr/>
          </p:nvSpPr>
          <p:spPr>
            <a:xfrm>
              <a:off x="959555" y="2154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3C3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d.noise/cell 0-5"/>
            <p:cNvSpPr/>
            <p:nvPr/>
          </p:nvSpPr>
          <p:spPr>
            <a:xfrm>
              <a:off x="406400" y="2226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d.noise/cell 1-5"/>
            <p:cNvSpPr/>
            <p:nvPr/>
          </p:nvSpPr>
          <p:spPr>
            <a:xfrm>
              <a:off x="475544" y="2226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d.noise/cell 2-5"/>
            <p:cNvSpPr/>
            <p:nvPr/>
          </p:nvSpPr>
          <p:spPr>
            <a:xfrm>
              <a:off x="544688" y="2226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d.noise/cell 3-5"/>
            <p:cNvSpPr/>
            <p:nvPr/>
          </p:nvSpPr>
          <p:spPr>
            <a:xfrm>
              <a:off x="613833" y="2226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9B9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d.noise/cell 4-5"/>
            <p:cNvSpPr/>
            <p:nvPr/>
          </p:nvSpPr>
          <p:spPr>
            <a:xfrm>
              <a:off x="682977" y="2226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d.noise/cell 5-5"/>
            <p:cNvSpPr/>
            <p:nvPr/>
          </p:nvSpPr>
          <p:spPr>
            <a:xfrm>
              <a:off x="752122" y="2226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d.noise/cell 6-5"/>
            <p:cNvSpPr/>
            <p:nvPr/>
          </p:nvSpPr>
          <p:spPr>
            <a:xfrm>
              <a:off x="821266" y="2226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d.noise/cell 7-5"/>
            <p:cNvSpPr/>
            <p:nvPr/>
          </p:nvSpPr>
          <p:spPr>
            <a:xfrm>
              <a:off x="890411" y="2226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d.noise/cell 8-5"/>
            <p:cNvSpPr/>
            <p:nvPr/>
          </p:nvSpPr>
          <p:spPr>
            <a:xfrm>
              <a:off x="959555" y="2226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d.noise/frame"/>
            <p:cNvSpPr/>
            <p:nvPr/>
          </p:nvSpPr>
          <p:spPr>
            <a:xfrm>
              <a:off x="406400" y="1866900"/>
              <a:ext cx="622300" cy="431800"/>
            </a:xfrm>
            <a:custGeom>
              <a:avLst/>
              <a:gdLst/>
              <a:ahLst/>
              <a:cxnLst/>
              <a:rect l="0" t="0" r="r" b="b"/>
              <a:pathLst>
                <a:path w="49000" h="34000">
                  <a:moveTo>
                    <a:pt x="1000" y="0"/>
                  </a:moveTo>
                  <a:lnTo>
                    <a:pt x="48000" y="0"/>
                  </a:lnTo>
                  <a:cubicBezTo>
                    <a:pt x="48552" y="0"/>
                    <a:pt x="49000" y="448"/>
                    <a:pt x="49000" y="1000"/>
                  </a:cubicBezTo>
                  <a:lnTo>
                    <a:pt x="49000" y="33000"/>
                  </a:lnTo>
                  <a:cubicBezTo>
                    <a:pt x="49000" y="33552"/>
                    <a:pt x="48552" y="34000"/>
                    <a:pt x="48000" y="34000"/>
                  </a:cubicBezTo>
                  <a:lnTo>
                    <a:pt x="1000" y="34000"/>
                  </a:lnTo>
                  <a:cubicBezTo>
                    <a:pt x="448" y="34000"/>
                    <a:pt x="0" y="33552"/>
                    <a:pt x="0" y="33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noFill/>
            <a:ln w="825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d.noise/label"/>
            <p:cNvSpPr txBox="1"/>
            <p:nvPr/>
          </p:nvSpPr>
          <p:spPr>
            <a:xfrm>
              <a:off x="317500" y="2362200"/>
              <a:ext cx="8001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Noise z</a:t>
              </a:r>
            </a:p>
          </p:txBody>
        </p:sp>
        <p:sp>
          <p:nvSpPr>
            <p:cNvPr id="101" name="d.noise/edge"/>
            <p:cNvSpPr/>
            <p:nvPr/>
          </p:nvSpPr>
          <p:spPr>
            <a:xfrm>
              <a:off x="1028700" y="2082800"/>
              <a:ext cx="381000" cy="127"/>
            </a:xfrm>
            <a:custGeom>
              <a:avLst/>
              <a:gdLst/>
              <a:ahLst/>
              <a:cxnLst/>
              <a:rect l="0" t="0" r="r" b="b"/>
              <a:pathLst>
                <a:path w="30000" h="10">
                  <a:moveTo>
                    <a:pt x="0" y="0"/>
                  </a:moveTo>
                  <a:lnTo>
                    <a:pt x="30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d.noise/edge head"/>
            <p:cNvSpPr/>
            <p:nvPr/>
          </p:nvSpPr>
          <p:spPr>
            <a:xfrm>
              <a:off x="1333500" y="20485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" name="d.class"/>
          <p:cNvGrpSpPr/>
          <p:nvPr/>
        </p:nvGrpSpPr>
        <p:grpSpPr>
          <a:xfrm>
            <a:off x="304800" y="2667000"/>
            <a:ext cx="1104900" cy="279400"/>
            <a:chOff x="304800" y="2667000"/>
            <a:chExt cx="1104900" cy="279400"/>
          </a:xfrm>
        </p:grpSpPr>
        <p:sp>
          <p:nvSpPr>
            <p:cNvPr id="104" name="d.class/label"/>
            <p:cNvSpPr txBox="1"/>
            <p:nvPr/>
          </p:nvSpPr>
          <p:spPr>
            <a:xfrm>
              <a:off x="304800" y="2667000"/>
              <a:ext cx="7874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Class c</a:t>
              </a:r>
            </a:p>
          </p:txBody>
        </p:sp>
        <p:sp>
          <p:nvSpPr>
            <p:cNvPr id="105" name="d.class/edge"/>
            <p:cNvSpPr/>
            <p:nvPr/>
          </p:nvSpPr>
          <p:spPr>
            <a:xfrm>
              <a:off x="1066800" y="2806700"/>
              <a:ext cx="342900" cy="127"/>
            </a:xfrm>
            <a:custGeom>
              <a:avLst/>
              <a:gdLst/>
              <a:ahLst/>
              <a:cxnLst/>
              <a:rect l="0" t="0" r="r" b="b"/>
              <a:pathLst>
                <a:path w="27000" h="10">
                  <a:moveTo>
                    <a:pt x="0" y="0"/>
                  </a:moveTo>
                  <a:lnTo>
                    <a:pt x="27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d.class/edge head"/>
            <p:cNvSpPr/>
            <p:nvPr/>
          </p:nvSpPr>
          <p:spPr>
            <a:xfrm>
              <a:off x="1333500" y="27724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" name="d.decode"/>
          <p:cNvGrpSpPr/>
          <p:nvPr/>
        </p:nvGrpSpPr>
        <p:grpSpPr>
          <a:xfrm>
            <a:off x="6248400" y="2503310"/>
            <a:ext cx="1422400" cy="633590"/>
            <a:chOff x="6248400" y="2503310"/>
            <a:chExt cx="1422400" cy="633590"/>
          </a:xfrm>
        </p:grpSpPr>
        <p:sp>
          <p:nvSpPr>
            <p:cNvPr id="108" name="d.decode/box"/>
            <p:cNvSpPr/>
            <p:nvPr/>
          </p:nvSpPr>
          <p:spPr>
            <a:xfrm>
              <a:off x="6248400" y="2527300"/>
              <a:ext cx="1422400" cy="609600"/>
            </a:xfrm>
            <a:custGeom>
              <a:avLst/>
              <a:gdLst/>
              <a:ahLst/>
              <a:cxnLst/>
              <a:rect l="0" t="0" r="r" b="b"/>
              <a:pathLst>
                <a:path w="112000" h="48000">
                  <a:moveTo>
                    <a:pt x="4000" y="0"/>
                  </a:moveTo>
                  <a:lnTo>
                    <a:pt x="108000" y="0"/>
                  </a:lnTo>
                  <a:cubicBezTo>
                    <a:pt x="110209" y="0"/>
                    <a:pt x="112000" y="1791"/>
                    <a:pt x="112000" y="4000"/>
                  </a:cubicBezTo>
                  <a:lnTo>
                    <a:pt x="112000" y="44000"/>
                  </a:lnTo>
                  <a:cubicBezTo>
                    <a:pt x="112000" y="46209"/>
                    <a:pt x="110209" y="48000"/>
                    <a:pt x="108000" y="48000"/>
                  </a:cubicBezTo>
                  <a:lnTo>
                    <a:pt x="4000" y="48000"/>
                  </a:lnTo>
                  <a:cubicBezTo>
                    <a:pt x="1791" y="48000"/>
                    <a:pt x="0" y="46209"/>
                    <a:pt x="0" y="44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d.decode/label"/>
            <p:cNvSpPr txBox="1"/>
            <p:nvPr/>
          </p:nvSpPr>
          <p:spPr>
            <a:xfrm>
              <a:off x="6337300" y="2578100"/>
              <a:ext cx="1206500" cy="508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VAE decode</a:t>
              </a:r>
            </a:p>
          </p:txBody>
        </p:sp>
        <p:sp>
          <p:nvSpPr>
            <p:cNvPr id="110" name="d.decode/frozen/white outline"/>
            <p:cNvSpPr/>
            <p:nvPr/>
          </p:nvSpPr>
          <p:spPr>
            <a:xfrm>
              <a:off x="7482840" y="25033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d.decode/frozen/blue crystal"/>
            <p:cNvSpPr/>
            <p:nvPr/>
          </p:nvSpPr>
          <p:spPr>
            <a:xfrm>
              <a:off x="7482840" y="25033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" name="d.fake"/>
          <p:cNvGrpSpPr/>
          <p:nvPr/>
        </p:nvGrpSpPr>
        <p:grpSpPr>
          <a:xfrm>
            <a:off x="8064500" y="2603500"/>
            <a:ext cx="1143000" cy="457200"/>
            <a:chOff x="8064500" y="2603500"/>
            <a:chExt cx="1143000" cy="457200"/>
          </a:xfrm>
        </p:grpSpPr>
        <p:sp>
          <p:nvSpPr>
            <p:cNvPr id="113" name="d.fake/box"/>
            <p:cNvSpPr/>
            <p:nvPr/>
          </p:nvSpPr>
          <p:spPr>
            <a:xfrm>
              <a:off x="8064500" y="2603500"/>
              <a:ext cx="1143000" cy="457200"/>
            </a:xfrm>
            <a:custGeom>
              <a:avLst/>
              <a:gdLst/>
              <a:ahLst/>
              <a:cxnLst/>
              <a:rect l="0" t="0" r="r" b="b"/>
              <a:pathLst>
                <a:path w="90000" h="36000">
                  <a:moveTo>
                    <a:pt x="3000" y="0"/>
                  </a:moveTo>
                  <a:lnTo>
                    <a:pt x="87000" y="0"/>
                  </a:lnTo>
                  <a:cubicBezTo>
                    <a:pt x="88657" y="0"/>
                    <a:pt x="90000" y="1343"/>
                    <a:pt x="90000" y="3000"/>
                  </a:cubicBezTo>
                  <a:lnTo>
                    <a:pt x="90000" y="33000"/>
                  </a:lnTo>
                  <a:cubicBezTo>
                    <a:pt x="90000" y="34657"/>
                    <a:pt x="88657" y="36000"/>
                    <a:pt x="87000" y="36000"/>
                  </a:cubicBezTo>
                  <a:lnTo>
                    <a:pt x="3000" y="36000"/>
                  </a:lnTo>
                  <a:cubicBezTo>
                    <a:pt x="1343" y="36000"/>
                    <a:pt x="0" y="34657"/>
                    <a:pt x="0" y="33000"/>
                  </a:cubicBezTo>
                  <a:lnTo>
                    <a:pt x="0" y="3000"/>
                  </a:lnTo>
                  <a:cubicBezTo>
                    <a:pt x="0" y="1343"/>
                    <a:pt x="1343" y="0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 w="1079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d.fake/accent"/>
            <p:cNvSpPr/>
            <p:nvPr/>
          </p:nvSpPr>
          <p:spPr>
            <a:xfrm>
              <a:off x="8064500" y="2603500"/>
              <a:ext cx="31750" cy="457200"/>
            </a:xfrm>
            <a:custGeom>
              <a:avLst/>
              <a:gdLst/>
              <a:ahLst/>
              <a:cxnLst/>
              <a:rect l="0" t="0" r="r" b="b"/>
              <a:pathLst>
                <a:path w="2500" h="36000">
                  <a:moveTo>
                    <a:pt x="0" y="0"/>
                  </a:moveTo>
                  <a:lnTo>
                    <a:pt x="2500" y="0"/>
                  </a:lnTo>
                  <a:cubicBezTo>
                    <a:pt x="2500" y="0"/>
                    <a:pt x="2500" y="0"/>
                    <a:pt x="2500" y="0"/>
                  </a:cubicBezTo>
                  <a:lnTo>
                    <a:pt x="2500" y="36000"/>
                  </a:lnTo>
                  <a:cubicBezTo>
                    <a:pt x="2500" y="36000"/>
                    <a:pt x="2500" y="36000"/>
                    <a:pt x="2500" y="36000"/>
                  </a:cubicBezTo>
                  <a:lnTo>
                    <a:pt x="0" y="36000"/>
                  </a:lnTo>
                  <a:cubicBezTo>
                    <a:pt x="0" y="36000"/>
                    <a:pt x="0" y="36000"/>
                    <a:pt x="0" y="3600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68D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d.fake/label"/>
            <p:cNvSpPr txBox="1"/>
            <p:nvPr/>
          </p:nvSpPr>
          <p:spPr>
            <a:xfrm>
              <a:off x="8140700" y="2641600"/>
              <a:ext cx="990600" cy="381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Fake 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</a:p>
          </p:txBody>
        </p:sp>
      </p:grpSp>
      <p:grpSp>
        <p:nvGrpSpPr>
          <p:cNvPr id="116" name="d.features"/>
          <p:cNvGrpSpPr/>
          <p:nvPr/>
        </p:nvGrpSpPr>
        <p:grpSpPr>
          <a:xfrm>
            <a:off x="9588500" y="2439810"/>
            <a:ext cx="1955800" cy="760590"/>
            <a:chOff x="9588500" y="2439810"/>
            <a:chExt cx="1955800" cy="760590"/>
          </a:xfrm>
        </p:grpSpPr>
        <p:sp>
          <p:nvSpPr>
            <p:cNvPr id="117" name="d.features/box"/>
            <p:cNvSpPr/>
            <p:nvPr/>
          </p:nvSpPr>
          <p:spPr>
            <a:xfrm>
              <a:off x="9588500" y="2463800"/>
              <a:ext cx="1955800" cy="736600"/>
            </a:xfrm>
            <a:custGeom>
              <a:avLst/>
              <a:gdLst/>
              <a:ahLst/>
              <a:cxnLst/>
              <a:rect l="0" t="0" r="r" b="b"/>
              <a:pathLst>
                <a:path w="154000" h="58000">
                  <a:moveTo>
                    <a:pt x="4000" y="0"/>
                  </a:moveTo>
                  <a:lnTo>
                    <a:pt x="150000" y="0"/>
                  </a:lnTo>
                  <a:cubicBezTo>
                    <a:pt x="152209" y="0"/>
                    <a:pt x="154000" y="1791"/>
                    <a:pt x="154000" y="4000"/>
                  </a:cubicBezTo>
                  <a:lnTo>
                    <a:pt x="154000" y="54000"/>
                  </a:lnTo>
                  <a:cubicBezTo>
                    <a:pt x="154000" y="56209"/>
                    <a:pt x="152209" y="58000"/>
                    <a:pt x="150000" y="58000"/>
                  </a:cubicBezTo>
                  <a:lnTo>
                    <a:pt x="4000" y="58000"/>
                  </a:lnTo>
                  <a:cubicBezTo>
                    <a:pt x="1791" y="58000"/>
                    <a:pt x="0" y="56209"/>
                    <a:pt x="0" y="54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d.features/plane 0"/>
            <p:cNvSpPr/>
            <p:nvPr/>
          </p:nvSpPr>
          <p:spPr>
            <a:xfrm>
              <a:off x="9740900" y="2641600"/>
              <a:ext cx="215900" cy="279400"/>
            </a:xfrm>
            <a:custGeom>
              <a:avLst/>
              <a:gdLst/>
              <a:ahLst/>
              <a:cxnLst/>
              <a:rect l="0" t="0" r="r" b="b"/>
              <a:pathLst>
                <a:path w="17000" h="22000">
                  <a:moveTo>
                    <a:pt x="1000" y="0"/>
                  </a:moveTo>
                  <a:lnTo>
                    <a:pt x="16000" y="0"/>
                  </a:lnTo>
                  <a:cubicBezTo>
                    <a:pt x="16552" y="0"/>
                    <a:pt x="17000" y="448"/>
                    <a:pt x="17000" y="1000"/>
                  </a:cubicBezTo>
                  <a:lnTo>
                    <a:pt x="17000" y="21000"/>
                  </a:lnTo>
                  <a:cubicBezTo>
                    <a:pt x="17000" y="21552"/>
                    <a:pt x="16552" y="22000"/>
                    <a:pt x="16000" y="22000"/>
                  </a:cubicBezTo>
                  <a:lnTo>
                    <a:pt x="1000" y="22000"/>
                  </a:lnTo>
                  <a:cubicBezTo>
                    <a:pt x="448" y="22000"/>
                    <a:pt x="0" y="21552"/>
                    <a:pt x="0" y="21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solidFill>
              <a:srgbClr val="F5F8FA"/>
            </a:solidFill>
            <a:ln w="889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d.features/plane 1"/>
            <p:cNvSpPr/>
            <p:nvPr/>
          </p:nvSpPr>
          <p:spPr>
            <a:xfrm>
              <a:off x="9791700" y="2692400"/>
              <a:ext cx="215900" cy="279400"/>
            </a:xfrm>
            <a:custGeom>
              <a:avLst/>
              <a:gdLst/>
              <a:ahLst/>
              <a:cxnLst/>
              <a:rect l="0" t="0" r="r" b="b"/>
              <a:pathLst>
                <a:path w="17000" h="22000">
                  <a:moveTo>
                    <a:pt x="1000" y="0"/>
                  </a:moveTo>
                  <a:lnTo>
                    <a:pt x="16000" y="0"/>
                  </a:lnTo>
                  <a:cubicBezTo>
                    <a:pt x="16552" y="0"/>
                    <a:pt x="17000" y="448"/>
                    <a:pt x="17000" y="1000"/>
                  </a:cubicBezTo>
                  <a:lnTo>
                    <a:pt x="17000" y="21000"/>
                  </a:lnTo>
                  <a:cubicBezTo>
                    <a:pt x="17000" y="21552"/>
                    <a:pt x="16552" y="22000"/>
                    <a:pt x="16000" y="22000"/>
                  </a:cubicBezTo>
                  <a:lnTo>
                    <a:pt x="1000" y="22000"/>
                  </a:lnTo>
                  <a:cubicBezTo>
                    <a:pt x="448" y="22000"/>
                    <a:pt x="0" y="21552"/>
                    <a:pt x="0" y="21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solidFill>
              <a:srgbClr val="D8E4EE"/>
            </a:solidFill>
            <a:ln w="889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.features/plane 2"/>
            <p:cNvSpPr/>
            <p:nvPr/>
          </p:nvSpPr>
          <p:spPr>
            <a:xfrm>
              <a:off x="9842500" y="2743200"/>
              <a:ext cx="215900" cy="279400"/>
            </a:xfrm>
            <a:custGeom>
              <a:avLst/>
              <a:gdLst/>
              <a:ahLst/>
              <a:cxnLst/>
              <a:rect l="0" t="0" r="r" b="b"/>
              <a:pathLst>
                <a:path w="17000" h="22000">
                  <a:moveTo>
                    <a:pt x="1000" y="0"/>
                  </a:moveTo>
                  <a:lnTo>
                    <a:pt x="16000" y="0"/>
                  </a:lnTo>
                  <a:cubicBezTo>
                    <a:pt x="16552" y="0"/>
                    <a:pt x="17000" y="448"/>
                    <a:pt x="17000" y="1000"/>
                  </a:cubicBezTo>
                  <a:lnTo>
                    <a:pt x="17000" y="21000"/>
                  </a:lnTo>
                  <a:cubicBezTo>
                    <a:pt x="17000" y="21552"/>
                    <a:pt x="16552" y="22000"/>
                    <a:pt x="16000" y="22000"/>
                  </a:cubicBezTo>
                  <a:lnTo>
                    <a:pt x="1000" y="22000"/>
                  </a:lnTo>
                  <a:cubicBezTo>
                    <a:pt x="448" y="22000"/>
                    <a:pt x="0" y="21552"/>
                    <a:pt x="0" y="21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solidFill>
              <a:srgbClr val="FFFFFF"/>
            </a:solidFill>
            <a:ln w="889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.features/label"/>
            <p:cNvSpPr txBox="1"/>
            <p:nvPr/>
          </p:nvSpPr>
          <p:spPr>
            <a:xfrm>
              <a:off x="10160000" y="2514600"/>
              <a:ext cx="1257300" cy="635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Inception φ</a:t>
              </a:r>
            </a:p>
          </p:txBody>
        </p:sp>
        <p:sp>
          <p:nvSpPr>
            <p:cNvPr id="122" name="d.features/frozen/white outline"/>
            <p:cNvSpPr/>
            <p:nvPr/>
          </p:nvSpPr>
          <p:spPr>
            <a:xfrm>
              <a:off x="11356340" y="24398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.features/frozen/blue crystal"/>
            <p:cNvSpPr/>
            <p:nvPr/>
          </p:nvSpPr>
          <p:spPr>
            <a:xfrm>
              <a:off x="11356340" y="24398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d.critic"/>
          <p:cNvGrpSpPr/>
          <p:nvPr/>
        </p:nvGrpSpPr>
        <p:grpSpPr>
          <a:xfrm>
            <a:off x="11938000" y="2417445"/>
            <a:ext cx="1841500" cy="782955"/>
            <a:chOff x="11938000" y="2417445"/>
            <a:chExt cx="1841500" cy="782955"/>
          </a:xfrm>
        </p:grpSpPr>
        <p:sp>
          <p:nvSpPr>
            <p:cNvPr id="125" name="d.critic/box"/>
            <p:cNvSpPr/>
            <p:nvPr/>
          </p:nvSpPr>
          <p:spPr>
            <a:xfrm>
              <a:off x="11938000" y="2463800"/>
              <a:ext cx="1841500" cy="736600"/>
            </a:xfrm>
            <a:custGeom>
              <a:avLst/>
              <a:gdLst/>
              <a:ahLst/>
              <a:cxnLst/>
              <a:rect l="0" t="0" r="r" b="b"/>
              <a:pathLst>
                <a:path w="145000" h="58000">
                  <a:moveTo>
                    <a:pt x="4000" y="0"/>
                  </a:moveTo>
                  <a:lnTo>
                    <a:pt x="141000" y="0"/>
                  </a:lnTo>
                  <a:cubicBezTo>
                    <a:pt x="143209" y="0"/>
                    <a:pt x="145000" y="1791"/>
                    <a:pt x="145000" y="4000"/>
                  </a:cubicBezTo>
                  <a:lnTo>
                    <a:pt x="145000" y="54000"/>
                  </a:lnTo>
                  <a:cubicBezTo>
                    <a:pt x="145000" y="56209"/>
                    <a:pt x="143209" y="58000"/>
                    <a:pt x="141000" y="58000"/>
                  </a:cubicBezTo>
                  <a:lnTo>
                    <a:pt x="4000" y="58000"/>
                  </a:lnTo>
                  <a:cubicBezTo>
                    <a:pt x="1791" y="58000"/>
                    <a:pt x="0" y="56209"/>
                    <a:pt x="0" y="54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6E8D8"/>
            </a:solidFill>
            <a:ln w="10160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.critic/network spine"/>
            <p:cNvSpPr/>
            <p:nvPr/>
          </p:nvSpPr>
          <p:spPr>
            <a:xfrm>
              <a:off x="12077700" y="2832100"/>
              <a:ext cx="431800" cy="127"/>
            </a:xfrm>
            <a:custGeom>
              <a:avLst/>
              <a:gdLst/>
              <a:ahLst/>
              <a:cxnLst/>
              <a:rect l="0" t="0" r="r" b="b"/>
              <a:pathLst>
                <a:path w="34000" h="10">
                  <a:moveTo>
                    <a:pt x="0" y="0"/>
                  </a:moveTo>
                  <a:lnTo>
                    <a:pt x="34000" y="0"/>
                  </a:lnTo>
                </a:path>
              </a:pathLst>
            </a:custGeom>
            <a:noFill/>
            <a:ln w="10795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d.critic/network block 0"/>
            <p:cNvSpPr/>
            <p:nvPr/>
          </p:nvSpPr>
          <p:spPr>
            <a:xfrm>
              <a:off x="12148947" y="2717800"/>
              <a:ext cx="73405" cy="228600"/>
            </a:xfrm>
            <a:custGeom>
              <a:avLst/>
              <a:gdLst/>
              <a:ahLst/>
              <a:cxnLst/>
              <a:rect l="0" t="0" r="r" b="b"/>
              <a:pathLst>
                <a:path w="5780" h="18000">
                  <a:moveTo>
                    <a:pt x="800" y="0"/>
                  </a:moveTo>
                  <a:lnTo>
                    <a:pt x="4980" y="0"/>
                  </a:lnTo>
                  <a:cubicBezTo>
                    <a:pt x="5422" y="0"/>
                    <a:pt x="5780" y="358"/>
                    <a:pt x="5780" y="800"/>
                  </a:cubicBezTo>
                  <a:lnTo>
                    <a:pt x="5780" y="17200"/>
                  </a:lnTo>
                  <a:cubicBezTo>
                    <a:pt x="5780" y="17642"/>
                    <a:pt x="5422" y="18000"/>
                    <a:pt x="4980" y="18000"/>
                  </a:cubicBezTo>
                  <a:lnTo>
                    <a:pt x="800" y="18000"/>
                  </a:lnTo>
                  <a:cubicBezTo>
                    <a:pt x="358" y="18000"/>
                    <a:pt x="0" y="17642"/>
                    <a:pt x="0" y="17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.critic/network block 1"/>
            <p:cNvSpPr/>
            <p:nvPr/>
          </p:nvSpPr>
          <p:spPr>
            <a:xfrm>
              <a:off x="12256897" y="2679700"/>
              <a:ext cx="73405" cy="304800"/>
            </a:xfrm>
            <a:custGeom>
              <a:avLst/>
              <a:gdLst/>
              <a:ahLst/>
              <a:cxnLst/>
              <a:rect l="0" t="0" r="r" b="b"/>
              <a:pathLst>
                <a:path w="5780" h="24000">
                  <a:moveTo>
                    <a:pt x="800" y="0"/>
                  </a:moveTo>
                  <a:lnTo>
                    <a:pt x="4980" y="0"/>
                  </a:lnTo>
                  <a:cubicBezTo>
                    <a:pt x="5422" y="0"/>
                    <a:pt x="5780" y="358"/>
                    <a:pt x="5780" y="800"/>
                  </a:cubicBezTo>
                  <a:lnTo>
                    <a:pt x="5780" y="23200"/>
                  </a:lnTo>
                  <a:cubicBezTo>
                    <a:pt x="5780" y="23642"/>
                    <a:pt x="5422" y="24000"/>
                    <a:pt x="4980" y="24000"/>
                  </a:cubicBezTo>
                  <a:lnTo>
                    <a:pt x="800" y="24000"/>
                  </a:lnTo>
                  <a:cubicBezTo>
                    <a:pt x="358" y="24000"/>
                    <a:pt x="0" y="23642"/>
                    <a:pt x="0" y="23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.critic/network block 2"/>
            <p:cNvSpPr/>
            <p:nvPr/>
          </p:nvSpPr>
          <p:spPr>
            <a:xfrm>
              <a:off x="12364847" y="2717800"/>
              <a:ext cx="73405" cy="228600"/>
            </a:xfrm>
            <a:custGeom>
              <a:avLst/>
              <a:gdLst/>
              <a:ahLst/>
              <a:cxnLst/>
              <a:rect l="0" t="0" r="r" b="b"/>
              <a:pathLst>
                <a:path w="5780" h="18000">
                  <a:moveTo>
                    <a:pt x="800" y="0"/>
                  </a:moveTo>
                  <a:lnTo>
                    <a:pt x="4980" y="0"/>
                  </a:lnTo>
                  <a:cubicBezTo>
                    <a:pt x="5422" y="0"/>
                    <a:pt x="5780" y="358"/>
                    <a:pt x="5780" y="800"/>
                  </a:cubicBezTo>
                  <a:lnTo>
                    <a:pt x="5780" y="17200"/>
                  </a:lnTo>
                  <a:cubicBezTo>
                    <a:pt x="5780" y="17642"/>
                    <a:pt x="5422" y="18000"/>
                    <a:pt x="4980" y="18000"/>
                  </a:cubicBezTo>
                  <a:lnTo>
                    <a:pt x="800" y="18000"/>
                  </a:lnTo>
                  <a:cubicBezTo>
                    <a:pt x="358" y="18000"/>
                    <a:pt x="0" y="17642"/>
                    <a:pt x="0" y="17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.critic/label"/>
            <p:cNvSpPr txBox="1"/>
            <p:nvPr/>
          </p:nvSpPr>
          <p:spPr>
            <a:xfrm>
              <a:off x="12547600" y="2514600"/>
              <a:ext cx="1104900" cy="635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D</a:t>
              </a:r>
              <a:r>
                <a:rPr sz="16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</a:p>
          </p:txBody>
        </p:sp>
        <p:sp>
          <p:nvSpPr>
            <p:cNvPr id="131" name="d.critic/trainable/red"/>
            <p:cNvSpPr/>
            <p:nvPr/>
          </p:nvSpPr>
          <p:spPr>
            <a:xfrm>
              <a:off x="13600176" y="2417445"/>
              <a:ext cx="174878" cy="181356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.critic/trainable/gold"/>
            <p:cNvSpPr/>
            <p:nvPr/>
          </p:nvSpPr>
          <p:spPr>
            <a:xfrm>
              <a:off x="13651992" y="2501646"/>
              <a:ext cx="77723" cy="84201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3" name="d.forward"/>
          <p:cNvGrpSpPr/>
          <p:nvPr/>
        </p:nvGrpSpPr>
        <p:grpSpPr>
          <a:xfrm>
            <a:off x="5854700" y="2797810"/>
            <a:ext cx="6083300" cy="68579"/>
            <a:chOff x="5854700" y="2797810"/>
            <a:chExt cx="6083300" cy="68579"/>
          </a:xfrm>
        </p:grpSpPr>
        <p:sp>
          <p:nvSpPr>
            <p:cNvPr id="134" name="d.forward/461"/>
            <p:cNvSpPr/>
            <p:nvPr/>
          </p:nvSpPr>
          <p:spPr>
            <a:xfrm>
              <a:off x="5854700" y="2832100"/>
              <a:ext cx="393700" cy="127"/>
            </a:xfrm>
            <a:custGeom>
              <a:avLst/>
              <a:gdLst/>
              <a:ahLst/>
              <a:cxnLst/>
              <a:rect l="0" t="0" r="r" b="b"/>
              <a:pathLst>
                <a:path w="31000" h="10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.forward/461 head"/>
            <p:cNvSpPr/>
            <p:nvPr/>
          </p:nvSpPr>
          <p:spPr>
            <a:xfrm>
              <a:off x="6172200" y="27978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d.forward/604"/>
            <p:cNvSpPr/>
            <p:nvPr/>
          </p:nvSpPr>
          <p:spPr>
            <a:xfrm>
              <a:off x="7670800" y="2832100"/>
              <a:ext cx="393700" cy="127"/>
            </a:xfrm>
            <a:custGeom>
              <a:avLst/>
              <a:gdLst/>
              <a:ahLst/>
              <a:cxnLst/>
              <a:rect l="0" t="0" r="r" b="b"/>
              <a:pathLst>
                <a:path w="31000" h="10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d.forward/604 head"/>
            <p:cNvSpPr/>
            <p:nvPr/>
          </p:nvSpPr>
          <p:spPr>
            <a:xfrm>
              <a:off x="7988300" y="27978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d.forward/725"/>
            <p:cNvSpPr/>
            <p:nvPr/>
          </p:nvSpPr>
          <p:spPr>
            <a:xfrm>
              <a:off x="9207500" y="2832100"/>
              <a:ext cx="381000" cy="127"/>
            </a:xfrm>
            <a:custGeom>
              <a:avLst/>
              <a:gdLst/>
              <a:ahLst/>
              <a:cxnLst/>
              <a:rect l="0" t="0" r="r" b="b"/>
              <a:pathLst>
                <a:path w="30000" h="10">
                  <a:moveTo>
                    <a:pt x="0" y="0"/>
                  </a:moveTo>
                  <a:lnTo>
                    <a:pt x="30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d.forward/725 head"/>
            <p:cNvSpPr/>
            <p:nvPr/>
          </p:nvSpPr>
          <p:spPr>
            <a:xfrm>
              <a:off x="9512300" y="27978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d.forward/909"/>
            <p:cNvSpPr/>
            <p:nvPr/>
          </p:nvSpPr>
          <p:spPr>
            <a:xfrm>
              <a:off x="11544300" y="2832100"/>
              <a:ext cx="393700" cy="127"/>
            </a:xfrm>
            <a:custGeom>
              <a:avLst/>
              <a:gdLst/>
              <a:ahLst/>
              <a:cxnLst/>
              <a:rect l="0" t="0" r="r" b="b"/>
              <a:pathLst>
                <a:path w="31000" h="10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d.forward/909 head"/>
            <p:cNvSpPr/>
            <p:nvPr/>
          </p:nvSpPr>
          <p:spPr>
            <a:xfrm>
              <a:off x="11861800" y="27978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2" name="d.condition"/>
          <p:cNvGrpSpPr/>
          <p:nvPr/>
        </p:nvGrpSpPr>
        <p:grpSpPr>
          <a:xfrm>
            <a:off x="12560300" y="1765300"/>
            <a:ext cx="533400" cy="698500"/>
            <a:chOff x="12560300" y="1765300"/>
            <a:chExt cx="533400" cy="698500"/>
          </a:xfrm>
        </p:grpSpPr>
        <p:sp>
          <p:nvSpPr>
            <p:cNvPr id="143" name="d.condition/label"/>
            <p:cNvSpPr txBox="1"/>
            <p:nvPr/>
          </p:nvSpPr>
          <p:spPr>
            <a:xfrm>
              <a:off x="12560300" y="1765300"/>
              <a:ext cx="5334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c</a:t>
              </a:r>
            </a:p>
          </p:txBody>
        </p:sp>
        <p:sp>
          <p:nvSpPr>
            <p:cNvPr id="144" name="d.condition/edge"/>
            <p:cNvSpPr/>
            <p:nvPr/>
          </p:nvSpPr>
          <p:spPr>
            <a:xfrm>
              <a:off x="12827000" y="2070100"/>
              <a:ext cx="127" cy="393700"/>
            </a:xfrm>
            <a:custGeom>
              <a:avLst/>
              <a:gdLst/>
              <a:ahLst/>
              <a:cxnLst/>
              <a:rect l="0" t="0" r="r" b="b"/>
              <a:pathLst>
                <a:path w="10" h="31000">
                  <a:moveTo>
                    <a:pt x="0" y="0"/>
                  </a:moveTo>
                  <a:lnTo>
                    <a:pt x="0" y="31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d.condition/edge head"/>
            <p:cNvSpPr/>
            <p:nvPr/>
          </p:nvSpPr>
          <p:spPr>
            <a:xfrm>
              <a:off x="12792710" y="2387600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6" name="d.real"/>
          <p:cNvGrpSpPr/>
          <p:nvPr/>
        </p:nvGrpSpPr>
        <p:grpSpPr>
          <a:xfrm>
            <a:off x="8305800" y="1231900"/>
            <a:ext cx="2294890" cy="1231900"/>
            <a:chOff x="8305800" y="1231900"/>
            <a:chExt cx="2294890" cy="1231900"/>
          </a:xfrm>
        </p:grpSpPr>
        <p:sp>
          <p:nvSpPr>
            <p:cNvPr id="147" name="d.real/box"/>
            <p:cNvSpPr/>
            <p:nvPr/>
          </p:nvSpPr>
          <p:spPr>
            <a:xfrm>
              <a:off x="8305800" y="1231900"/>
              <a:ext cx="1422400" cy="469900"/>
            </a:xfrm>
            <a:custGeom>
              <a:avLst/>
              <a:gdLst/>
              <a:ahLst/>
              <a:cxnLst/>
              <a:rect l="0" t="0" r="r" b="b"/>
              <a:pathLst>
                <a:path w="112000" h="37000">
                  <a:moveTo>
                    <a:pt x="3000" y="0"/>
                  </a:moveTo>
                  <a:lnTo>
                    <a:pt x="109000" y="0"/>
                  </a:lnTo>
                  <a:cubicBezTo>
                    <a:pt x="110657" y="0"/>
                    <a:pt x="112000" y="1343"/>
                    <a:pt x="112000" y="3000"/>
                  </a:cubicBezTo>
                  <a:lnTo>
                    <a:pt x="112000" y="34000"/>
                  </a:lnTo>
                  <a:cubicBezTo>
                    <a:pt x="112000" y="35657"/>
                    <a:pt x="110657" y="37000"/>
                    <a:pt x="109000" y="37000"/>
                  </a:cubicBezTo>
                  <a:lnTo>
                    <a:pt x="3000" y="37000"/>
                  </a:lnTo>
                  <a:cubicBezTo>
                    <a:pt x="1343" y="37000"/>
                    <a:pt x="0" y="35657"/>
                    <a:pt x="0" y="34000"/>
                  </a:cubicBezTo>
                  <a:lnTo>
                    <a:pt x="0" y="3000"/>
                  </a:lnTo>
                  <a:cubicBezTo>
                    <a:pt x="0" y="1343"/>
                    <a:pt x="1343" y="0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 w="1079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d.real/accent"/>
            <p:cNvSpPr/>
            <p:nvPr/>
          </p:nvSpPr>
          <p:spPr>
            <a:xfrm>
              <a:off x="8305800" y="1231900"/>
              <a:ext cx="31750" cy="469900"/>
            </a:xfrm>
            <a:custGeom>
              <a:avLst/>
              <a:gdLst/>
              <a:ahLst/>
              <a:cxnLst/>
              <a:rect l="0" t="0" r="r" b="b"/>
              <a:pathLst>
                <a:path w="2500" h="37000">
                  <a:moveTo>
                    <a:pt x="0" y="0"/>
                  </a:moveTo>
                  <a:lnTo>
                    <a:pt x="2500" y="0"/>
                  </a:lnTo>
                  <a:cubicBezTo>
                    <a:pt x="2500" y="0"/>
                    <a:pt x="2500" y="0"/>
                    <a:pt x="2500" y="0"/>
                  </a:cubicBezTo>
                  <a:lnTo>
                    <a:pt x="2500" y="37000"/>
                  </a:lnTo>
                  <a:cubicBezTo>
                    <a:pt x="2500" y="37000"/>
                    <a:pt x="2500" y="37000"/>
                    <a:pt x="2500" y="37000"/>
                  </a:cubicBezTo>
                  <a:lnTo>
                    <a:pt x="0" y="37000"/>
                  </a:lnTo>
                  <a:cubicBezTo>
                    <a:pt x="0" y="37000"/>
                    <a:pt x="0" y="37000"/>
                    <a:pt x="0" y="3700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56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d.real/label"/>
            <p:cNvSpPr txBox="1"/>
            <p:nvPr/>
          </p:nvSpPr>
          <p:spPr>
            <a:xfrm>
              <a:off x="8382000" y="1270000"/>
              <a:ext cx="1270000" cy="393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Real 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</a:p>
          </p:txBody>
        </p:sp>
        <p:sp>
          <p:nvSpPr>
            <p:cNvPr id="150" name="d.real/edge"/>
            <p:cNvSpPr/>
            <p:nvPr/>
          </p:nvSpPr>
          <p:spPr>
            <a:xfrm>
              <a:off x="9017000" y="1701800"/>
              <a:ext cx="1549400" cy="762000"/>
            </a:xfrm>
            <a:custGeom>
              <a:avLst/>
              <a:gdLst/>
              <a:ahLst/>
              <a:cxnLst/>
              <a:rect l="0" t="0" r="r" b="b"/>
              <a:pathLst>
                <a:path w="122000" h="60000">
                  <a:moveTo>
                    <a:pt x="0" y="0"/>
                  </a:moveTo>
                  <a:lnTo>
                    <a:pt x="0" y="31000"/>
                  </a:lnTo>
                  <a:lnTo>
                    <a:pt x="122000" y="31000"/>
                  </a:lnTo>
                  <a:lnTo>
                    <a:pt x="122000" y="60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d.real/edge head"/>
            <p:cNvSpPr/>
            <p:nvPr/>
          </p:nvSpPr>
          <p:spPr>
            <a:xfrm>
              <a:off x="10532110" y="2387600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2" name="d.detach"/>
          <p:cNvGrpSpPr/>
          <p:nvPr/>
        </p:nvGrpSpPr>
        <p:grpSpPr>
          <a:xfrm>
            <a:off x="8991600" y="2743200"/>
            <a:ext cx="901700" cy="584200"/>
            <a:chOff x="8991600" y="2743200"/>
            <a:chExt cx="901700" cy="584200"/>
          </a:xfrm>
        </p:grpSpPr>
        <p:sp>
          <p:nvSpPr>
            <p:cNvPr id="153" name="d.detach/gate"/>
            <p:cNvSpPr/>
            <p:nvPr/>
          </p:nvSpPr>
          <p:spPr>
            <a:xfrm>
              <a:off x="9385300" y="2743200"/>
              <a:ext cx="127" cy="177800"/>
            </a:xfrm>
            <a:custGeom>
              <a:avLst/>
              <a:gdLst/>
              <a:ahLst/>
              <a:cxnLst/>
              <a:rect l="0" t="0" r="r" b="b"/>
              <a:pathLst>
                <a:path w="10" h="14000">
                  <a:moveTo>
                    <a:pt x="0" y="0"/>
                  </a:moveTo>
                  <a:lnTo>
                    <a:pt x="0" y="14000"/>
                  </a:lnTo>
                </a:path>
              </a:pathLst>
            </a:custGeom>
            <a:noFill/>
            <a:ln w="25400">
              <a:solidFill>
                <a:srgbClr val="B864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d.detach/label"/>
            <p:cNvSpPr txBox="1"/>
            <p:nvPr/>
          </p:nvSpPr>
          <p:spPr>
            <a:xfrm>
              <a:off x="8991600" y="3060700"/>
              <a:ext cx="9017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00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detach</a:t>
              </a:r>
            </a:p>
          </p:txBody>
        </p:sp>
      </p:grpSp>
      <p:grpSp>
        <p:nvGrpSpPr>
          <p:cNvPr id="155" name="d.loss"/>
          <p:cNvGrpSpPr/>
          <p:nvPr/>
        </p:nvGrpSpPr>
        <p:grpSpPr>
          <a:xfrm>
            <a:off x="7264400" y="2832100"/>
            <a:ext cx="7112000" cy="1231900"/>
            <a:chOff x="7264400" y="2832100"/>
            <a:chExt cx="7112000" cy="1231900"/>
          </a:xfrm>
        </p:grpSpPr>
        <p:sp>
          <p:nvSpPr>
            <p:cNvPr id="156" name="d.loss/edge"/>
            <p:cNvSpPr/>
            <p:nvPr/>
          </p:nvSpPr>
          <p:spPr>
            <a:xfrm>
              <a:off x="13779500" y="2832100"/>
              <a:ext cx="431800" cy="647700"/>
            </a:xfrm>
            <a:custGeom>
              <a:avLst/>
              <a:gdLst/>
              <a:ahLst/>
              <a:cxnLst/>
              <a:rect l="0" t="0" r="r" b="b"/>
              <a:pathLst>
                <a:path w="34000" h="51000">
                  <a:moveTo>
                    <a:pt x="0" y="0"/>
                  </a:moveTo>
                  <a:lnTo>
                    <a:pt x="34000" y="0"/>
                  </a:lnTo>
                  <a:lnTo>
                    <a:pt x="34000" y="51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d.loss/edge head"/>
            <p:cNvSpPr/>
            <p:nvPr/>
          </p:nvSpPr>
          <p:spPr>
            <a:xfrm>
              <a:off x="14177010" y="3403600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d.loss/box"/>
            <p:cNvSpPr/>
            <p:nvPr/>
          </p:nvSpPr>
          <p:spPr>
            <a:xfrm>
              <a:off x="7264400" y="3479800"/>
              <a:ext cx="7112000" cy="584200"/>
            </a:xfrm>
            <a:custGeom>
              <a:avLst/>
              <a:gdLst/>
              <a:ahLst/>
              <a:cxnLst/>
              <a:rect l="0" t="0" r="r" b="b"/>
              <a:pathLst>
                <a:path w="560000" h="46000">
                  <a:moveTo>
                    <a:pt x="4000" y="0"/>
                  </a:moveTo>
                  <a:lnTo>
                    <a:pt x="556000" y="0"/>
                  </a:lnTo>
                  <a:cubicBezTo>
                    <a:pt x="558209" y="0"/>
                    <a:pt x="560000" y="1791"/>
                    <a:pt x="560000" y="4000"/>
                  </a:cubicBezTo>
                  <a:lnTo>
                    <a:pt x="560000" y="42000"/>
                  </a:lnTo>
                  <a:cubicBezTo>
                    <a:pt x="560000" y="44209"/>
                    <a:pt x="558209" y="46000"/>
                    <a:pt x="556000" y="46000"/>
                  </a:cubicBezTo>
                  <a:lnTo>
                    <a:pt x="4000" y="46000"/>
                  </a:lnTo>
                  <a:cubicBezTo>
                    <a:pt x="1791" y="46000"/>
                    <a:pt x="0" y="44209"/>
                    <a:pt x="0" y="42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CF7F2"/>
            </a:solidFill>
            <a:ln w="10160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d.loss/formula"/>
            <p:cNvSpPr txBox="1"/>
            <p:nvPr/>
          </p:nvSpPr>
          <p:spPr>
            <a:xfrm>
              <a:off x="7404100" y="3594100"/>
              <a:ext cx="6832600" cy="355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L</a:t>
              </a:r>
              <a:r>
                <a:rPr sz="16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D</a:t>
              </a:r>
              <a:r>
                <a:rPr sz="16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 = E[softplus(−d</a:t>
              </a:r>
              <a:r>
                <a:rPr sz="16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6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)]</a:t>
              </a:r>
              <a:r>
                <a:rPr sz="16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 + E[softplus(d</a:t>
              </a:r>
              <a:r>
                <a:rPr sz="16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  <a:r>
                <a:rPr sz="16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)] + (γ/2) R</a:t>
              </a:r>
              <a:r>
                <a:rPr sz="16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</a:p>
          </p:txBody>
        </p:sp>
      </p:grpSp>
      <p:grpSp>
        <p:nvGrpSpPr>
          <p:cNvPr id="160" name="d.regularizer"/>
          <p:cNvGrpSpPr/>
          <p:nvPr/>
        </p:nvGrpSpPr>
        <p:grpSpPr>
          <a:xfrm>
            <a:off x="1638300" y="3606800"/>
            <a:ext cx="5016500" cy="317500"/>
            <a:chOff x="1638300" y="3606800"/>
            <a:chExt cx="5016500" cy="317500"/>
          </a:xfrm>
        </p:grpSpPr>
        <p:sp>
          <p:nvSpPr>
            <p:cNvPr id="161" name="d.regularizer/note"/>
            <p:cNvSpPr txBox="1"/>
            <p:nvPr/>
          </p:nvSpPr>
          <p:spPr>
            <a:xfrm>
              <a:off x="1638300" y="3606800"/>
              <a:ext cx="5016500" cy="317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40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  <a:r>
                <a:rPr sz="14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: gradient penalty on real features</a:t>
              </a:r>
            </a:p>
          </p:txBody>
        </p:sp>
      </p:grpSp>
      <p:grpSp>
        <p:nvGrpSpPr>
          <p:cNvPr id="162" name="g.heading"/>
          <p:cNvGrpSpPr/>
          <p:nvPr/>
        </p:nvGrpSpPr>
        <p:grpSpPr>
          <a:xfrm>
            <a:off x="381000" y="4470400"/>
            <a:ext cx="14008100" cy="368300"/>
            <a:chOff x="381000" y="4470400"/>
            <a:chExt cx="14008100" cy="368300"/>
          </a:xfrm>
        </p:grpSpPr>
        <p:sp>
          <p:nvSpPr>
            <p:cNvPr id="163" name="g.heading/title"/>
            <p:cNvSpPr txBox="1"/>
            <p:nvPr/>
          </p:nvSpPr>
          <p:spPr>
            <a:xfrm>
              <a:off x="381000" y="4470400"/>
              <a:ext cx="8763000" cy="3683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2100" b="1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(b) Guidance update</a:t>
              </a:r>
            </a:p>
          </p:txBody>
        </p:sp>
        <p:sp>
          <p:nvSpPr>
            <p:cNvPr id="164" name="g.heading/parameters"/>
            <p:cNvSpPr txBox="1"/>
            <p:nvPr/>
          </p:nvSpPr>
          <p:spPr>
            <a:xfrm>
              <a:off x="9753600" y="4546600"/>
              <a:ext cx="4635500" cy="292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Update θ and α; freeze D</a:t>
              </a:r>
              <a:r>
                <a:rPr sz="150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</a:p>
          </p:txBody>
        </p:sp>
      </p:grpSp>
      <p:grpSp>
        <p:nvGrpSpPr>
          <p:cNvPr id="165" name="g.sampler"/>
          <p:cNvGrpSpPr/>
          <p:nvPr/>
        </p:nvGrpSpPr>
        <p:grpSpPr>
          <a:xfrm>
            <a:off x="1409700" y="5143500"/>
            <a:ext cx="4445000" cy="2273300"/>
            <a:chOff x="1409700" y="5143500"/>
            <a:chExt cx="4445000" cy="2273300"/>
          </a:xfrm>
        </p:grpSpPr>
        <p:sp>
          <p:nvSpPr>
            <p:cNvPr id="166" name="g.sampler/container"/>
            <p:cNvSpPr/>
            <p:nvPr/>
          </p:nvSpPr>
          <p:spPr>
            <a:xfrm>
              <a:off x="1409700" y="5143500"/>
              <a:ext cx="4445000" cy="2273300"/>
            </a:xfrm>
            <a:custGeom>
              <a:avLst/>
              <a:gdLst/>
              <a:ahLst/>
              <a:cxnLst/>
              <a:rect l="0" t="0" r="r" b="b"/>
              <a:pathLst>
                <a:path w="350000" h="179000">
                  <a:moveTo>
                    <a:pt x="5000" y="0"/>
                  </a:moveTo>
                  <a:lnTo>
                    <a:pt x="345000" y="0"/>
                  </a:lnTo>
                  <a:cubicBezTo>
                    <a:pt x="347761" y="0"/>
                    <a:pt x="350000" y="2239"/>
                    <a:pt x="350000" y="5000"/>
                  </a:cubicBezTo>
                  <a:lnTo>
                    <a:pt x="350000" y="174000"/>
                  </a:lnTo>
                  <a:cubicBezTo>
                    <a:pt x="350000" y="176761"/>
                    <a:pt x="347761" y="179000"/>
                    <a:pt x="345000" y="179000"/>
                  </a:cubicBezTo>
                  <a:lnTo>
                    <a:pt x="5000" y="179000"/>
                  </a:lnTo>
                  <a:cubicBezTo>
                    <a:pt x="2239" y="179000"/>
                    <a:pt x="0" y="176761"/>
                    <a:pt x="0" y="174000"/>
                  </a:cubicBezTo>
                  <a:lnTo>
                    <a:pt x="0" y="5000"/>
                  </a:lnTo>
                  <a:cubicBezTo>
                    <a:pt x="0" y="2239"/>
                    <a:pt x="2239" y="0"/>
                    <a:pt x="5000" y="0"/>
                  </a:cubicBezTo>
                  <a:close/>
                </a:path>
              </a:pathLst>
            </a:custGeom>
            <a:solidFill>
              <a:srgbClr val="FAFCFD"/>
            </a:solidFill>
            <a:ln w="11430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g.sampler/title"/>
            <p:cNvSpPr txBox="1"/>
            <p:nvPr/>
          </p:nvSpPr>
          <p:spPr>
            <a:xfrm>
              <a:off x="1562100" y="5245100"/>
              <a:ext cx="41402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00" b="1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Full-trajectory sampler</a:t>
              </a:r>
            </a:p>
          </p:txBody>
        </p:sp>
      </p:grpSp>
      <p:grpSp>
        <p:nvGrpSpPr>
          <p:cNvPr id="168" name="g.sampler.strong"/>
          <p:cNvGrpSpPr/>
          <p:nvPr/>
        </p:nvGrpSpPr>
        <p:grpSpPr>
          <a:xfrm>
            <a:off x="1562100" y="5676900"/>
            <a:ext cx="1320800" cy="876300"/>
            <a:chOff x="1562100" y="5676900"/>
            <a:chExt cx="1320800" cy="876300"/>
          </a:xfrm>
        </p:grpSpPr>
        <p:sp>
          <p:nvSpPr>
            <p:cNvPr id="169" name="g.sampler.strong/box"/>
            <p:cNvSpPr/>
            <p:nvPr/>
          </p:nvSpPr>
          <p:spPr>
            <a:xfrm>
              <a:off x="1562100" y="5676900"/>
              <a:ext cx="1320800" cy="876300"/>
            </a:xfrm>
            <a:custGeom>
              <a:avLst/>
              <a:gdLst/>
              <a:ahLst/>
              <a:cxnLst/>
              <a:rect l="0" t="0" r="r" b="b"/>
              <a:pathLst>
                <a:path w="104000" h="69000">
                  <a:moveTo>
                    <a:pt x="4000" y="0"/>
                  </a:moveTo>
                  <a:lnTo>
                    <a:pt x="100000" y="0"/>
                  </a:lnTo>
                  <a:cubicBezTo>
                    <a:pt x="102209" y="0"/>
                    <a:pt x="104000" y="1791"/>
                    <a:pt x="104000" y="4000"/>
                  </a:cubicBezTo>
                  <a:lnTo>
                    <a:pt x="104000" y="65000"/>
                  </a:lnTo>
                  <a:cubicBezTo>
                    <a:pt x="104000" y="67209"/>
                    <a:pt x="102209" y="69000"/>
                    <a:pt x="100000" y="69000"/>
                  </a:cubicBezTo>
                  <a:lnTo>
                    <a:pt x="4000" y="69000"/>
                  </a:lnTo>
                  <a:cubicBezTo>
                    <a:pt x="1791" y="69000"/>
                    <a:pt x="0" y="67209"/>
                    <a:pt x="0" y="65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g.sampler.strong/network spine"/>
            <p:cNvSpPr/>
            <p:nvPr/>
          </p:nvSpPr>
          <p:spPr>
            <a:xfrm>
              <a:off x="1828800" y="5988050"/>
              <a:ext cx="787400" cy="127"/>
            </a:xfrm>
            <a:custGeom>
              <a:avLst/>
              <a:gdLst/>
              <a:ahLst/>
              <a:cxnLst/>
              <a:rect l="0" t="0" r="r" b="b"/>
              <a:pathLst>
                <a:path w="62000" h="10">
                  <a:moveTo>
                    <a:pt x="0" y="0"/>
                  </a:moveTo>
                  <a:lnTo>
                    <a:pt x="62000" y="0"/>
                  </a:lnTo>
                </a:path>
              </a:pathLst>
            </a:custGeom>
            <a:noFill/>
            <a:ln w="1079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g.sampler.strong/network block 0"/>
            <p:cNvSpPr/>
            <p:nvPr/>
          </p:nvSpPr>
          <p:spPr>
            <a:xfrm>
              <a:off x="1932736" y="5868987"/>
              <a:ext cx="107086" cy="238125"/>
            </a:xfrm>
            <a:custGeom>
              <a:avLst/>
              <a:gdLst/>
              <a:ahLst/>
              <a:cxnLst/>
              <a:rect l="0" t="0" r="r" b="b"/>
              <a:pathLst>
                <a:path w="8432" h="1875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17950"/>
                  </a:lnTo>
                  <a:cubicBezTo>
                    <a:pt x="8432" y="18392"/>
                    <a:pt x="8074" y="18750"/>
                    <a:pt x="7632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g.sampler.strong/network block 1"/>
            <p:cNvSpPr/>
            <p:nvPr/>
          </p:nvSpPr>
          <p:spPr>
            <a:xfrm>
              <a:off x="2090216" y="5829300"/>
              <a:ext cx="107086" cy="317500"/>
            </a:xfrm>
            <a:custGeom>
              <a:avLst/>
              <a:gdLst/>
              <a:ahLst/>
              <a:cxnLst/>
              <a:rect l="0" t="0" r="r" b="b"/>
              <a:pathLst>
                <a:path w="8432" h="2500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24200"/>
                  </a:lnTo>
                  <a:cubicBezTo>
                    <a:pt x="8432" y="24642"/>
                    <a:pt x="8074" y="25000"/>
                    <a:pt x="7632" y="25000"/>
                  </a:cubicBezTo>
                  <a:lnTo>
                    <a:pt x="800" y="25000"/>
                  </a:lnTo>
                  <a:cubicBezTo>
                    <a:pt x="358" y="25000"/>
                    <a:pt x="0" y="24642"/>
                    <a:pt x="0" y="24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g.sampler.strong/network block 2"/>
            <p:cNvSpPr/>
            <p:nvPr/>
          </p:nvSpPr>
          <p:spPr>
            <a:xfrm>
              <a:off x="2247696" y="5829300"/>
              <a:ext cx="107086" cy="317500"/>
            </a:xfrm>
            <a:custGeom>
              <a:avLst/>
              <a:gdLst/>
              <a:ahLst/>
              <a:cxnLst/>
              <a:rect l="0" t="0" r="r" b="b"/>
              <a:pathLst>
                <a:path w="8432" h="2500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24200"/>
                  </a:lnTo>
                  <a:cubicBezTo>
                    <a:pt x="8432" y="24642"/>
                    <a:pt x="8074" y="25000"/>
                    <a:pt x="7632" y="25000"/>
                  </a:cubicBezTo>
                  <a:lnTo>
                    <a:pt x="800" y="25000"/>
                  </a:lnTo>
                  <a:cubicBezTo>
                    <a:pt x="358" y="25000"/>
                    <a:pt x="0" y="24642"/>
                    <a:pt x="0" y="24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g.sampler.strong/network block 3"/>
            <p:cNvSpPr/>
            <p:nvPr/>
          </p:nvSpPr>
          <p:spPr>
            <a:xfrm>
              <a:off x="2405176" y="5868987"/>
              <a:ext cx="107086" cy="238125"/>
            </a:xfrm>
            <a:custGeom>
              <a:avLst/>
              <a:gdLst/>
              <a:ahLst/>
              <a:cxnLst/>
              <a:rect l="0" t="0" r="r" b="b"/>
              <a:pathLst>
                <a:path w="8432" h="18750">
                  <a:moveTo>
                    <a:pt x="800" y="0"/>
                  </a:moveTo>
                  <a:lnTo>
                    <a:pt x="7632" y="0"/>
                  </a:lnTo>
                  <a:cubicBezTo>
                    <a:pt x="8074" y="0"/>
                    <a:pt x="8432" y="358"/>
                    <a:pt x="8432" y="800"/>
                  </a:cubicBezTo>
                  <a:lnTo>
                    <a:pt x="8432" y="17950"/>
                  </a:lnTo>
                  <a:cubicBezTo>
                    <a:pt x="8432" y="18392"/>
                    <a:pt x="8074" y="18750"/>
                    <a:pt x="7632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g.sampler.strong/label"/>
            <p:cNvSpPr txBox="1"/>
            <p:nvPr/>
          </p:nvSpPr>
          <p:spPr>
            <a:xfrm>
              <a:off x="1600200" y="6223000"/>
              <a:ext cx="12446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Strong S</a:t>
              </a:r>
            </a:p>
          </p:txBody>
        </p:sp>
        <p:sp>
          <p:nvSpPr>
            <p:cNvPr id="176" name="g.sampler.strong/frozen/white outline"/>
            <p:cNvSpPr/>
            <p:nvPr/>
          </p:nvSpPr>
          <p:spPr>
            <a:xfrm>
              <a:off x="2656840" y="57418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g.sampler.strong/frozen/blue crystal"/>
            <p:cNvSpPr/>
            <p:nvPr/>
          </p:nvSpPr>
          <p:spPr>
            <a:xfrm>
              <a:off x="2656840" y="5741810"/>
              <a:ext cx="172720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8" name="g.sampler.weak"/>
          <p:cNvGrpSpPr/>
          <p:nvPr/>
        </p:nvGrpSpPr>
        <p:grpSpPr>
          <a:xfrm>
            <a:off x="2971800" y="5676900"/>
            <a:ext cx="1320800" cy="876300"/>
            <a:chOff x="2971800" y="5676900"/>
            <a:chExt cx="1320800" cy="876300"/>
          </a:xfrm>
        </p:grpSpPr>
        <p:sp>
          <p:nvSpPr>
            <p:cNvPr id="179" name="g.sampler.weak/box"/>
            <p:cNvSpPr/>
            <p:nvPr/>
          </p:nvSpPr>
          <p:spPr>
            <a:xfrm>
              <a:off x="2971800" y="5676900"/>
              <a:ext cx="1320800" cy="876300"/>
            </a:xfrm>
            <a:custGeom>
              <a:avLst/>
              <a:gdLst/>
              <a:ahLst/>
              <a:cxnLst/>
              <a:rect l="0" t="0" r="r" b="b"/>
              <a:pathLst>
                <a:path w="104000" h="69000">
                  <a:moveTo>
                    <a:pt x="4000" y="0"/>
                  </a:moveTo>
                  <a:lnTo>
                    <a:pt x="100000" y="0"/>
                  </a:lnTo>
                  <a:cubicBezTo>
                    <a:pt x="102209" y="0"/>
                    <a:pt x="104000" y="1791"/>
                    <a:pt x="104000" y="4000"/>
                  </a:cubicBezTo>
                  <a:lnTo>
                    <a:pt x="104000" y="65000"/>
                  </a:lnTo>
                  <a:cubicBezTo>
                    <a:pt x="104000" y="67209"/>
                    <a:pt x="102209" y="69000"/>
                    <a:pt x="100000" y="69000"/>
                  </a:cubicBezTo>
                  <a:lnTo>
                    <a:pt x="4000" y="69000"/>
                  </a:lnTo>
                  <a:cubicBezTo>
                    <a:pt x="1791" y="69000"/>
                    <a:pt x="0" y="67209"/>
                    <a:pt x="0" y="65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6E8D8"/>
            </a:solidFill>
            <a:ln w="10160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g.sampler.weak/network spine"/>
            <p:cNvSpPr/>
            <p:nvPr/>
          </p:nvSpPr>
          <p:spPr>
            <a:xfrm>
              <a:off x="3238500" y="5988050"/>
              <a:ext cx="787400" cy="127"/>
            </a:xfrm>
            <a:custGeom>
              <a:avLst/>
              <a:gdLst/>
              <a:ahLst/>
              <a:cxnLst/>
              <a:rect l="0" t="0" r="r" b="b"/>
              <a:pathLst>
                <a:path w="62000" h="10">
                  <a:moveTo>
                    <a:pt x="0" y="0"/>
                  </a:moveTo>
                  <a:lnTo>
                    <a:pt x="62000" y="0"/>
                  </a:lnTo>
                </a:path>
              </a:pathLst>
            </a:custGeom>
            <a:noFill/>
            <a:ln w="10795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g.sampler.weak/network block 0"/>
            <p:cNvSpPr/>
            <p:nvPr/>
          </p:nvSpPr>
          <p:spPr>
            <a:xfrm>
              <a:off x="3368421" y="5868987"/>
              <a:ext cx="133858" cy="238125"/>
            </a:xfrm>
            <a:custGeom>
              <a:avLst/>
              <a:gdLst/>
              <a:ahLst/>
              <a:cxnLst/>
              <a:rect l="0" t="0" r="r" b="b"/>
              <a:pathLst>
                <a:path w="10540" h="18750">
                  <a:moveTo>
                    <a:pt x="800" y="0"/>
                  </a:moveTo>
                  <a:lnTo>
                    <a:pt x="9740" y="0"/>
                  </a:lnTo>
                  <a:cubicBezTo>
                    <a:pt x="10182" y="0"/>
                    <a:pt x="10540" y="358"/>
                    <a:pt x="10540" y="800"/>
                  </a:cubicBezTo>
                  <a:lnTo>
                    <a:pt x="10540" y="17950"/>
                  </a:lnTo>
                  <a:cubicBezTo>
                    <a:pt x="10540" y="18392"/>
                    <a:pt x="10182" y="18750"/>
                    <a:pt x="9740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g.sampler.weak/network block 1"/>
            <p:cNvSpPr/>
            <p:nvPr/>
          </p:nvSpPr>
          <p:spPr>
            <a:xfrm>
              <a:off x="3565271" y="5829300"/>
              <a:ext cx="133858" cy="317500"/>
            </a:xfrm>
            <a:custGeom>
              <a:avLst/>
              <a:gdLst/>
              <a:ahLst/>
              <a:cxnLst/>
              <a:rect l="0" t="0" r="r" b="b"/>
              <a:pathLst>
                <a:path w="10540" h="25000">
                  <a:moveTo>
                    <a:pt x="800" y="0"/>
                  </a:moveTo>
                  <a:lnTo>
                    <a:pt x="9740" y="0"/>
                  </a:lnTo>
                  <a:cubicBezTo>
                    <a:pt x="10182" y="0"/>
                    <a:pt x="10540" y="358"/>
                    <a:pt x="10540" y="800"/>
                  </a:cubicBezTo>
                  <a:lnTo>
                    <a:pt x="10540" y="24200"/>
                  </a:lnTo>
                  <a:cubicBezTo>
                    <a:pt x="10540" y="24642"/>
                    <a:pt x="10182" y="25000"/>
                    <a:pt x="9740" y="25000"/>
                  </a:cubicBezTo>
                  <a:lnTo>
                    <a:pt x="800" y="25000"/>
                  </a:lnTo>
                  <a:cubicBezTo>
                    <a:pt x="358" y="25000"/>
                    <a:pt x="0" y="24642"/>
                    <a:pt x="0" y="24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g.sampler.weak/network block 2"/>
            <p:cNvSpPr/>
            <p:nvPr/>
          </p:nvSpPr>
          <p:spPr>
            <a:xfrm>
              <a:off x="3762121" y="5868987"/>
              <a:ext cx="133858" cy="238125"/>
            </a:xfrm>
            <a:custGeom>
              <a:avLst/>
              <a:gdLst/>
              <a:ahLst/>
              <a:cxnLst/>
              <a:rect l="0" t="0" r="r" b="b"/>
              <a:pathLst>
                <a:path w="10540" h="18750">
                  <a:moveTo>
                    <a:pt x="800" y="0"/>
                  </a:moveTo>
                  <a:lnTo>
                    <a:pt x="9740" y="0"/>
                  </a:lnTo>
                  <a:cubicBezTo>
                    <a:pt x="10182" y="0"/>
                    <a:pt x="10540" y="358"/>
                    <a:pt x="10540" y="800"/>
                  </a:cubicBezTo>
                  <a:lnTo>
                    <a:pt x="10540" y="17950"/>
                  </a:lnTo>
                  <a:cubicBezTo>
                    <a:pt x="10540" y="18392"/>
                    <a:pt x="10182" y="18750"/>
                    <a:pt x="9740" y="18750"/>
                  </a:cubicBezTo>
                  <a:lnTo>
                    <a:pt x="800" y="18750"/>
                  </a:lnTo>
                  <a:cubicBezTo>
                    <a:pt x="358" y="18750"/>
                    <a:pt x="0" y="18392"/>
                    <a:pt x="0" y="1795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D5A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g.sampler.weak/label"/>
            <p:cNvSpPr txBox="1"/>
            <p:nvPr/>
          </p:nvSpPr>
          <p:spPr>
            <a:xfrm>
              <a:off x="3009900" y="6223000"/>
              <a:ext cx="12446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Weak W</a:t>
              </a:r>
              <a:r>
                <a:rPr sz="15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</a:p>
          </p:txBody>
        </p:sp>
        <p:sp>
          <p:nvSpPr>
            <p:cNvPr id="185" name="g.sampler.weak/trainable/red"/>
            <p:cNvSpPr/>
            <p:nvPr/>
          </p:nvSpPr>
          <p:spPr>
            <a:xfrm>
              <a:off x="4075176" y="5719445"/>
              <a:ext cx="174878" cy="181355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g.sampler.weak/trainable/gold"/>
            <p:cNvSpPr/>
            <p:nvPr/>
          </p:nvSpPr>
          <p:spPr>
            <a:xfrm>
              <a:off x="4126991" y="5803646"/>
              <a:ext cx="77724" cy="84200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7" name="g.sampler.scale"/>
          <p:cNvGrpSpPr/>
          <p:nvPr/>
        </p:nvGrpSpPr>
        <p:grpSpPr>
          <a:xfrm>
            <a:off x="4381500" y="5676900"/>
            <a:ext cx="1320800" cy="876300"/>
            <a:chOff x="4381500" y="5676900"/>
            <a:chExt cx="1320800" cy="876300"/>
          </a:xfrm>
        </p:grpSpPr>
        <p:sp>
          <p:nvSpPr>
            <p:cNvPr id="188" name="g.sampler.scale/box"/>
            <p:cNvSpPr/>
            <p:nvPr/>
          </p:nvSpPr>
          <p:spPr>
            <a:xfrm>
              <a:off x="4381500" y="5676900"/>
              <a:ext cx="1320800" cy="876300"/>
            </a:xfrm>
            <a:custGeom>
              <a:avLst/>
              <a:gdLst/>
              <a:ahLst/>
              <a:cxnLst/>
              <a:rect l="0" t="0" r="r" b="b"/>
              <a:pathLst>
                <a:path w="104000" h="69000">
                  <a:moveTo>
                    <a:pt x="4000" y="0"/>
                  </a:moveTo>
                  <a:lnTo>
                    <a:pt x="100000" y="0"/>
                  </a:lnTo>
                  <a:cubicBezTo>
                    <a:pt x="102209" y="0"/>
                    <a:pt x="104000" y="1791"/>
                    <a:pt x="104000" y="4000"/>
                  </a:cubicBezTo>
                  <a:lnTo>
                    <a:pt x="104000" y="65000"/>
                  </a:lnTo>
                  <a:cubicBezTo>
                    <a:pt x="104000" y="67209"/>
                    <a:pt x="102209" y="69000"/>
                    <a:pt x="100000" y="69000"/>
                  </a:cubicBezTo>
                  <a:lnTo>
                    <a:pt x="4000" y="69000"/>
                  </a:lnTo>
                  <a:cubicBezTo>
                    <a:pt x="1791" y="69000"/>
                    <a:pt x="0" y="67209"/>
                    <a:pt x="0" y="65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6E8D8"/>
            </a:solidFill>
            <a:ln w="10160">
              <a:solidFill>
                <a:srgbClr val="D1AD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g.sampler.scale/zero axis"/>
            <p:cNvSpPr/>
            <p:nvPr/>
          </p:nvSpPr>
          <p:spPr>
            <a:xfrm>
              <a:off x="4673600" y="6083300"/>
              <a:ext cx="736600" cy="127"/>
            </a:xfrm>
            <a:custGeom>
              <a:avLst/>
              <a:gdLst/>
              <a:ahLst/>
              <a:cxnLst/>
              <a:rect l="0" t="0" r="r" b="b"/>
              <a:pathLst>
                <a:path w="58000" h="10">
                  <a:moveTo>
                    <a:pt x="0" y="0"/>
                  </a:moveTo>
                  <a:lnTo>
                    <a:pt x="58000" y="0"/>
                  </a:lnTo>
                </a:path>
              </a:pathLst>
            </a:custGeom>
            <a:noFill/>
            <a:ln w="825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g.sampler.scale/schedule"/>
            <p:cNvSpPr/>
            <p:nvPr/>
          </p:nvSpPr>
          <p:spPr>
            <a:xfrm>
              <a:off x="4686300" y="5880100"/>
              <a:ext cx="723900" cy="292100"/>
            </a:xfrm>
            <a:custGeom>
              <a:avLst/>
              <a:gdLst/>
              <a:ahLst/>
              <a:cxnLst/>
              <a:rect l="0" t="0" r="r" b="b"/>
              <a:pathLst>
                <a:path w="57000" h="23000">
                  <a:moveTo>
                    <a:pt x="0" y="12000"/>
                  </a:moveTo>
                  <a:lnTo>
                    <a:pt x="13000" y="12000"/>
                  </a:lnTo>
                  <a:lnTo>
                    <a:pt x="13000" y="0"/>
                  </a:lnTo>
                  <a:lnTo>
                    <a:pt x="26000" y="0"/>
                  </a:lnTo>
                  <a:lnTo>
                    <a:pt x="26000" y="9000"/>
                  </a:lnTo>
                  <a:lnTo>
                    <a:pt x="37000" y="9000"/>
                  </a:lnTo>
                  <a:lnTo>
                    <a:pt x="37000" y="23000"/>
                  </a:lnTo>
                  <a:lnTo>
                    <a:pt x="48000" y="23000"/>
                  </a:lnTo>
                  <a:lnTo>
                    <a:pt x="48000" y="9000"/>
                  </a:lnTo>
                  <a:lnTo>
                    <a:pt x="57000" y="9000"/>
                  </a:lnTo>
                </a:path>
              </a:pathLst>
            </a:custGeom>
            <a:noFill/>
            <a:ln w="1714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g.sampler.scale/label"/>
            <p:cNvSpPr txBox="1"/>
            <p:nvPr/>
          </p:nvSpPr>
          <p:spPr>
            <a:xfrm>
              <a:off x="4419600" y="6223000"/>
              <a:ext cx="12446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Scale a</a:t>
              </a:r>
              <a:r>
                <a:rPr sz="15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</a:p>
          </p:txBody>
        </p:sp>
        <p:sp>
          <p:nvSpPr>
            <p:cNvPr id="192" name="g.sampler.scale/trainable/red"/>
            <p:cNvSpPr/>
            <p:nvPr/>
          </p:nvSpPr>
          <p:spPr>
            <a:xfrm>
              <a:off x="5484876" y="5719445"/>
              <a:ext cx="174878" cy="181355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g.sampler.scale/trainable/gold"/>
            <p:cNvSpPr/>
            <p:nvPr/>
          </p:nvSpPr>
          <p:spPr>
            <a:xfrm>
              <a:off x="5536692" y="5803646"/>
              <a:ext cx="77724" cy="84200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4" name="g.sampler"/>
          <p:cNvGrpSpPr/>
          <p:nvPr/>
        </p:nvGrpSpPr>
        <p:grpSpPr>
          <a:xfrm>
            <a:off x="1562100" y="6642100"/>
            <a:ext cx="4292600" cy="609600"/>
            <a:chOff x="1562100" y="6642100"/>
            <a:chExt cx="4292600" cy="609600"/>
          </a:xfrm>
        </p:grpSpPr>
        <p:sp>
          <p:nvSpPr>
            <p:cNvPr id="195" name="g.sampler/guided field"/>
            <p:cNvSpPr txBox="1"/>
            <p:nvPr/>
          </p:nvSpPr>
          <p:spPr>
            <a:xfrm>
              <a:off x="1562100" y="6642100"/>
              <a:ext cx="4140200" cy="317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7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S + a</a:t>
              </a:r>
              <a:r>
                <a:rPr sz="17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α</a:t>
              </a:r>
              <a:r>
                <a:rPr sz="17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(t)(S − W</a:t>
              </a:r>
              <a:r>
                <a:rPr sz="17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θ</a:t>
              </a:r>
              <a:r>
                <a:rPr sz="17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)</a:t>
              </a:r>
            </a:p>
          </p:txBody>
        </p:sp>
        <p:sp>
          <p:nvSpPr>
            <p:cNvPr id="196" name="g.sampler/state 59.50000000000001"/>
            <p:cNvSpPr txBox="1"/>
            <p:nvPr/>
          </p:nvSpPr>
          <p:spPr>
            <a:xfrm>
              <a:off x="1936750" y="6972300"/>
              <a:ext cx="457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z</a:t>
              </a:r>
            </a:p>
          </p:txBody>
        </p:sp>
        <p:sp>
          <p:nvSpPr>
            <p:cNvPr id="197" name="g.sampler/state 171.5"/>
            <p:cNvSpPr txBox="1"/>
            <p:nvPr/>
          </p:nvSpPr>
          <p:spPr>
            <a:xfrm>
              <a:off x="3359150" y="6972300"/>
              <a:ext cx="457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t</a:t>
              </a:r>
            </a:p>
          </p:txBody>
        </p:sp>
        <p:sp>
          <p:nvSpPr>
            <p:cNvPr id="198" name="g.sampler/state 283.5"/>
            <p:cNvSpPr txBox="1"/>
            <p:nvPr/>
          </p:nvSpPr>
          <p:spPr>
            <a:xfrm>
              <a:off x="4781550" y="6972300"/>
              <a:ext cx="4572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1</a:t>
              </a:r>
            </a:p>
          </p:txBody>
        </p:sp>
        <p:sp>
          <p:nvSpPr>
            <p:cNvPr id="199" name="g.sampler/trajectory first"/>
            <p:cNvSpPr/>
            <p:nvPr/>
          </p:nvSpPr>
          <p:spPr>
            <a:xfrm>
              <a:off x="2444750" y="7112000"/>
              <a:ext cx="825500" cy="127"/>
            </a:xfrm>
            <a:custGeom>
              <a:avLst/>
              <a:gdLst/>
              <a:ahLst/>
              <a:cxnLst/>
              <a:rect l="0" t="0" r="r" b="b"/>
              <a:pathLst>
                <a:path w="65000" h="10">
                  <a:moveTo>
                    <a:pt x="0" y="0"/>
                  </a:moveTo>
                  <a:lnTo>
                    <a:pt x="65000" y="0"/>
                  </a:lnTo>
                </a:path>
              </a:pathLst>
            </a:custGeom>
            <a:noFill/>
            <a:ln w="13970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g.sampler/trajectory first head"/>
            <p:cNvSpPr/>
            <p:nvPr/>
          </p:nvSpPr>
          <p:spPr>
            <a:xfrm>
              <a:off x="3194050" y="7077709"/>
              <a:ext cx="76200" cy="68580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g.sampler/trajectory second"/>
            <p:cNvSpPr/>
            <p:nvPr/>
          </p:nvSpPr>
          <p:spPr>
            <a:xfrm>
              <a:off x="3905250" y="7112000"/>
              <a:ext cx="787400" cy="127"/>
            </a:xfrm>
            <a:custGeom>
              <a:avLst/>
              <a:gdLst/>
              <a:ahLst/>
              <a:cxnLst/>
              <a:rect l="0" t="0" r="r" b="b"/>
              <a:pathLst>
                <a:path w="62000" h="10">
                  <a:moveTo>
                    <a:pt x="0" y="0"/>
                  </a:moveTo>
                  <a:lnTo>
                    <a:pt x="62000" y="0"/>
                  </a:lnTo>
                </a:path>
              </a:pathLst>
            </a:custGeom>
            <a:noFill/>
            <a:ln w="13970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g.sampler/trajectory second head"/>
            <p:cNvSpPr/>
            <p:nvPr/>
          </p:nvSpPr>
          <p:spPr>
            <a:xfrm>
              <a:off x="4616450" y="7077709"/>
              <a:ext cx="76200" cy="68580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g.sampler/trajectory output"/>
            <p:cNvSpPr/>
            <p:nvPr/>
          </p:nvSpPr>
          <p:spPr>
            <a:xfrm>
              <a:off x="5289550" y="7112000"/>
              <a:ext cx="565150" cy="127"/>
            </a:xfrm>
            <a:custGeom>
              <a:avLst/>
              <a:gdLst/>
              <a:ahLst/>
              <a:cxnLst/>
              <a:rect l="0" t="0" r="r" b="b"/>
              <a:pathLst>
                <a:path w="44500" h="10">
                  <a:moveTo>
                    <a:pt x="0" y="0"/>
                  </a:moveTo>
                  <a:lnTo>
                    <a:pt x="44500" y="0"/>
                  </a:lnTo>
                </a:path>
              </a:pathLst>
            </a:custGeom>
            <a:noFill/>
            <a:ln w="13970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4" name="g.noise"/>
          <p:cNvGrpSpPr/>
          <p:nvPr/>
        </p:nvGrpSpPr>
        <p:grpSpPr>
          <a:xfrm>
            <a:off x="317500" y="6146800"/>
            <a:ext cx="1092200" cy="762000"/>
            <a:chOff x="317500" y="6146800"/>
            <a:chExt cx="1092200" cy="762000"/>
          </a:xfrm>
        </p:grpSpPr>
        <p:sp>
          <p:nvSpPr>
            <p:cNvPr id="205" name="g.noise/cell 0-0"/>
            <p:cNvSpPr/>
            <p:nvPr/>
          </p:nvSpPr>
          <p:spPr>
            <a:xfrm>
              <a:off x="406400" y="6146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g.noise/cell 1-0"/>
            <p:cNvSpPr/>
            <p:nvPr/>
          </p:nvSpPr>
          <p:spPr>
            <a:xfrm>
              <a:off x="475544" y="6146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g.noise/cell 2-0"/>
            <p:cNvSpPr/>
            <p:nvPr/>
          </p:nvSpPr>
          <p:spPr>
            <a:xfrm>
              <a:off x="544688" y="6146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g.noise/cell 3-0"/>
            <p:cNvSpPr/>
            <p:nvPr/>
          </p:nvSpPr>
          <p:spPr>
            <a:xfrm>
              <a:off x="613833" y="6146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g.noise/cell 4-0"/>
            <p:cNvSpPr/>
            <p:nvPr/>
          </p:nvSpPr>
          <p:spPr>
            <a:xfrm>
              <a:off x="682977" y="6146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g.noise/cell 5-0"/>
            <p:cNvSpPr/>
            <p:nvPr/>
          </p:nvSpPr>
          <p:spPr>
            <a:xfrm>
              <a:off x="752122" y="6146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g.noise/cell 6-0"/>
            <p:cNvSpPr/>
            <p:nvPr/>
          </p:nvSpPr>
          <p:spPr>
            <a:xfrm>
              <a:off x="821266" y="6146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g.noise/cell 7-0"/>
            <p:cNvSpPr/>
            <p:nvPr/>
          </p:nvSpPr>
          <p:spPr>
            <a:xfrm>
              <a:off x="890411" y="6146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g.noise/cell 8-0"/>
            <p:cNvSpPr/>
            <p:nvPr/>
          </p:nvSpPr>
          <p:spPr>
            <a:xfrm>
              <a:off x="959555" y="61468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g.noise/cell 0-1"/>
            <p:cNvSpPr/>
            <p:nvPr/>
          </p:nvSpPr>
          <p:spPr>
            <a:xfrm>
              <a:off x="406400" y="6218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g.noise/cell 1-1"/>
            <p:cNvSpPr/>
            <p:nvPr/>
          </p:nvSpPr>
          <p:spPr>
            <a:xfrm>
              <a:off x="475544" y="6218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g.noise/cell 2-1"/>
            <p:cNvSpPr/>
            <p:nvPr/>
          </p:nvSpPr>
          <p:spPr>
            <a:xfrm>
              <a:off x="544688" y="6218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g.noise/cell 3-1"/>
            <p:cNvSpPr/>
            <p:nvPr/>
          </p:nvSpPr>
          <p:spPr>
            <a:xfrm>
              <a:off x="613833" y="6218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g.noise/cell 4-1"/>
            <p:cNvSpPr/>
            <p:nvPr/>
          </p:nvSpPr>
          <p:spPr>
            <a:xfrm>
              <a:off x="682977" y="6218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g.noise/cell 5-1"/>
            <p:cNvSpPr/>
            <p:nvPr/>
          </p:nvSpPr>
          <p:spPr>
            <a:xfrm>
              <a:off x="752122" y="6218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g.noise/cell 6-1"/>
            <p:cNvSpPr/>
            <p:nvPr/>
          </p:nvSpPr>
          <p:spPr>
            <a:xfrm>
              <a:off x="821266" y="6218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g.noise/cell 7-1"/>
            <p:cNvSpPr/>
            <p:nvPr/>
          </p:nvSpPr>
          <p:spPr>
            <a:xfrm>
              <a:off x="890411" y="6218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g.noise/cell 8-1"/>
            <p:cNvSpPr/>
            <p:nvPr/>
          </p:nvSpPr>
          <p:spPr>
            <a:xfrm>
              <a:off x="959555" y="62187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g.noise/cell 0-2"/>
            <p:cNvSpPr/>
            <p:nvPr/>
          </p:nvSpPr>
          <p:spPr>
            <a:xfrm>
              <a:off x="406400" y="6290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g.noise/cell 1-2"/>
            <p:cNvSpPr/>
            <p:nvPr/>
          </p:nvSpPr>
          <p:spPr>
            <a:xfrm>
              <a:off x="475544" y="6290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g.noise/cell 2-2"/>
            <p:cNvSpPr/>
            <p:nvPr/>
          </p:nvSpPr>
          <p:spPr>
            <a:xfrm>
              <a:off x="544688" y="6290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g.noise/cell 3-2"/>
            <p:cNvSpPr/>
            <p:nvPr/>
          </p:nvSpPr>
          <p:spPr>
            <a:xfrm>
              <a:off x="613833" y="6290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g.noise/cell 4-2"/>
            <p:cNvSpPr/>
            <p:nvPr/>
          </p:nvSpPr>
          <p:spPr>
            <a:xfrm>
              <a:off x="682977" y="6290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g.noise/cell 5-2"/>
            <p:cNvSpPr/>
            <p:nvPr/>
          </p:nvSpPr>
          <p:spPr>
            <a:xfrm>
              <a:off x="752122" y="6290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g.noise/cell 6-2"/>
            <p:cNvSpPr/>
            <p:nvPr/>
          </p:nvSpPr>
          <p:spPr>
            <a:xfrm>
              <a:off x="821266" y="6290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g.noise/cell 7-2"/>
            <p:cNvSpPr/>
            <p:nvPr/>
          </p:nvSpPr>
          <p:spPr>
            <a:xfrm>
              <a:off x="890411" y="6290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g.noise/cell 8-2"/>
            <p:cNvSpPr/>
            <p:nvPr/>
          </p:nvSpPr>
          <p:spPr>
            <a:xfrm>
              <a:off x="959555" y="62907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g.noise/cell 0-3"/>
            <p:cNvSpPr/>
            <p:nvPr/>
          </p:nvSpPr>
          <p:spPr>
            <a:xfrm>
              <a:off x="406400" y="63627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g.noise/cell 1-3"/>
            <p:cNvSpPr/>
            <p:nvPr/>
          </p:nvSpPr>
          <p:spPr>
            <a:xfrm>
              <a:off x="475544" y="63627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g.noise/cell 2-3"/>
            <p:cNvSpPr/>
            <p:nvPr/>
          </p:nvSpPr>
          <p:spPr>
            <a:xfrm>
              <a:off x="544688" y="63627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g.noise/cell 3-3"/>
            <p:cNvSpPr/>
            <p:nvPr/>
          </p:nvSpPr>
          <p:spPr>
            <a:xfrm>
              <a:off x="613833" y="63627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g.noise/cell 4-3"/>
            <p:cNvSpPr/>
            <p:nvPr/>
          </p:nvSpPr>
          <p:spPr>
            <a:xfrm>
              <a:off x="682977" y="63627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94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g.noise/cell 5-3"/>
            <p:cNvSpPr/>
            <p:nvPr/>
          </p:nvSpPr>
          <p:spPr>
            <a:xfrm>
              <a:off x="752122" y="63627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g.noise/cell 6-3"/>
            <p:cNvSpPr/>
            <p:nvPr/>
          </p:nvSpPr>
          <p:spPr>
            <a:xfrm>
              <a:off x="821266" y="63627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g.noise/cell 7-3"/>
            <p:cNvSpPr/>
            <p:nvPr/>
          </p:nvSpPr>
          <p:spPr>
            <a:xfrm>
              <a:off x="890411" y="63627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g.noise/cell 8-3"/>
            <p:cNvSpPr/>
            <p:nvPr/>
          </p:nvSpPr>
          <p:spPr>
            <a:xfrm>
              <a:off x="959555" y="6362700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g.noise/cell 0-4"/>
            <p:cNvSpPr/>
            <p:nvPr/>
          </p:nvSpPr>
          <p:spPr>
            <a:xfrm>
              <a:off x="406400" y="64346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g.noise/cell 1-4"/>
            <p:cNvSpPr/>
            <p:nvPr/>
          </p:nvSpPr>
          <p:spPr>
            <a:xfrm>
              <a:off x="475544" y="64346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g.noise/cell 2-4"/>
            <p:cNvSpPr/>
            <p:nvPr/>
          </p:nvSpPr>
          <p:spPr>
            <a:xfrm>
              <a:off x="544688" y="64346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g.noise/cell 3-4"/>
            <p:cNvSpPr/>
            <p:nvPr/>
          </p:nvSpPr>
          <p:spPr>
            <a:xfrm>
              <a:off x="613833" y="64346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g.noise/cell 4-4"/>
            <p:cNvSpPr/>
            <p:nvPr/>
          </p:nvSpPr>
          <p:spPr>
            <a:xfrm>
              <a:off x="682977" y="64346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g.noise/cell 5-4"/>
            <p:cNvSpPr/>
            <p:nvPr/>
          </p:nvSpPr>
          <p:spPr>
            <a:xfrm>
              <a:off x="752122" y="64346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g.noise/cell 6-4"/>
            <p:cNvSpPr/>
            <p:nvPr/>
          </p:nvSpPr>
          <p:spPr>
            <a:xfrm>
              <a:off x="821266" y="64346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g.noise/cell 7-4"/>
            <p:cNvSpPr/>
            <p:nvPr/>
          </p:nvSpPr>
          <p:spPr>
            <a:xfrm>
              <a:off x="890411" y="64346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g.noise/cell 8-4"/>
            <p:cNvSpPr/>
            <p:nvPr/>
          </p:nvSpPr>
          <p:spPr>
            <a:xfrm>
              <a:off x="959555" y="6434666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3C3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g.noise/cell 0-5"/>
            <p:cNvSpPr/>
            <p:nvPr/>
          </p:nvSpPr>
          <p:spPr>
            <a:xfrm>
              <a:off x="406400" y="65066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g.noise/cell 1-5"/>
            <p:cNvSpPr/>
            <p:nvPr/>
          </p:nvSpPr>
          <p:spPr>
            <a:xfrm>
              <a:off x="475544" y="65066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g.noise/cell 2-5"/>
            <p:cNvSpPr/>
            <p:nvPr/>
          </p:nvSpPr>
          <p:spPr>
            <a:xfrm>
              <a:off x="544688" y="65066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g.noise/cell 3-5"/>
            <p:cNvSpPr/>
            <p:nvPr/>
          </p:nvSpPr>
          <p:spPr>
            <a:xfrm>
              <a:off x="613833" y="65066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9B9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g.noise/cell 4-5"/>
            <p:cNvSpPr/>
            <p:nvPr/>
          </p:nvSpPr>
          <p:spPr>
            <a:xfrm>
              <a:off x="682977" y="65066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g.noise/cell 5-5"/>
            <p:cNvSpPr/>
            <p:nvPr/>
          </p:nvSpPr>
          <p:spPr>
            <a:xfrm>
              <a:off x="752122" y="65066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g.noise/cell 6-5"/>
            <p:cNvSpPr/>
            <p:nvPr/>
          </p:nvSpPr>
          <p:spPr>
            <a:xfrm>
              <a:off x="821266" y="65066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g.noise/cell 7-5"/>
            <p:cNvSpPr/>
            <p:nvPr/>
          </p:nvSpPr>
          <p:spPr>
            <a:xfrm>
              <a:off x="890411" y="65066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g.noise/cell 8-5"/>
            <p:cNvSpPr/>
            <p:nvPr/>
          </p:nvSpPr>
          <p:spPr>
            <a:xfrm>
              <a:off x="959555" y="6506633"/>
              <a:ext cx="69525" cy="72347"/>
            </a:xfrm>
            <a:custGeom>
              <a:avLst/>
              <a:gdLst/>
              <a:ahLst/>
              <a:cxnLst/>
              <a:rect l="0" t="0" r="r" b="b"/>
              <a:pathLst>
                <a:path w="5474" h="5697">
                  <a:moveTo>
                    <a:pt x="0" y="0"/>
                  </a:moveTo>
                  <a:lnTo>
                    <a:pt x="5474" y="0"/>
                  </a:lnTo>
                  <a:cubicBezTo>
                    <a:pt x="5474" y="0"/>
                    <a:pt x="5474" y="0"/>
                    <a:pt x="5474" y="0"/>
                  </a:cubicBezTo>
                  <a:lnTo>
                    <a:pt x="5474" y="5697"/>
                  </a:lnTo>
                  <a:cubicBezTo>
                    <a:pt x="5474" y="5697"/>
                    <a:pt x="5474" y="5697"/>
                    <a:pt x="5474" y="5697"/>
                  </a:cubicBezTo>
                  <a:lnTo>
                    <a:pt x="0" y="5697"/>
                  </a:lnTo>
                  <a:cubicBezTo>
                    <a:pt x="0" y="5697"/>
                    <a:pt x="0" y="5697"/>
                    <a:pt x="0" y="5697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g.noise/frame"/>
            <p:cNvSpPr/>
            <p:nvPr/>
          </p:nvSpPr>
          <p:spPr>
            <a:xfrm>
              <a:off x="406400" y="6146800"/>
              <a:ext cx="622300" cy="431800"/>
            </a:xfrm>
            <a:custGeom>
              <a:avLst/>
              <a:gdLst/>
              <a:ahLst/>
              <a:cxnLst/>
              <a:rect l="0" t="0" r="r" b="b"/>
              <a:pathLst>
                <a:path w="49000" h="34000">
                  <a:moveTo>
                    <a:pt x="1000" y="0"/>
                  </a:moveTo>
                  <a:lnTo>
                    <a:pt x="48000" y="0"/>
                  </a:lnTo>
                  <a:cubicBezTo>
                    <a:pt x="48552" y="0"/>
                    <a:pt x="49000" y="448"/>
                    <a:pt x="49000" y="1000"/>
                  </a:cubicBezTo>
                  <a:lnTo>
                    <a:pt x="49000" y="33000"/>
                  </a:lnTo>
                  <a:cubicBezTo>
                    <a:pt x="49000" y="33552"/>
                    <a:pt x="48552" y="34000"/>
                    <a:pt x="48000" y="34000"/>
                  </a:cubicBezTo>
                  <a:lnTo>
                    <a:pt x="1000" y="34000"/>
                  </a:lnTo>
                  <a:cubicBezTo>
                    <a:pt x="448" y="34000"/>
                    <a:pt x="0" y="33552"/>
                    <a:pt x="0" y="33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noFill/>
            <a:ln w="825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g.noise/label"/>
            <p:cNvSpPr txBox="1"/>
            <p:nvPr/>
          </p:nvSpPr>
          <p:spPr>
            <a:xfrm>
              <a:off x="317500" y="6642100"/>
              <a:ext cx="8001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Noise z</a:t>
              </a:r>
            </a:p>
          </p:txBody>
        </p:sp>
        <p:sp>
          <p:nvSpPr>
            <p:cNvPr id="261" name="g.noise/edge"/>
            <p:cNvSpPr/>
            <p:nvPr/>
          </p:nvSpPr>
          <p:spPr>
            <a:xfrm>
              <a:off x="1028700" y="6362700"/>
              <a:ext cx="381000" cy="127"/>
            </a:xfrm>
            <a:custGeom>
              <a:avLst/>
              <a:gdLst/>
              <a:ahLst/>
              <a:cxnLst/>
              <a:rect l="0" t="0" r="r" b="b"/>
              <a:pathLst>
                <a:path w="30000" h="10">
                  <a:moveTo>
                    <a:pt x="0" y="0"/>
                  </a:moveTo>
                  <a:lnTo>
                    <a:pt x="30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g.noise/edge head"/>
            <p:cNvSpPr/>
            <p:nvPr/>
          </p:nvSpPr>
          <p:spPr>
            <a:xfrm>
              <a:off x="1333500" y="6328410"/>
              <a:ext cx="76200" cy="68579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3" name="g.class"/>
          <p:cNvGrpSpPr/>
          <p:nvPr/>
        </p:nvGrpSpPr>
        <p:grpSpPr>
          <a:xfrm>
            <a:off x="304800" y="6946900"/>
            <a:ext cx="1104900" cy="279400"/>
            <a:chOff x="304800" y="6946900"/>
            <a:chExt cx="1104900" cy="279400"/>
          </a:xfrm>
        </p:grpSpPr>
        <p:sp>
          <p:nvSpPr>
            <p:cNvPr id="264" name="g.class/label"/>
            <p:cNvSpPr txBox="1"/>
            <p:nvPr/>
          </p:nvSpPr>
          <p:spPr>
            <a:xfrm>
              <a:off x="304800" y="6946900"/>
              <a:ext cx="7874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Class c</a:t>
              </a:r>
            </a:p>
          </p:txBody>
        </p:sp>
        <p:sp>
          <p:nvSpPr>
            <p:cNvPr id="265" name="g.class/edge"/>
            <p:cNvSpPr/>
            <p:nvPr/>
          </p:nvSpPr>
          <p:spPr>
            <a:xfrm>
              <a:off x="1066800" y="7086600"/>
              <a:ext cx="342900" cy="127"/>
            </a:xfrm>
            <a:custGeom>
              <a:avLst/>
              <a:gdLst/>
              <a:ahLst/>
              <a:cxnLst/>
              <a:rect l="0" t="0" r="r" b="b"/>
              <a:pathLst>
                <a:path w="27000" h="10">
                  <a:moveTo>
                    <a:pt x="0" y="0"/>
                  </a:moveTo>
                  <a:lnTo>
                    <a:pt x="27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g.class/edge head"/>
            <p:cNvSpPr/>
            <p:nvPr/>
          </p:nvSpPr>
          <p:spPr>
            <a:xfrm>
              <a:off x="1333500" y="7052309"/>
              <a:ext cx="76200" cy="68580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7" name="g.decode"/>
          <p:cNvGrpSpPr/>
          <p:nvPr/>
        </p:nvGrpSpPr>
        <p:grpSpPr>
          <a:xfrm>
            <a:off x="6248400" y="6783210"/>
            <a:ext cx="1422400" cy="633590"/>
            <a:chOff x="6248400" y="6783210"/>
            <a:chExt cx="1422400" cy="633590"/>
          </a:xfrm>
        </p:grpSpPr>
        <p:sp>
          <p:nvSpPr>
            <p:cNvPr id="268" name="g.decode/box"/>
            <p:cNvSpPr/>
            <p:nvPr/>
          </p:nvSpPr>
          <p:spPr>
            <a:xfrm>
              <a:off x="6248400" y="6807200"/>
              <a:ext cx="1422400" cy="609600"/>
            </a:xfrm>
            <a:custGeom>
              <a:avLst/>
              <a:gdLst/>
              <a:ahLst/>
              <a:cxnLst/>
              <a:rect l="0" t="0" r="r" b="b"/>
              <a:pathLst>
                <a:path w="112000" h="48000">
                  <a:moveTo>
                    <a:pt x="4000" y="0"/>
                  </a:moveTo>
                  <a:lnTo>
                    <a:pt x="108000" y="0"/>
                  </a:lnTo>
                  <a:cubicBezTo>
                    <a:pt x="110209" y="0"/>
                    <a:pt x="112000" y="1791"/>
                    <a:pt x="112000" y="4000"/>
                  </a:cubicBezTo>
                  <a:lnTo>
                    <a:pt x="112000" y="44000"/>
                  </a:lnTo>
                  <a:cubicBezTo>
                    <a:pt x="112000" y="46209"/>
                    <a:pt x="110209" y="48000"/>
                    <a:pt x="108000" y="48000"/>
                  </a:cubicBezTo>
                  <a:lnTo>
                    <a:pt x="4000" y="48000"/>
                  </a:lnTo>
                  <a:cubicBezTo>
                    <a:pt x="1791" y="48000"/>
                    <a:pt x="0" y="46209"/>
                    <a:pt x="0" y="44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g.decode/label"/>
            <p:cNvSpPr txBox="1"/>
            <p:nvPr/>
          </p:nvSpPr>
          <p:spPr>
            <a:xfrm>
              <a:off x="6337300" y="6858000"/>
              <a:ext cx="1206500" cy="508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VAE decode</a:t>
              </a:r>
            </a:p>
          </p:txBody>
        </p:sp>
        <p:sp>
          <p:nvSpPr>
            <p:cNvPr id="270" name="g.decode/frozen/white outline"/>
            <p:cNvSpPr/>
            <p:nvPr/>
          </p:nvSpPr>
          <p:spPr>
            <a:xfrm>
              <a:off x="7482840" y="67832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g.decode/frozen/blue crystal"/>
            <p:cNvSpPr/>
            <p:nvPr/>
          </p:nvSpPr>
          <p:spPr>
            <a:xfrm>
              <a:off x="7482840" y="67832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2" name="g.fake"/>
          <p:cNvGrpSpPr/>
          <p:nvPr/>
        </p:nvGrpSpPr>
        <p:grpSpPr>
          <a:xfrm>
            <a:off x="8064500" y="6883400"/>
            <a:ext cx="1143000" cy="457200"/>
            <a:chOff x="8064500" y="6883400"/>
            <a:chExt cx="1143000" cy="457200"/>
          </a:xfrm>
        </p:grpSpPr>
        <p:sp>
          <p:nvSpPr>
            <p:cNvPr id="273" name="g.fake/box"/>
            <p:cNvSpPr/>
            <p:nvPr/>
          </p:nvSpPr>
          <p:spPr>
            <a:xfrm>
              <a:off x="8064500" y="6883400"/>
              <a:ext cx="1143000" cy="457200"/>
            </a:xfrm>
            <a:custGeom>
              <a:avLst/>
              <a:gdLst/>
              <a:ahLst/>
              <a:cxnLst/>
              <a:rect l="0" t="0" r="r" b="b"/>
              <a:pathLst>
                <a:path w="90000" h="36000">
                  <a:moveTo>
                    <a:pt x="3000" y="0"/>
                  </a:moveTo>
                  <a:lnTo>
                    <a:pt x="87000" y="0"/>
                  </a:lnTo>
                  <a:cubicBezTo>
                    <a:pt x="88657" y="0"/>
                    <a:pt x="90000" y="1343"/>
                    <a:pt x="90000" y="3000"/>
                  </a:cubicBezTo>
                  <a:lnTo>
                    <a:pt x="90000" y="33000"/>
                  </a:lnTo>
                  <a:cubicBezTo>
                    <a:pt x="90000" y="34657"/>
                    <a:pt x="88657" y="36000"/>
                    <a:pt x="87000" y="36000"/>
                  </a:cubicBezTo>
                  <a:lnTo>
                    <a:pt x="3000" y="36000"/>
                  </a:lnTo>
                  <a:cubicBezTo>
                    <a:pt x="1343" y="36000"/>
                    <a:pt x="0" y="34657"/>
                    <a:pt x="0" y="33000"/>
                  </a:cubicBezTo>
                  <a:lnTo>
                    <a:pt x="0" y="3000"/>
                  </a:lnTo>
                  <a:cubicBezTo>
                    <a:pt x="0" y="1343"/>
                    <a:pt x="1343" y="0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 w="10795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g.fake/accent"/>
            <p:cNvSpPr/>
            <p:nvPr/>
          </p:nvSpPr>
          <p:spPr>
            <a:xfrm>
              <a:off x="8064500" y="6883400"/>
              <a:ext cx="31750" cy="457200"/>
            </a:xfrm>
            <a:custGeom>
              <a:avLst/>
              <a:gdLst/>
              <a:ahLst/>
              <a:cxnLst/>
              <a:rect l="0" t="0" r="r" b="b"/>
              <a:pathLst>
                <a:path w="2500" h="36000">
                  <a:moveTo>
                    <a:pt x="0" y="0"/>
                  </a:moveTo>
                  <a:lnTo>
                    <a:pt x="2500" y="0"/>
                  </a:lnTo>
                  <a:cubicBezTo>
                    <a:pt x="2500" y="0"/>
                    <a:pt x="2500" y="0"/>
                    <a:pt x="2500" y="0"/>
                  </a:cubicBezTo>
                  <a:lnTo>
                    <a:pt x="2500" y="36000"/>
                  </a:lnTo>
                  <a:cubicBezTo>
                    <a:pt x="2500" y="36000"/>
                    <a:pt x="2500" y="36000"/>
                    <a:pt x="2500" y="36000"/>
                  </a:cubicBezTo>
                  <a:lnTo>
                    <a:pt x="0" y="36000"/>
                  </a:lnTo>
                  <a:cubicBezTo>
                    <a:pt x="0" y="36000"/>
                    <a:pt x="0" y="36000"/>
                    <a:pt x="0" y="3600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68D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g.fake/label"/>
            <p:cNvSpPr txBox="1"/>
            <p:nvPr/>
          </p:nvSpPr>
          <p:spPr>
            <a:xfrm>
              <a:off x="8140700" y="6921500"/>
              <a:ext cx="990600" cy="381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Fake x</a:t>
              </a:r>
              <a:r>
                <a:rPr sz="15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</a:p>
          </p:txBody>
        </p:sp>
      </p:grpSp>
      <p:grpSp>
        <p:nvGrpSpPr>
          <p:cNvPr id="276" name="g.features"/>
          <p:cNvGrpSpPr/>
          <p:nvPr/>
        </p:nvGrpSpPr>
        <p:grpSpPr>
          <a:xfrm>
            <a:off x="9588500" y="6719710"/>
            <a:ext cx="1955800" cy="760590"/>
            <a:chOff x="9588500" y="6719710"/>
            <a:chExt cx="1955800" cy="760590"/>
          </a:xfrm>
        </p:grpSpPr>
        <p:sp>
          <p:nvSpPr>
            <p:cNvPr id="277" name="g.features/box"/>
            <p:cNvSpPr/>
            <p:nvPr/>
          </p:nvSpPr>
          <p:spPr>
            <a:xfrm>
              <a:off x="9588500" y="6743700"/>
              <a:ext cx="1955800" cy="736600"/>
            </a:xfrm>
            <a:custGeom>
              <a:avLst/>
              <a:gdLst/>
              <a:ahLst/>
              <a:cxnLst/>
              <a:rect l="0" t="0" r="r" b="b"/>
              <a:pathLst>
                <a:path w="154000" h="58000">
                  <a:moveTo>
                    <a:pt x="4000" y="0"/>
                  </a:moveTo>
                  <a:lnTo>
                    <a:pt x="150000" y="0"/>
                  </a:lnTo>
                  <a:cubicBezTo>
                    <a:pt x="152209" y="0"/>
                    <a:pt x="154000" y="1791"/>
                    <a:pt x="154000" y="4000"/>
                  </a:cubicBezTo>
                  <a:lnTo>
                    <a:pt x="154000" y="54000"/>
                  </a:lnTo>
                  <a:cubicBezTo>
                    <a:pt x="154000" y="56209"/>
                    <a:pt x="152209" y="58000"/>
                    <a:pt x="150000" y="58000"/>
                  </a:cubicBezTo>
                  <a:lnTo>
                    <a:pt x="4000" y="58000"/>
                  </a:lnTo>
                  <a:cubicBezTo>
                    <a:pt x="1791" y="58000"/>
                    <a:pt x="0" y="56209"/>
                    <a:pt x="0" y="54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g.features/plane 0"/>
            <p:cNvSpPr/>
            <p:nvPr/>
          </p:nvSpPr>
          <p:spPr>
            <a:xfrm>
              <a:off x="9740900" y="6921500"/>
              <a:ext cx="215900" cy="279400"/>
            </a:xfrm>
            <a:custGeom>
              <a:avLst/>
              <a:gdLst/>
              <a:ahLst/>
              <a:cxnLst/>
              <a:rect l="0" t="0" r="r" b="b"/>
              <a:pathLst>
                <a:path w="17000" h="22000">
                  <a:moveTo>
                    <a:pt x="1000" y="0"/>
                  </a:moveTo>
                  <a:lnTo>
                    <a:pt x="16000" y="0"/>
                  </a:lnTo>
                  <a:cubicBezTo>
                    <a:pt x="16552" y="0"/>
                    <a:pt x="17000" y="448"/>
                    <a:pt x="17000" y="1000"/>
                  </a:cubicBezTo>
                  <a:lnTo>
                    <a:pt x="17000" y="21000"/>
                  </a:lnTo>
                  <a:cubicBezTo>
                    <a:pt x="17000" y="21552"/>
                    <a:pt x="16552" y="22000"/>
                    <a:pt x="16000" y="22000"/>
                  </a:cubicBezTo>
                  <a:lnTo>
                    <a:pt x="1000" y="22000"/>
                  </a:lnTo>
                  <a:cubicBezTo>
                    <a:pt x="448" y="22000"/>
                    <a:pt x="0" y="21552"/>
                    <a:pt x="0" y="21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solidFill>
              <a:srgbClr val="F5F8FA"/>
            </a:solidFill>
            <a:ln w="889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g.features/plane 1"/>
            <p:cNvSpPr/>
            <p:nvPr/>
          </p:nvSpPr>
          <p:spPr>
            <a:xfrm>
              <a:off x="9791700" y="6972300"/>
              <a:ext cx="215900" cy="279400"/>
            </a:xfrm>
            <a:custGeom>
              <a:avLst/>
              <a:gdLst/>
              <a:ahLst/>
              <a:cxnLst/>
              <a:rect l="0" t="0" r="r" b="b"/>
              <a:pathLst>
                <a:path w="17000" h="22000">
                  <a:moveTo>
                    <a:pt x="1000" y="0"/>
                  </a:moveTo>
                  <a:lnTo>
                    <a:pt x="16000" y="0"/>
                  </a:lnTo>
                  <a:cubicBezTo>
                    <a:pt x="16552" y="0"/>
                    <a:pt x="17000" y="448"/>
                    <a:pt x="17000" y="1000"/>
                  </a:cubicBezTo>
                  <a:lnTo>
                    <a:pt x="17000" y="21000"/>
                  </a:lnTo>
                  <a:cubicBezTo>
                    <a:pt x="17000" y="21552"/>
                    <a:pt x="16552" y="22000"/>
                    <a:pt x="16000" y="22000"/>
                  </a:cubicBezTo>
                  <a:lnTo>
                    <a:pt x="1000" y="22000"/>
                  </a:lnTo>
                  <a:cubicBezTo>
                    <a:pt x="448" y="22000"/>
                    <a:pt x="0" y="21552"/>
                    <a:pt x="0" y="21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solidFill>
              <a:srgbClr val="D8E4EE"/>
            </a:solidFill>
            <a:ln w="889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g.features/plane 2"/>
            <p:cNvSpPr/>
            <p:nvPr/>
          </p:nvSpPr>
          <p:spPr>
            <a:xfrm>
              <a:off x="9842500" y="7023100"/>
              <a:ext cx="215900" cy="279400"/>
            </a:xfrm>
            <a:custGeom>
              <a:avLst/>
              <a:gdLst/>
              <a:ahLst/>
              <a:cxnLst/>
              <a:rect l="0" t="0" r="r" b="b"/>
              <a:pathLst>
                <a:path w="17000" h="22000">
                  <a:moveTo>
                    <a:pt x="1000" y="0"/>
                  </a:moveTo>
                  <a:lnTo>
                    <a:pt x="16000" y="0"/>
                  </a:lnTo>
                  <a:cubicBezTo>
                    <a:pt x="16552" y="0"/>
                    <a:pt x="17000" y="448"/>
                    <a:pt x="17000" y="1000"/>
                  </a:cubicBezTo>
                  <a:lnTo>
                    <a:pt x="17000" y="21000"/>
                  </a:lnTo>
                  <a:cubicBezTo>
                    <a:pt x="17000" y="21552"/>
                    <a:pt x="16552" y="22000"/>
                    <a:pt x="16000" y="22000"/>
                  </a:cubicBezTo>
                  <a:lnTo>
                    <a:pt x="1000" y="22000"/>
                  </a:lnTo>
                  <a:cubicBezTo>
                    <a:pt x="448" y="22000"/>
                    <a:pt x="0" y="21552"/>
                    <a:pt x="0" y="21000"/>
                  </a:cubicBezTo>
                  <a:lnTo>
                    <a:pt x="0" y="1000"/>
                  </a:lnTo>
                  <a:cubicBezTo>
                    <a:pt x="0" y="448"/>
                    <a:pt x="448" y="0"/>
                    <a:pt x="1000" y="0"/>
                  </a:cubicBezTo>
                  <a:close/>
                </a:path>
              </a:pathLst>
            </a:custGeom>
            <a:solidFill>
              <a:srgbClr val="FFFFFF"/>
            </a:solidFill>
            <a:ln w="889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g.features/label"/>
            <p:cNvSpPr txBox="1"/>
            <p:nvPr/>
          </p:nvSpPr>
          <p:spPr>
            <a:xfrm>
              <a:off x="10160000" y="6794500"/>
              <a:ext cx="1257300" cy="635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Inception φ</a:t>
              </a:r>
            </a:p>
          </p:txBody>
        </p:sp>
        <p:sp>
          <p:nvSpPr>
            <p:cNvPr id="282" name="g.features/frozen/white outline"/>
            <p:cNvSpPr/>
            <p:nvPr/>
          </p:nvSpPr>
          <p:spPr>
            <a:xfrm>
              <a:off x="11356340" y="67197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g.features/frozen/blue crystal"/>
            <p:cNvSpPr/>
            <p:nvPr/>
          </p:nvSpPr>
          <p:spPr>
            <a:xfrm>
              <a:off x="11356340" y="67197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4" name="g.critic"/>
          <p:cNvGrpSpPr/>
          <p:nvPr/>
        </p:nvGrpSpPr>
        <p:grpSpPr>
          <a:xfrm>
            <a:off x="11938000" y="6719710"/>
            <a:ext cx="1841500" cy="760590"/>
            <a:chOff x="11938000" y="6719710"/>
            <a:chExt cx="1841500" cy="760590"/>
          </a:xfrm>
        </p:grpSpPr>
        <p:sp>
          <p:nvSpPr>
            <p:cNvPr id="285" name="g.critic/box"/>
            <p:cNvSpPr/>
            <p:nvPr/>
          </p:nvSpPr>
          <p:spPr>
            <a:xfrm>
              <a:off x="11938000" y="6743700"/>
              <a:ext cx="1841500" cy="736600"/>
            </a:xfrm>
            <a:custGeom>
              <a:avLst/>
              <a:gdLst/>
              <a:ahLst/>
              <a:cxnLst/>
              <a:rect l="0" t="0" r="r" b="b"/>
              <a:pathLst>
                <a:path w="145000" h="58000">
                  <a:moveTo>
                    <a:pt x="4000" y="0"/>
                  </a:moveTo>
                  <a:lnTo>
                    <a:pt x="141000" y="0"/>
                  </a:lnTo>
                  <a:cubicBezTo>
                    <a:pt x="143209" y="0"/>
                    <a:pt x="145000" y="1791"/>
                    <a:pt x="145000" y="4000"/>
                  </a:cubicBezTo>
                  <a:lnTo>
                    <a:pt x="145000" y="54000"/>
                  </a:lnTo>
                  <a:cubicBezTo>
                    <a:pt x="145000" y="56209"/>
                    <a:pt x="143209" y="58000"/>
                    <a:pt x="141000" y="58000"/>
                  </a:cubicBezTo>
                  <a:lnTo>
                    <a:pt x="4000" y="58000"/>
                  </a:lnTo>
                  <a:cubicBezTo>
                    <a:pt x="1791" y="58000"/>
                    <a:pt x="0" y="56209"/>
                    <a:pt x="0" y="54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EAF0F5"/>
            </a:solidFill>
            <a:ln w="10160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g.critic/network spine"/>
            <p:cNvSpPr/>
            <p:nvPr/>
          </p:nvSpPr>
          <p:spPr>
            <a:xfrm>
              <a:off x="12077700" y="7112000"/>
              <a:ext cx="431800" cy="127"/>
            </a:xfrm>
            <a:custGeom>
              <a:avLst/>
              <a:gdLst/>
              <a:ahLst/>
              <a:cxnLst/>
              <a:rect l="0" t="0" r="r" b="b"/>
              <a:pathLst>
                <a:path w="34000" h="10">
                  <a:moveTo>
                    <a:pt x="0" y="0"/>
                  </a:moveTo>
                  <a:lnTo>
                    <a:pt x="34000" y="0"/>
                  </a:lnTo>
                </a:path>
              </a:pathLst>
            </a:custGeom>
            <a:noFill/>
            <a:ln w="10795">
              <a:solidFill>
                <a:srgbClr val="B6C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g.critic/network block 0"/>
            <p:cNvSpPr/>
            <p:nvPr/>
          </p:nvSpPr>
          <p:spPr>
            <a:xfrm>
              <a:off x="12148947" y="6997700"/>
              <a:ext cx="73405" cy="228600"/>
            </a:xfrm>
            <a:custGeom>
              <a:avLst/>
              <a:gdLst/>
              <a:ahLst/>
              <a:cxnLst/>
              <a:rect l="0" t="0" r="r" b="b"/>
              <a:pathLst>
                <a:path w="5780" h="18000">
                  <a:moveTo>
                    <a:pt x="800" y="0"/>
                  </a:moveTo>
                  <a:lnTo>
                    <a:pt x="4980" y="0"/>
                  </a:lnTo>
                  <a:cubicBezTo>
                    <a:pt x="5422" y="0"/>
                    <a:pt x="5780" y="358"/>
                    <a:pt x="5780" y="800"/>
                  </a:cubicBezTo>
                  <a:lnTo>
                    <a:pt x="5780" y="17200"/>
                  </a:lnTo>
                  <a:cubicBezTo>
                    <a:pt x="5780" y="17642"/>
                    <a:pt x="5422" y="18000"/>
                    <a:pt x="4980" y="18000"/>
                  </a:cubicBezTo>
                  <a:lnTo>
                    <a:pt x="800" y="18000"/>
                  </a:lnTo>
                  <a:cubicBezTo>
                    <a:pt x="358" y="18000"/>
                    <a:pt x="0" y="17642"/>
                    <a:pt x="0" y="17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g.critic/network block 1"/>
            <p:cNvSpPr/>
            <p:nvPr/>
          </p:nvSpPr>
          <p:spPr>
            <a:xfrm>
              <a:off x="12256897" y="6959600"/>
              <a:ext cx="73405" cy="304800"/>
            </a:xfrm>
            <a:custGeom>
              <a:avLst/>
              <a:gdLst/>
              <a:ahLst/>
              <a:cxnLst/>
              <a:rect l="0" t="0" r="r" b="b"/>
              <a:pathLst>
                <a:path w="5780" h="24000">
                  <a:moveTo>
                    <a:pt x="800" y="0"/>
                  </a:moveTo>
                  <a:lnTo>
                    <a:pt x="4980" y="0"/>
                  </a:lnTo>
                  <a:cubicBezTo>
                    <a:pt x="5422" y="0"/>
                    <a:pt x="5780" y="358"/>
                    <a:pt x="5780" y="800"/>
                  </a:cubicBezTo>
                  <a:lnTo>
                    <a:pt x="5780" y="23200"/>
                  </a:lnTo>
                  <a:cubicBezTo>
                    <a:pt x="5780" y="23642"/>
                    <a:pt x="5422" y="24000"/>
                    <a:pt x="4980" y="24000"/>
                  </a:cubicBezTo>
                  <a:lnTo>
                    <a:pt x="800" y="24000"/>
                  </a:lnTo>
                  <a:cubicBezTo>
                    <a:pt x="358" y="24000"/>
                    <a:pt x="0" y="23642"/>
                    <a:pt x="0" y="23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g.critic/network block 2"/>
            <p:cNvSpPr/>
            <p:nvPr/>
          </p:nvSpPr>
          <p:spPr>
            <a:xfrm>
              <a:off x="12364847" y="6997700"/>
              <a:ext cx="73405" cy="228600"/>
            </a:xfrm>
            <a:custGeom>
              <a:avLst/>
              <a:gdLst/>
              <a:ahLst/>
              <a:cxnLst/>
              <a:rect l="0" t="0" r="r" b="b"/>
              <a:pathLst>
                <a:path w="5780" h="18000">
                  <a:moveTo>
                    <a:pt x="800" y="0"/>
                  </a:moveTo>
                  <a:lnTo>
                    <a:pt x="4980" y="0"/>
                  </a:lnTo>
                  <a:cubicBezTo>
                    <a:pt x="5422" y="0"/>
                    <a:pt x="5780" y="358"/>
                    <a:pt x="5780" y="800"/>
                  </a:cubicBezTo>
                  <a:lnTo>
                    <a:pt x="5780" y="17200"/>
                  </a:lnTo>
                  <a:cubicBezTo>
                    <a:pt x="5780" y="17642"/>
                    <a:pt x="5422" y="18000"/>
                    <a:pt x="4980" y="18000"/>
                  </a:cubicBezTo>
                  <a:lnTo>
                    <a:pt x="800" y="18000"/>
                  </a:lnTo>
                  <a:cubicBezTo>
                    <a:pt x="358" y="18000"/>
                    <a:pt x="0" y="17642"/>
                    <a:pt x="0" y="172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9A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g.critic/label"/>
            <p:cNvSpPr txBox="1"/>
            <p:nvPr/>
          </p:nvSpPr>
          <p:spPr>
            <a:xfrm>
              <a:off x="12547600" y="6794500"/>
              <a:ext cx="1104900" cy="635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D</a:t>
              </a:r>
              <a:r>
                <a:rPr sz="160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ω</a:t>
              </a:r>
            </a:p>
          </p:txBody>
        </p:sp>
        <p:sp>
          <p:nvSpPr>
            <p:cNvPr id="291" name="g.critic/frozen/white outline"/>
            <p:cNvSpPr/>
            <p:nvPr/>
          </p:nvSpPr>
          <p:spPr>
            <a:xfrm>
              <a:off x="13591540" y="67197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g.critic/frozen/blue crystal"/>
            <p:cNvSpPr/>
            <p:nvPr/>
          </p:nvSpPr>
          <p:spPr>
            <a:xfrm>
              <a:off x="13591540" y="67197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3" name="g.forward"/>
          <p:cNvGrpSpPr/>
          <p:nvPr/>
        </p:nvGrpSpPr>
        <p:grpSpPr>
          <a:xfrm>
            <a:off x="5854700" y="7077709"/>
            <a:ext cx="6083300" cy="68580"/>
            <a:chOff x="5854700" y="7077709"/>
            <a:chExt cx="6083300" cy="68580"/>
          </a:xfrm>
        </p:grpSpPr>
        <p:sp>
          <p:nvSpPr>
            <p:cNvPr id="294" name="g.forward/461"/>
            <p:cNvSpPr/>
            <p:nvPr/>
          </p:nvSpPr>
          <p:spPr>
            <a:xfrm>
              <a:off x="5854700" y="7112000"/>
              <a:ext cx="393700" cy="127"/>
            </a:xfrm>
            <a:custGeom>
              <a:avLst/>
              <a:gdLst/>
              <a:ahLst/>
              <a:cxnLst/>
              <a:rect l="0" t="0" r="r" b="b"/>
              <a:pathLst>
                <a:path w="31000" h="10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g.forward/461 head"/>
            <p:cNvSpPr/>
            <p:nvPr/>
          </p:nvSpPr>
          <p:spPr>
            <a:xfrm>
              <a:off x="6172200" y="7077709"/>
              <a:ext cx="76200" cy="68580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g.forward/604"/>
            <p:cNvSpPr/>
            <p:nvPr/>
          </p:nvSpPr>
          <p:spPr>
            <a:xfrm>
              <a:off x="7670800" y="7112000"/>
              <a:ext cx="393700" cy="127"/>
            </a:xfrm>
            <a:custGeom>
              <a:avLst/>
              <a:gdLst/>
              <a:ahLst/>
              <a:cxnLst/>
              <a:rect l="0" t="0" r="r" b="b"/>
              <a:pathLst>
                <a:path w="31000" h="10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g.forward/604 head"/>
            <p:cNvSpPr/>
            <p:nvPr/>
          </p:nvSpPr>
          <p:spPr>
            <a:xfrm>
              <a:off x="7988300" y="7077709"/>
              <a:ext cx="76200" cy="68580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g.forward/725"/>
            <p:cNvSpPr/>
            <p:nvPr/>
          </p:nvSpPr>
          <p:spPr>
            <a:xfrm>
              <a:off x="9207500" y="7112000"/>
              <a:ext cx="381000" cy="127"/>
            </a:xfrm>
            <a:custGeom>
              <a:avLst/>
              <a:gdLst/>
              <a:ahLst/>
              <a:cxnLst/>
              <a:rect l="0" t="0" r="r" b="b"/>
              <a:pathLst>
                <a:path w="30000" h="10">
                  <a:moveTo>
                    <a:pt x="0" y="0"/>
                  </a:moveTo>
                  <a:lnTo>
                    <a:pt x="30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g.forward/725 head"/>
            <p:cNvSpPr/>
            <p:nvPr/>
          </p:nvSpPr>
          <p:spPr>
            <a:xfrm>
              <a:off x="9512300" y="7077709"/>
              <a:ext cx="76200" cy="68580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g.forward/909"/>
            <p:cNvSpPr/>
            <p:nvPr/>
          </p:nvSpPr>
          <p:spPr>
            <a:xfrm>
              <a:off x="11544300" y="7112000"/>
              <a:ext cx="393700" cy="127"/>
            </a:xfrm>
            <a:custGeom>
              <a:avLst/>
              <a:gdLst/>
              <a:ahLst/>
              <a:cxnLst/>
              <a:rect l="0" t="0" r="r" b="b"/>
              <a:pathLst>
                <a:path w="31000" h="10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g.forward/909 head"/>
            <p:cNvSpPr/>
            <p:nvPr/>
          </p:nvSpPr>
          <p:spPr>
            <a:xfrm>
              <a:off x="11861800" y="7077709"/>
              <a:ext cx="76200" cy="68580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2" name="g.condition"/>
          <p:cNvGrpSpPr/>
          <p:nvPr/>
        </p:nvGrpSpPr>
        <p:grpSpPr>
          <a:xfrm>
            <a:off x="12560300" y="6045200"/>
            <a:ext cx="533400" cy="698500"/>
            <a:chOff x="12560300" y="6045200"/>
            <a:chExt cx="533400" cy="698500"/>
          </a:xfrm>
        </p:grpSpPr>
        <p:sp>
          <p:nvSpPr>
            <p:cNvPr id="303" name="g.condition/label"/>
            <p:cNvSpPr txBox="1"/>
            <p:nvPr/>
          </p:nvSpPr>
          <p:spPr>
            <a:xfrm>
              <a:off x="12560300" y="6045200"/>
              <a:ext cx="5334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50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c</a:t>
              </a:r>
            </a:p>
          </p:txBody>
        </p:sp>
        <p:sp>
          <p:nvSpPr>
            <p:cNvPr id="304" name="g.condition/edge"/>
            <p:cNvSpPr/>
            <p:nvPr/>
          </p:nvSpPr>
          <p:spPr>
            <a:xfrm>
              <a:off x="12827000" y="6350000"/>
              <a:ext cx="127" cy="393700"/>
            </a:xfrm>
            <a:custGeom>
              <a:avLst/>
              <a:gdLst/>
              <a:ahLst/>
              <a:cxnLst/>
              <a:rect l="0" t="0" r="r" b="b"/>
              <a:pathLst>
                <a:path w="10" h="31000">
                  <a:moveTo>
                    <a:pt x="0" y="0"/>
                  </a:moveTo>
                  <a:lnTo>
                    <a:pt x="0" y="31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g.condition/edge head"/>
            <p:cNvSpPr/>
            <p:nvPr/>
          </p:nvSpPr>
          <p:spPr>
            <a:xfrm>
              <a:off x="12792710" y="6667500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6" name="g.loss"/>
          <p:cNvGrpSpPr/>
          <p:nvPr/>
        </p:nvGrpSpPr>
        <p:grpSpPr>
          <a:xfrm>
            <a:off x="7264400" y="7112000"/>
            <a:ext cx="7112000" cy="1231900"/>
            <a:chOff x="7264400" y="7112000"/>
            <a:chExt cx="7112000" cy="1231900"/>
          </a:xfrm>
        </p:grpSpPr>
        <p:sp>
          <p:nvSpPr>
            <p:cNvPr id="307" name="g.loss/edge"/>
            <p:cNvSpPr/>
            <p:nvPr/>
          </p:nvSpPr>
          <p:spPr>
            <a:xfrm>
              <a:off x="13779500" y="7112000"/>
              <a:ext cx="431800" cy="647700"/>
            </a:xfrm>
            <a:custGeom>
              <a:avLst/>
              <a:gdLst/>
              <a:ahLst/>
              <a:cxnLst/>
              <a:rect l="0" t="0" r="r" b="b"/>
              <a:pathLst>
                <a:path w="34000" h="51000">
                  <a:moveTo>
                    <a:pt x="0" y="0"/>
                  </a:moveTo>
                  <a:lnTo>
                    <a:pt x="34000" y="0"/>
                  </a:lnTo>
                  <a:lnTo>
                    <a:pt x="34000" y="51000"/>
                  </a:lnTo>
                </a:path>
              </a:pathLst>
            </a:custGeom>
            <a:noFill/>
            <a:ln w="15875">
              <a:solidFill>
                <a:srgbClr val="2637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g.loss/edge head"/>
            <p:cNvSpPr/>
            <p:nvPr/>
          </p:nvSpPr>
          <p:spPr>
            <a:xfrm>
              <a:off x="14177010" y="7683500"/>
              <a:ext cx="68580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6000"/>
                  </a:moveTo>
                  <a:lnTo>
                    <a:pt x="5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7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g.loss/box"/>
            <p:cNvSpPr/>
            <p:nvPr/>
          </p:nvSpPr>
          <p:spPr>
            <a:xfrm>
              <a:off x="7264400" y="7759700"/>
              <a:ext cx="7112000" cy="584200"/>
            </a:xfrm>
            <a:custGeom>
              <a:avLst/>
              <a:gdLst/>
              <a:ahLst/>
              <a:cxnLst/>
              <a:rect l="0" t="0" r="r" b="b"/>
              <a:pathLst>
                <a:path w="560000" h="46000">
                  <a:moveTo>
                    <a:pt x="4000" y="0"/>
                  </a:moveTo>
                  <a:lnTo>
                    <a:pt x="556000" y="0"/>
                  </a:lnTo>
                  <a:cubicBezTo>
                    <a:pt x="558209" y="0"/>
                    <a:pt x="560000" y="1791"/>
                    <a:pt x="560000" y="4000"/>
                  </a:cubicBezTo>
                  <a:lnTo>
                    <a:pt x="560000" y="42000"/>
                  </a:lnTo>
                  <a:cubicBezTo>
                    <a:pt x="560000" y="44209"/>
                    <a:pt x="558209" y="46000"/>
                    <a:pt x="556000" y="46000"/>
                  </a:cubicBezTo>
                  <a:lnTo>
                    <a:pt x="4000" y="46000"/>
                  </a:lnTo>
                  <a:cubicBezTo>
                    <a:pt x="1791" y="46000"/>
                    <a:pt x="0" y="44209"/>
                    <a:pt x="0" y="42000"/>
                  </a:cubicBezTo>
                  <a:lnTo>
                    <a:pt x="0" y="4000"/>
                  </a:lnTo>
                  <a:cubicBezTo>
                    <a:pt x="0" y="1791"/>
                    <a:pt x="1791" y="0"/>
                    <a:pt x="4000" y="0"/>
                  </a:cubicBezTo>
                  <a:close/>
                </a:path>
              </a:pathLst>
            </a:custGeom>
            <a:solidFill>
              <a:srgbClr val="FCF7F2"/>
            </a:solidFill>
            <a:ln w="10160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g.loss/formula"/>
            <p:cNvSpPr txBox="1"/>
            <p:nvPr/>
          </p:nvSpPr>
          <p:spPr>
            <a:xfrm>
              <a:off x="7404100" y="7874000"/>
              <a:ext cx="6832600" cy="355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6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L</a:t>
              </a:r>
              <a:r>
                <a:rPr sz="16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G</a:t>
              </a:r>
              <a:r>
                <a:rPr sz="16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 = E[softplus(−d</a:t>
              </a:r>
              <a:r>
                <a:rPr sz="16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</a:t>
              </a:r>
              <a:r>
                <a:rPr sz="16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)] + λ R</a:t>
              </a:r>
              <a:r>
                <a:rPr sz="1650" b="0" i="0" baseline="-2500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gap</a:t>
              </a:r>
            </a:p>
          </p:txBody>
        </p:sp>
      </p:grpSp>
      <p:grpSp>
        <p:nvGrpSpPr>
          <p:cNvPr id="311" name="g.gradient"/>
          <p:cNvGrpSpPr/>
          <p:nvPr/>
        </p:nvGrpSpPr>
        <p:grpSpPr>
          <a:xfrm>
            <a:off x="1701800" y="7416800"/>
            <a:ext cx="5562600" cy="647700"/>
            <a:chOff x="1701800" y="7416800"/>
            <a:chExt cx="5562600" cy="647700"/>
          </a:xfrm>
        </p:grpSpPr>
        <p:sp>
          <p:nvSpPr>
            <p:cNvPr id="312" name="g.gradient/return"/>
            <p:cNvSpPr/>
            <p:nvPr/>
          </p:nvSpPr>
          <p:spPr>
            <a:xfrm>
              <a:off x="3632200" y="7416800"/>
              <a:ext cx="3632200" cy="635000"/>
            </a:xfrm>
            <a:custGeom>
              <a:avLst/>
              <a:gdLst/>
              <a:ahLst/>
              <a:cxnLst/>
              <a:rect l="0" t="0" r="r" b="b"/>
              <a:pathLst>
                <a:path w="286000" h="50000">
                  <a:moveTo>
                    <a:pt x="286000" y="50000"/>
                  </a:moveTo>
                  <a:lnTo>
                    <a:pt x="250000" y="50000"/>
                  </a:lnTo>
                  <a:lnTo>
                    <a:pt x="250000" y="18000"/>
                  </a:lnTo>
                  <a:lnTo>
                    <a:pt x="0" y="1800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8643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g.gradient/return head"/>
            <p:cNvSpPr/>
            <p:nvPr/>
          </p:nvSpPr>
          <p:spPr>
            <a:xfrm>
              <a:off x="3597910" y="7416800"/>
              <a:ext cx="68579" cy="76200"/>
            </a:xfrm>
            <a:custGeom>
              <a:avLst/>
              <a:gdLst/>
              <a:ahLst/>
              <a:cxnLst/>
              <a:rect l="0" t="0" r="r" b="b"/>
              <a:pathLst>
                <a:path w="5400" h="6000">
                  <a:moveTo>
                    <a:pt x="2700" y="0"/>
                  </a:moveTo>
                  <a:lnTo>
                    <a:pt x="0" y="6000"/>
                  </a:lnTo>
                  <a:lnTo>
                    <a:pt x="5400" y="6000"/>
                  </a:lnTo>
                  <a:close/>
                </a:path>
              </a:pathLst>
            </a:custGeom>
            <a:solidFill>
              <a:srgbClr val="B864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g.gradient/label"/>
            <p:cNvSpPr txBox="1"/>
            <p:nvPr/>
          </p:nvSpPr>
          <p:spPr>
            <a:xfrm>
              <a:off x="1701800" y="7759700"/>
              <a:ext cx="46355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400" b="0" i="0">
                  <a:solidFill>
                    <a:srgbClr val="B86436"/>
                  </a:solidFill>
                  <a:latin typeface="Liberation Sans"/>
                  <a:ea typeface="Liberation Sans"/>
                  <a:cs typeface="Liberation Sans"/>
                </a:rPr>
                <a:t>Full-trajectory backpropagation</a:t>
              </a:r>
            </a:p>
          </p:txBody>
        </p:sp>
      </p:grpSp>
      <p:grpSp>
        <p:nvGrpSpPr>
          <p:cNvPr id="315" name="g.probe"/>
          <p:cNvGrpSpPr/>
          <p:nvPr/>
        </p:nvGrpSpPr>
        <p:grpSpPr>
          <a:xfrm>
            <a:off x="1651000" y="8115300"/>
            <a:ext cx="5397500" cy="279400"/>
            <a:chOff x="1651000" y="8115300"/>
            <a:chExt cx="5397500" cy="279400"/>
          </a:xfrm>
        </p:grpSpPr>
        <p:sp>
          <p:nvSpPr>
            <p:cNvPr id="316" name="g.probe/note"/>
            <p:cNvSpPr txBox="1"/>
            <p:nvPr/>
          </p:nvSpPr>
          <p:spPr>
            <a:xfrm>
              <a:off x="1651000" y="8115300"/>
              <a:ext cx="5397500" cy="279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R</a:t>
              </a:r>
              <a:r>
                <a:rPr sz="135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gap</a:t>
              </a: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: independent real-data probe; W</a:t>
              </a:r>
              <a:r>
                <a:rPr sz="1350" b="0" i="0" baseline="-2500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0</a:t>
              </a:r>
              <a:r>
                <a:rPr sz="135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 fixed</a:t>
              </a:r>
            </a:p>
          </p:txBody>
        </p:sp>
      </p:grpSp>
      <p:grpSp>
        <p:nvGrpSpPr>
          <p:cNvPr id="317" name="divider"/>
          <p:cNvGrpSpPr/>
          <p:nvPr/>
        </p:nvGrpSpPr>
        <p:grpSpPr>
          <a:xfrm>
            <a:off x="355600" y="4381500"/>
            <a:ext cx="14020800" cy="127"/>
            <a:chOff x="355600" y="4381500"/>
            <a:chExt cx="14020800" cy="127"/>
          </a:xfrm>
        </p:grpSpPr>
        <p:sp>
          <p:nvSpPr>
            <p:cNvPr id="318" name="divider/line"/>
            <p:cNvSpPr/>
            <p:nvPr/>
          </p:nvSpPr>
          <p:spPr>
            <a:xfrm>
              <a:off x="355600" y="4381500"/>
              <a:ext cx="14020800" cy="127"/>
            </a:xfrm>
            <a:custGeom>
              <a:avLst/>
              <a:gdLst/>
              <a:ahLst/>
              <a:cxnLst/>
              <a:rect l="0" t="0" r="r" b="b"/>
              <a:pathLst>
                <a:path w="1104000" h="10">
                  <a:moveTo>
                    <a:pt x="0" y="0"/>
                  </a:moveTo>
                  <a:lnTo>
                    <a:pt x="1104000" y="0"/>
                  </a:lnTo>
                </a:path>
              </a:pathLst>
            </a:custGeom>
            <a:noFill/>
            <a:ln w="10160">
              <a:solidFill>
                <a:srgbClr val="CDD8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9" name="legend.fixed"/>
          <p:cNvGrpSpPr/>
          <p:nvPr/>
        </p:nvGrpSpPr>
        <p:grpSpPr>
          <a:xfrm>
            <a:off x="612140" y="8750300"/>
            <a:ext cx="1991360" cy="266700"/>
            <a:chOff x="612140" y="8750300"/>
            <a:chExt cx="1991360" cy="266700"/>
          </a:xfrm>
        </p:grpSpPr>
        <p:sp>
          <p:nvSpPr>
            <p:cNvPr id="320" name="legend.fixed/frozen/white outline"/>
            <p:cNvSpPr/>
            <p:nvPr/>
          </p:nvSpPr>
          <p:spPr>
            <a:xfrm>
              <a:off x="612140" y="88025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legend.fixed/frozen/blue crystal"/>
            <p:cNvSpPr/>
            <p:nvPr/>
          </p:nvSpPr>
          <p:spPr>
            <a:xfrm>
              <a:off x="612140" y="8802510"/>
              <a:ext cx="172719" cy="149579"/>
            </a:xfrm>
            <a:custGeom>
              <a:avLst/>
              <a:gdLst/>
              <a:ahLst/>
              <a:cxnLst/>
              <a:rect l="0" t="0" r="r" b="b"/>
              <a:pathLst>
                <a:path w="13600" h="11778">
                  <a:moveTo>
                    <a:pt x="6800" y="5889"/>
                  </a:moveTo>
                  <a:lnTo>
                    <a:pt x="13600" y="5889"/>
                  </a:lnTo>
                  <a:moveTo>
                    <a:pt x="10404" y="5889"/>
                  </a:moveTo>
                  <a:lnTo>
                    <a:pt x="8840" y="4325"/>
                  </a:lnTo>
                  <a:moveTo>
                    <a:pt x="10404" y="5889"/>
                  </a:moveTo>
                  <a:lnTo>
                    <a:pt x="8840" y="7453"/>
                  </a:lnTo>
                  <a:moveTo>
                    <a:pt x="11968" y="5889"/>
                  </a:moveTo>
                  <a:lnTo>
                    <a:pt x="10404" y="4325"/>
                  </a:lnTo>
                  <a:moveTo>
                    <a:pt x="11968" y="5889"/>
                  </a:moveTo>
                  <a:lnTo>
                    <a:pt x="10404" y="7453"/>
                  </a:lnTo>
                  <a:moveTo>
                    <a:pt x="6800" y="5889"/>
                  </a:moveTo>
                  <a:lnTo>
                    <a:pt x="10200" y="11778"/>
                  </a:lnTo>
                  <a:moveTo>
                    <a:pt x="8602" y="9010"/>
                  </a:moveTo>
                  <a:lnTo>
                    <a:pt x="9174" y="6874"/>
                  </a:lnTo>
                  <a:moveTo>
                    <a:pt x="8602" y="9010"/>
                  </a:moveTo>
                  <a:lnTo>
                    <a:pt x="6466" y="8438"/>
                  </a:lnTo>
                  <a:moveTo>
                    <a:pt x="9384" y="10365"/>
                  </a:moveTo>
                  <a:lnTo>
                    <a:pt x="9956" y="8228"/>
                  </a:lnTo>
                  <a:moveTo>
                    <a:pt x="9384" y="10365"/>
                  </a:moveTo>
                  <a:lnTo>
                    <a:pt x="7248" y="9792"/>
                  </a:lnTo>
                  <a:moveTo>
                    <a:pt x="6800" y="5889"/>
                  </a:moveTo>
                  <a:lnTo>
                    <a:pt x="3400" y="11778"/>
                  </a:lnTo>
                  <a:moveTo>
                    <a:pt x="4998" y="9010"/>
                  </a:moveTo>
                  <a:lnTo>
                    <a:pt x="7134" y="8438"/>
                  </a:lnTo>
                  <a:moveTo>
                    <a:pt x="4998" y="9010"/>
                  </a:moveTo>
                  <a:lnTo>
                    <a:pt x="4426" y="6874"/>
                  </a:lnTo>
                  <a:moveTo>
                    <a:pt x="4216" y="10365"/>
                  </a:moveTo>
                  <a:lnTo>
                    <a:pt x="6352" y="9792"/>
                  </a:lnTo>
                  <a:moveTo>
                    <a:pt x="4216" y="10365"/>
                  </a:moveTo>
                  <a:lnTo>
                    <a:pt x="3644" y="8228"/>
                  </a:lnTo>
                  <a:moveTo>
                    <a:pt x="6800" y="5889"/>
                  </a:moveTo>
                  <a:lnTo>
                    <a:pt x="0" y="5889"/>
                  </a:lnTo>
                  <a:moveTo>
                    <a:pt x="3196" y="5889"/>
                  </a:moveTo>
                  <a:lnTo>
                    <a:pt x="4760" y="7453"/>
                  </a:lnTo>
                  <a:moveTo>
                    <a:pt x="3196" y="5889"/>
                  </a:moveTo>
                  <a:lnTo>
                    <a:pt x="4760" y="4325"/>
                  </a:lnTo>
                  <a:moveTo>
                    <a:pt x="1632" y="5889"/>
                  </a:moveTo>
                  <a:lnTo>
                    <a:pt x="3196" y="7453"/>
                  </a:lnTo>
                  <a:moveTo>
                    <a:pt x="1632" y="5889"/>
                  </a:moveTo>
                  <a:lnTo>
                    <a:pt x="3196" y="4325"/>
                  </a:lnTo>
                  <a:moveTo>
                    <a:pt x="6800" y="5889"/>
                  </a:moveTo>
                  <a:lnTo>
                    <a:pt x="3400" y="0"/>
                  </a:lnTo>
                  <a:moveTo>
                    <a:pt x="4998" y="2768"/>
                  </a:moveTo>
                  <a:lnTo>
                    <a:pt x="4426" y="4904"/>
                  </a:lnTo>
                  <a:moveTo>
                    <a:pt x="4998" y="2768"/>
                  </a:moveTo>
                  <a:lnTo>
                    <a:pt x="7134" y="3340"/>
                  </a:lnTo>
                  <a:moveTo>
                    <a:pt x="4216" y="1413"/>
                  </a:moveTo>
                  <a:lnTo>
                    <a:pt x="3644" y="3550"/>
                  </a:lnTo>
                  <a:moveTo>
                    <a:pt x="4216" y="1413"/>
                  </a:moveTo>
                  <a:lnTo>
                    <a:pt x="6352" y="1986"/>
                  </a:lnTo>
                  <a:moveTo>
                    <a:pt x="6800" y="5889"/>
                  </a:moveTo>
                  <a:lnTo>
                    <a:pt x="10200" y="0"/>
                  </a:lnTo>
                  <a:moveTo>
                    <a:pt x="8602" y="2768"/>
                  </a:moveTo>
                  <a:lnTo>
                    <a:pt x="6466" y="3340"/>
                  </a:lnTo>
                  <a:moveTo>
                    <a:pt x="8602" y="2768"/>
                  </a:moveTo>
                  <a:lnTo>
                    <a:pt x="9174" y="4904"/>
                  </a:lnTo>
                  <a:moveTo>
                    <a:pt x="9384" y="1413"/>
                  </a:moveTo>
                  <a:lnTo>
                    <a:pt x="7248" y="1986"/>
                  </a:lnTo>
                  <a:moveTo>
                    <a:pt x="9384" y="1413"/>
                  </a:moveTo>
                  <a:lnTo>
                    <a:pt x="9956" y="3550"/>
                  </a:lnTo>
                </a:path>
              </a:pathLst>
            </a:custGeom>
            <a:noFill/>
            <a:ln w="12700">
              <a:solidFill>
                <a:srgbClr val="83B8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legend.fixed/text"/>
            <p:cNvSpPr txBox="1"/>
            <p:nvPr/>
          </p:nvSpPr>
          <p:spPr>
            <a:xfrm>
              <a:off x="876300" y="8750300"/>
              <a:ext cx="17272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Frozen parameters</a:t>
              </a:r>
            </a:p>
          </p:txBody>
        </p:sp>
      </p:grpSp>
      <p:grpSp>
        <p:nvGrpSpPr>
          <p:cNvPr id="323" name="legend.learned"/>
          <p:cNvGrpSpPr/>
          <p:nvPr/>
        </p:nvGrpSpPr>
        <p:grpSpPr>
          <a:xfrm>
            <a:off x="2944876" y="8750300"/>
            <a:ext cx="2185924" cy="266700"/>
            <a:chOff x="2944876" y="8750300"/>
            <a:chExt cx="2185924" cy="266700"/>
          </a:xfrm>
        </p:grpSpPr>
        <p:sp>
          <p:nvSpPr>
            <p:cNvPr id="324" name="legend.learned/trainable/red"/>
            <p:cNvSpPr/>
            <p:nvPr/>
          </p:nvSpPr>
          <p:spPr>
            <a:xfrm>
              <a:off x="2944876" y="8780145"/>
              <a:ext cx="174879" cy="181355"/>
            </a:xfrm>
            <a:custGeom>
              <a:avLst/>
              <a:gdLst/>
              <a:ahLst/>
              <a:cxnLst/>
              <a:rect l="0" t="0" r="r" b="b"/>
              <a:pathLst>
                <a:path w="13770" h="14280">
                  <a:moveTo>
                    <a:pt x="6120" y="13770"/>
                  </a:moveTo>
                  <a:cubicBezTo>
                    <a:pt x="0" y="11730"/>
                    <a:pt x="2040" y="6630"/>
                    <a:pt x="3570" y="5100"/>
                  </a:cubicBezTo>
                  <a:cubicBezTo>
                    <a:pt x="3060" y="8160"/>
                    <a:pt x="5610" y="8670"/>
                    <a:pt x="5100" y="5610"/>
                  </a:cubicBezTo>
                  <a:cubicBezTo>
                    <a:pt x="4080" y="3570"/>
                    <a:pt x="7650" y="2550"/>
                    <a:pt x="6120" y="0"/>
                  </a:cubicBezTo>
                  <a:cubicBezTo>
                    <a:pt x="11730" y="2550"/>
                    <a:pt x="9180" y="6120"/>
                    <a:pt x="10710" y="4590"/>
                  </a:cubicBezTo>
                  <a:cubicBezTo>
                    <a:pt x="13770" y="8160"/>
                    <a:pt x="12240" y="12750"/>
                    <a:pt x="8670" y="13770"/>
                  </a:cubicBezTo>
                  <a:cubicBezTo>
                    <a:pt x="7650" y="14280"/>
                    <a:pt x="6630" y="14280"/>
                    <a:pt x="6120" y="13770"/>
                  </a:cubicBezTo>
                  <a:close/>
                </a:path>
              </a:pathLst>
            </a:custGeom>
            <a:solidFill>
              <a:srgbClr val="FF18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legend.learned/trainable/gold"/>
            <p:cNvSpPr/>
            <p:nvPr/>
          </p:nvSpPr>
          <p:spPr>
            <a:xfrm>
              <a:off x="2996692" y="8864346"/>
              <a:ext cx="77724" cy="84200"/>
            </a:xfrm>
            <a:custGeom>
              <a:avLst/>
              <a:gdLst/>
              <a:ahLst/>
              <a:cxnLst/>
              <a:rect l="0" t="0" r="r" b="b"/>
              <a:pathLst>
                <a:path w="6120" h="6630">
                  <a:moveTo>
                    <a:pt x="2550" y="6630"/>
                  </a:moveTo>
                  <a:cubicBezTo>
                    <a:pt x="0" y="5610"/>
                    <a:pt x="0" y="2550"/>
                    <a:pt x="1530" y="1020"/>
                  </a:cubicBezTo>
                  <a:cubicBezTo>
                    <a:pt x="1530" y="3570"/>
                    <a:pt x="3570" y="3570"/>
                    <a:pt x="3060" y="0"/>
                  </a:cubicBezTo>
                  <a:cubicBezTo>
                    <a:pt x="6120" y="2040"/>
                    <a:pt x="6120" y="5610"/>
                    <a:pt x="3570" y="6630"/>
                  </a:cubicBezTo>
                  <a:close/>
                </a:path>
              </a:pathLst>
            </a:custGeom>
            <a:solidFill>
              <a:srgbClr val="FFD5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legend.learned/text"/>
            <p:cNvSpPr txBox="1"/>
            <p:nvPr/>
          </p:nvSpPr>
          <p:spPr>
            <a:xfrm>
              <a:off x="3213100" y="8750300"/>
              <a:ext cx="19177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Trainable parameters</a:t>
              </a:r>
            </a:p>
          </p:txBody>
        </p:sp>
      </p:grpSp>
      <p:grpSp>
        <p:nvGrpSpPr>
          <p:cNvPr id="327" name="legend.gradient"/>
          <p:cNvGrpSpPr/>
          <p:nvPr/>
        </p:nvGrpSpPr>
        <p:grpSpPr>
          <a:xfrm>
            <a:off x="5854700" y="8750300"/>
            <a:ext cx="1981200" cy="266700"/>
            <a:chOff x="5854700" y="8750300"/>
            <a:chExt cx="1981200" cy="266700"/>
          </a:xfrm>
        </p:grpSpPr>
        <p:sp>
          <p:nvSpPr>
            <p:cNvPr id="328" name="legend.gradient/line"/>
            <p:cNvSpPr/>
            <p:nvPr/>
          </p:nvSpPr>
          <p:spPr>
            <a:xfrm>
              <a:off x="5854700" y="8877300"/>
              <a:ext cx="495300" cy="127"/>
            </a:xfrm>
            <a:custGeom>
              <a:avLst/>
              <a:gdLst/>
              <a:ahLst/>
              <a:cxnLst/>
              <a:rect l="0" t="0" r="r" b="b"/>
              <a:pathLst>
                <a:path w="39000" h="10">
                  <a:moveTo>
                    <a:pt x="0" y="0"/>
                  </a:moveTo>
                  <a:lnTo>
                    <a:pt x="39000" y="0"/>
                  </a:lnTo>
                </a:path>
              </a:pathLst>
            </a:custGeom>
            <a:noFill/>
            <a:ln w="17780">
              <a:solidFill>
                <a:srgbClr val="B8643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legend.gradient/line head"/>
            <p:cNvSpPr/>
            <p:nvPr/>
          </p:nvSpPr>
          <p:spPr>
            <a:xfrm>
              <a:off x="6273800" y="8843010"/>
              <a:ext cx="76200" cy="68580"/>
            </a:xfrm>
            <a:custGeom>
              <a:avLst/>
              <a:gdLst/>
              <a:ahLst/>
              <a:cxnLst/>
              <a:rect l="0" t="0" r="r" b="b"/>
              <a:pathLst>
                <a:path w="6000" h="5400">
                  <a:moveTo>
                    <a:pt x="6000" y="2700"/>
                  </a:moveTo>
                  <a:lnTo>
                    <a:pt x="0" y="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B864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legend.gradient/text"/>
            <p:cNvSpPr txBox="1"/>
            <p:nvPr/>
          </p:nvSpPr>
          <p:spPr>
            <a:xfrm>
              <a:off x="6464300" y="8750300"/>
              <a:ext cx="1371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50" b="0" i="0">
                  <a:solidFill>
                    <a:srgbClr val="263746"/>
                  </a:solidFill>
                  <a:latin typeface="Liberation Sans"/>
                  <a:ea typeface="Liberation Sans"/>
                  <a:cs typeface="Liberation Sans"/>
                </a:rPr>
                <a:t>Gradient flow</a:t>
              </a:r>
            </a:p>
          </p:txBody>
        </p:sp>
      </p:grpSp>
      <p:grpSp>
        <p:nvGrpSpPr>
          <p:cNvPr id="331" name="legend.order"/>
          <p:cNvGrpSpPr/>
          <p:nvPr/>
        </p:nvGrpSpPr>
        <p:grpSpPr>
          <a:xfrm>
            <a:off x="8420100" y="8750300"/>
            <a:ext cx="5842000" cy="266700"/>
            <a:chOff x="8420100" y="8750300"/>
            <a:chExt cx="5842000" cy="266700"/>
          </a:xfrm>
        </p:grpSpPr>
        <p:sp>
          <p:nvSpPr>
            <p:cNvPr id="332" name="legend.order/text"/>
            <p:cNvSpPr txBox="1"/>
            <p:nvPr/>
          </p:nvSpPr>
          <p:spPr>
            <a:xfrm>
              <a:off x="8420100" y="8750300"/>
              <a:ext cx="5842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>
                  <a:latin typeface="Liberation Sans"/>
                </a:defRPr>
              </a:pPr>
              <a:r>
                <a:rPr sz="1300" b="0" i="0">
                  <a:solidFill>
                    <a:srgbClr val="667783"/>
                  </a:solidFill>
                  <a:latin typeface="Liberation Sans"/>
                  <a:ea typeface="Liberation Sans"/>
                  <a:cs typeface="Liberation Sans"/>
                </a:rPr>
                <a:t>Each iteration: discriminator update, then guidance update.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iberation Sans"/>
        <a:ea typeface="Liberation Sans"/>
        <a:cs typeface="Liberation Sans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/>
        <a:ea typeface="Liberation Sans"/>
        <a:cs typeface="Liberation Sans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iberation Sans"/>
        <a:ea typeface="Liberation Sans"/>
        <a:cs typeface="Liberation Sans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/>
        <a:ea typeface="Liberation Sans"/>
        <a:cs typeface="Liberation Sans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learning of self-guidance — method overview</dc:title>
  <dc:subject>Source-backed editable method figures for joint and schedule-only learning</dc:subject>
  <dc:creator/>
  <cp:keywords/>
  <dc:description>Visual style adapted from AdvFD Figure 3; content based on local classifier_guidance implementation.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